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718ef635-1ddf-a5d2-e364-266f20c757d7}">
          <p14:sldIdLst>
            <p14:sldId id="256"/>
          </p14:sldIdLst>
        </p14:section>
        <p14:section name="ALS enrichment" id="{e01d8638-1197-4e73-a561-c3e2680e06ad}">
          <p14:sldIdLst>
            <p14:sldId id="257"/>
            <p14:sldId id="258"/>
            <p14:sldId id="259"/>
            <p14:sldId id="260"/>
            <p14:sldId id="261"/>
            <p14:sldId id="262"/>
          </p14:sldIdLst>
        </p14:section>
        <p14:section name="Backup" id="{6a2f6171-ffa5-66a0-7989-2e5a3a296d24}">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methylated</c:v>
                </c:pt>
              </c:strCache>
            </c:strRef>
          </c:tx>
          <c:spPr>
            <a:solidFill>
              <a:srgbClr val="B5332A"/>
            </a:solidFill>
            <a:effectLst/>
          </c:spPr>
          <c:invertIfNegative val="0"/>
          <c:dLbls>
            <c:numFmt formatCode="0&quot;%&quot;" sourceLinked="0"/>
            <c:txPr>
              <a:bodyPr/>
              <a:lstStyle/>
              <a:p>
                <a:pPr>
                  <a:defRPr b="1" i="0" strike="noStrike" sz="28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B5332A"/>
              </a:solidFill>
              <a:effectLst/>
            </c:spPr>
          </c:dPt>
          <c:dPt>
            <c:idx val="1"/>
            <c:invertIfNegative val="0"/>
            <c:bubble3D val="0"/>
            <c:spPr>
              <a:solidFill>
                <a:srgbClr val="687388"/>
              </a:solidFill>
              <a:effectLst/>
            </c:spPr>
          </c:dPt>
          <c:dPt>
            <c:idx val="2"/>
            <c:invertIfNegative val="0"/>
            <c:bubble3D val="0"/>
            <c:spPr>
              <a:solidFill>
                <a:srgbClr val="C9CED8"/>
              </a:solidFill>
              <a:effectLst/>
            </c:spPr>
          </c:dPt>
          <c:cat>
            <c:multiLvlStrRef>
              <c:f>Sheet1!$A$2:$A$4</c:f>
              <c:multiLvlStrCache>
                <c:ptCount val="3"/>
                <c:lvl>
                  <c:pt idx="0">
                    <c:v>ALS-causing proteins
(21 of 29)</c:v>
                  </c:pt>
                  <c:pt idx="1">
                    <c:v>All disease proteins
(865 of 2,471)</c:v>
                  </c:pt>
                  <c:pt idx="2">
                    <c:v>All human proteins
(4,687 of 19,113)</c:v>
                  </c:pt>
                </c:lvl>
              </c:multiLvlStrCache>
            </c:multiLvlStrRef>
          </c:cat>
          <c:val>
            <c:numRef>
              <c:f>Sheet1!$B$2:$B$4</c:f>
              <c:numCache>
                <c:formatCode>General</c:formatCode>
                <c:ptCount val="3"/>
                <c:pt idx="0">
                  <c:v>72.4</c:v>
                </c:pt>
                <c:pt idx="1">
                  <c:v>35</c:v>
                </c:pt>
                <c:pt idx="2">
                  <c:v>24.5</c:v>
                </c:pt>
              </c:numCache>
            </c:numRef>
          </c:val>
        </c:ser>
        <c:dLbls>
          <c:numFmt formatCode="0&quot;%&quot;" sourceLinked="0"/>
          <c:txPr>
            <a:bodyPr/>
            <a:lstStyle/>
            <a:p>
              <a:pPr>
                <a:defRPr b="1" i="0" strike="noStrike" sz="2800" u="none">
                  <a:solidFill>
                    <a:srgbClr val="1F2937"/>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8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methylated</c:v>
                </c:pt>
              </c:strCache>
            </c:strRef>
          </c:tx>
          <c:spPr>
            <a:solidFill>
              <a:srgbClr val="C9CED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C9CED8"/>
              </a:solidFill>
              <a:effectLst/>
            </c:spPr>
          </c:dPt>
          <c:dPt>
            <c:idx val="1"/>
            <c:invertIfNegative val="0"/>
            <c:bubble3D val="0"/>
            <c:spPr>
              <a:solidFill>
                <a:srgbClr val="C9CED8"/>
              </a:solidFill>
              <a:effectLst/>
            </c:spPr>
          </c:dPt>
          <c:dPt>
            <c:idx val="2"/>
            <c:invertIfNegative val="0"/>
            <c:bubble3D val="0"/>
            <c:spPr>
              <a:solidFill>
                <a:srgbClr val="C9CED8"/>
              </a:solidFill>
              <a:effectLst/>
            </c:spPr>
          </c:dPt>
          <c:dPt>
            <c:idx val="3"/>
            <c:invertIfNegative val="0"/>
            <c:bubble3D val="0"/>
            <c:spPr>
              <a:solidFill>
                <a:srgbClr val="C9CED8"/>
              </a:solidFill>
              <a:effectLst/>
            </c:spPr>
          </c:dPt>
          <c:dPt>
            <c:idx val="4"/>
            <c:invertIfNegative val="0"/>
            <c:bubble3D val="0"/>
            <c:spPr>
              <a:solidFill>
                <a:srgbClr val="C9CED8"/>
              </a:solidFill>
              <a:effectLst/>
            </c:spPr>
          </c:dPt>
          <c:dPt>
            <c:idx val="5"/>
            <c:invertIfNegative val="0"/>
            <c:bubble3D val="0"/>
            <c:spPr>
              <a:solidFill>
                <a:srgbClr val="C9CED8"/>
              </a:solidFill>
              <a:effectLst/>
            </c:spPr>
          </c:dPt>
          <c:dPt>
            <c:idx val="6"/>
            <c:invertIfNegative val="0"/>
            <c:bubble3D val="0"/>
            <c:spPr>
              <a:solidFill>
                <a:srgbClr val="C9CED8"/>
              </a:solidFill>
              <a:effectLst/>
            </c:spPr>
          </c:dPt>
          <c:dPt>
            <c:idx val="7"/>
            <c:invertIfNegative val="0"/>
            <c:bubble3D val="0"/>
            <c:spPr>
              <a:solidFill>
                <a:srgbClr val="C9CED8"/>
              </a:solidFill>
              <a:effectLst/>
            </c:spPr>
          </c:dPt>
          <c:dPt>
            <c:idx val="8"/>
            <c:invertIfNegative val="0"/>
            <c:bubble3D val="0"/>
            <c:spPr>
              <a:solidFill>
                <a:srgbClr val="C9CED8"/>
              </a:solidFill>
              <a:effectLst/>
            </c:spPr>
          </c:dPt>
          <c:dPt>
            <c:idx val="9"/>
            <c:invertIfNegative val="0"/>
            <c:bubble3D val="0"/>
            <c:spPr>
              <a:solidFill>
                <a:srgbClr val="C9CED8"/>
              </a:solidFill>
              <a:effectLst/>
            </c:spPr>
          </c:dPt>
          <c:dPt>
            <c:idx val="10"/>
            <c:invertIfNegative val="0"/>
            <c:bubble3D val="0"/>
            <c:spPr>
              <a:solidFill>
                <a:srgbClr val="C9CED8"/>
              </a:solidFill>
              <a:effectLst/>
            </c:spPr>
          </c:dPt>
          <c:dPt>
            <c:idx val="11"/>
            <c:invertIfNegative val="0"/>
            <c:bubble3D val="0"/>
            <c:spPr>
              <a:solidFill>
                <a:srgbClr val="C9CED8"/>
              </a:solidFill>
              <a:effectLst/>
            </c:spPr>
          </c:dPt>
          <c:dPt>
            <c:idx val="12"/>
            <c:invertIfNegative val="0"/>
            <c:bubble3D val="0"/>
            <c:spPr>
              <a:solidFill>
                <a:srgbClr val="C9CED8"/>
              </a:solidFill>
              <a:effectLst/>
            </c:spPr>
          </c:dPt>
          <c:dPt>
            <c:idx val="13"/>
            <c:invertIfNegative val="0"/>
            <c:bubble3D val="0"/>
            <c:spPr>
              <a:solidFill>
                <a:srgbClr val="C9CED8"/>
              </a:solidFill>
              <a:effectLst/>
            </c:spPr>
          </c:dPt>
          <c:dPt>
            <c:idx val="14"/>
            <c:invertIfNegative val="0"/>
            <c:bubble3D val="0"/>
            <c:spPr>
              <a:solidFill>
                <a:srgbClr val="C9CED8"/>
              </a:solidFill>
              <a:effectLst/>
            </c:spPr>
          </c:dPt>
          <c:dPt>
            <c:idx val="15"/>
            <c:invertIfNegative val="0"/>
            <c:bubble3D val="0"/>
            <c:spPr>
              <a:solidFill>
                <a:srgbClr val="C9CED8"/>
              </a:solidFill>
              <a:effectLst/>
            </c:spPr>
          </c:dPt>
          <c:dPt>
            <c:idx val="16"/>
            <c:invertIfNegative val="0"/>
            <c:bubble3D val="0"/>
            <c:spPr>
              <a:solidFill>
                <a:srgbClr val="C9CED8"/>
              </a:solidFill>
              <a:effectLst/>
            </c:spPr>
          </c:dPt>
          <c:dPt>
            <c:idx val="17"/>
            <c:invertIfNegative val="0"/>
            <c:bubble3D val="0"/>
            <c:spPr>
              <a:solidFill>
                <a:srgbClr val="C9CED8"/>
              </a:solidFill>
              <a:effectLst/>
            </c:spPr>
          </c:dPt>
          <c:dPt>
            <c:idx val="18"/>
            <c:invertIfNegative val="0"/>
            <c:bubble3D val="0"/>
            <c:spPr>
              <a:solidFill>
                <a:srgbClr val="C9CED8"/>
              </a:solidFill>
              <a:effectLst/>
            </c:spPr>
          </c:dPt>
          <c:dPt>
            <c:idx val="19"/>
            <c:invertIfNegative val="0"/>
            <c:bubble3D val="0"/>
            <c:spPr>
              <a:solidFill>
                <a:srgbClr val="C9CED8"/>
              </a:solidFill>
              <a:effectLst/>
            </c:spPr>
          </c:dPt>
          <c:dPt>
            <c:idx val="20"/>
            <c:invertIfNegative val="0"/>
            <c:bubble3D val="0"/>
            <c:spPr>
              <a:solidFill>
                <a:srgbClr val="C9CED8"/>
              </a:solidFill>
              <a:effectLst/>
            </c:spPr>
          </c:dPt>
          <c:dPt>
            <c:idx val="21"/>
            <c:invertIfNegative val="0"/>
            <c:bubble3D val="0"/>
            <c:spPr>
              <a:solidFill>
                <a:srgbClr val="C9CED8"/>
              </a:solidFill>
              <a:effectLst/>
            </c:spPr>
          </c:dPt>
          <c:dPt>
            <c:idx val="22"/>
            <c:invertIfNegative val="0"/>
            <c:bubble3D val="0"/>
            <c:spPr>
              <a:solidFill>
                <a:srgbClr val="C9CED8"/>
              </a:solidFill>
              <a:effectLst/>
            </c:spPr>
          </c:dPt>
          <c:dPt>
            <c:idx val="23"/>
            <c:invertIfNegative val="0"/>
            <c:bubble3D val="0"/>
            <c:spPr>
              <a:solidFill>
                <a:srgbClr val="C9CED8"/>
              </a:solidFill>
              <a:effectLst/>
            </c:spPr>
          </c:dPt>
          <c:dPt>
            <c:idx val="24"/>
            <c:invertIfNegative val="0"/>
            <c:bubble3D val="0"/>
            <c:spPr>
              <a:solidFill>
                <a:srgbClr val="C9CED8"/>
              </a:solidFill>
              <a:effectLst/>
            </c:spPr>
          </c:dPt>
          <c:dPt>
            <c:idx val="25"/>
            <c:invertIfNegative val="0"/>
            <c:bubble3D val="0"/>
            <c:spPr>
              <a:solidFill>
                <a:srgbClr val="C9CED8"/>
              </a:solidFill>
              <a:effectLst/>
            </c:spPr>
          </c:dPt>
          <c:dPt>
            <c:idx val="26"/>
            <c:invertIfNegative val="0"/>
            <c:bubble3D val="0"/>
            <c:spPr>
              <a:solidFill>
                <a:srgbClr val="C9CED8"/>
              </a:solidFill>
              <a:effectLst/>
            </c:spPr>
          </c:dPt>
          <c:dPt>
            <c:idx val="27"/>
            <c:invertIfNegative val="0"/>
            <c:bubble3D val="0"/>
            <c:spPr>
              <a:solidFill>
                <a:srgbClr val="C9CED8"/>
              </a:solidFill>
              <a:effectLst/>
            </c:spPr>
          </c:dPt>
          <c:dPt>
            <c:idx val="28"/>
            <c:invertIfNegative val="0"/>
            <c:bubble3D val="0"/>
            <c:spPr>
              <a:solidFill>
                <a:srgbClr val="C9CED8"/>
              </a:solidFill>
              <a:effectLst/>
            </c:spPr>
          </c:dPt>
          <c:dPt>
            <c:idx val="29"/>
            <c:invertIfNegative val="0"/>
            <c:bubble3D val="0"/>
            <c:spPr>
              <a:solidFill>
                <a:srgbClr val="C9CED8"/>
              </a:solidFill>
              <a:effectLst/>
            </c:spPr>
          </c:dPt>
          <c:dPt>
            <c:idx val="30"/>
            <c:invertIfNegative val="0"/>
            <c:bubble3D val="0"/>
            <c:spPr>
              <a:solidFill>
                <a:srgbClr val="C9CED8"/>
              </a:solidFill>
              <a:effectLst/>
            </c:spPr>
          </c:dPt>
          <c:dPt>
            <c:idx val="31"/>
            <c:invertIfNegative val="0"/>
            <c:bubble3D val="0"/>
            <c:spPr>
              <a:solidFill>
                <a:srgbClr val="C9CED8"/>
              </a:solidFill>
              <a:effectLst/>
            </c:spPr>
          </c:dPt>
          <c:dPt>
            <c:idx val="32"/>
            <c:invertIfNegative val="0"/>
            <c:bubble3D val="0"/>
            <c:spPr>
              <a:solidFill>
                <a:srgbClr val="C9CED8"/>
              </a:solidFill>
              <a:effectLst/>
            </c:spPr>
          </c:dPt>
          <c:dPt>
            <c:idx val="33"/>
            <c:invertIfNegative val="0"/>
            <c:bubble3D val="0"/>
            <c:spPr>
              <a:solidFill>
                <a:srgbClr val="C9CED8"/>
              </a:solidFill>
              <a:effectLst/>
            </c:spPr>
          </c:dPt>
          <c:dPt>
            <c:idx val="34"/>
            <c:invertIfNegative val="0"/>
            <c:bubble3D val="0"/>
            <c:spPr>
              <a:solidFill>
                <a:srgbClr val="C9CED8"/>
              </a:solidFill>
              <a:effectLst/>
            </c:spPr>
          </c:dPt>
          <c:dPt>
            <c:idx val="35"/>
            <c:invertIfNegative val="0"/>
            <c:bubble3D val="0"/>
            <c:spPr>
              <a:solidFill>
                <a:srgbClr val="C9CED8"/>
              </a:solidFill>
              <a:effectLst/>
            </c:spPr>
          </c:dPt>
          <c:dPt>
            <c:idx val="36"/>
            <c:invertIfNegative val="0"/>
            <c:bubble3D val="0"/>
            <c:spPr>
              <a:solidFill>
                <a:srgbClr val="C9CED8"/>
              </a:solidFill>
              <a:effectLst/>
            </c:spPr>
          </c:dPt>
          <c:dPt>
            <c:idx val="37"/>
            <c:invertIfNegative val="0"/>
            <c:bubble3D val="0"/>
            <c:spPr>
              <a:solidFill>
                <a:srgbClr val="C9CED8"/>
              </a:solidFill>
              <a:effectLst/>
            </c:spPr>
          </c:dPt>
          <c:dPt>
            <c:idx val="38"/>
            <c:invertIfNegative val="0"/>
            <c:bubble3D val="0"/>
            <c:spPr>
              <a:solidFill>
                <a:srgbClr val="C9CED8"/>
              </a:solidFill>
              <a:effectLst/>
            </c:spPr>
          </c:dPt>
          <c:dPt>
            <c:idx val="39"/>
            <c:invertIfNegative val="0"/>
            <c:bubble3D val="0"/>
            <c:spPr>
              <a:solidFill>
                <a:srgbClr val="C9CED8"/>
              </a:solidFill>
              <a:effectLst/>
            </c:spPr>
          </c:dPt>
          <c:dPt>
            <c:idx val="40"/>
            <c:invertIfNegative val="0"/>
            <c:bubble3D val="0"/>
            <c:spPr>
              <a:solidFill>
                <a:srgbClr val="C9CED8"/>
              </a:solidFill>
              <a:effectLst/>
            </c:spPr>
          </c:dPt>
          <c:dPt>
            <c:idx val="41"/>
            <c:invertIfNegative val="0"/>
            <c:bubble3D val="0"/>
            <c:spPr>
              <a:solidFill>
                <a:srgbClr val="B5332A"/>
              </a:solidFill>
              <a:effectLst/>
            </c:spPr>
          </c:dPt>
          <c:cat>
            <c:multiLvlStrRef>
              <c:f>Sheet1!$A$2:$A$43</c:f>
              <c:multiLvlStrCache>
                <c:ptCount val="42"/>
                <c:lvl>
                  <c:pt idx="0">
                    <c:v>Childhood, Adolescent and Young Adult Cancer Predisposition</c:v>
                  </c:pt>
                  <c:pt idx="1">
                    <c:v>Tubulopathy</c:v>
                  </c:pt>
                  <c:pt idx="2">
                    <c:v>Monogenic Diabetes</c:v>
                  </c:pt>
                  <c:pt idx="3">
                    <c:v>Motile Ciliopathy</c:v>
                  </c:pt>
                  <c:pt idx="4">
                    <c:v>Lysosomal Diseases</c:v>
                  </c:pt>
                  <c:pt idx="5">
                    <c:v>Hemostasis/Thrombosis</c:v>
                  </c:pt>
                  <c:pt idx="6">
                    <c:v>Muscular Dystrophies and Myopathies</c:v>
                  </c:pt>
                  <c:pt idx="7">
                    <c:v>Retina</c:v>
                  </c:pt>
                  <c:pt idx="8">
                    <c:v>Pulmonary Hypertension</c:v>
                  </c:pt>
                  <c:pt idx="9">
                    <c:v>Peroxisomal Disorders</c:v>
                  </c:pt>
                  <c:pt idx="10">
                    <c:v>Skeletal Disorders</c:v>
                  </c:pt>
                  <c:pt idx="11">
                    <c:v>Epilepsy</c:v>
                  </c:pt>
                  <c:pt idx="12">
                    <c:v>Hearing Loss</c:v>
                  </c:pt>
                  <c:pt idx="13">
                    <c:v>Glaucoma and Neuro-Ophthalmology</c:v>
                  </c:pt>
                  <c:pt idx="14">
                    <c:v>Antibody Deficiencies</c:v>
                  </c:pt>
                  <c:pt idx="15">
                    <c:v>General</c:v>
                  </c:pt>
                  <c:pt idx="16">
                    <c:v>Craniofacial Malformations</c:v>
                  </c:pt>
                  <c:pt idx="17">
                    <c:v>Aminoacidopathy</c:v>
                  </c:pt>
                  <c:pt idx="18">
                    <c:v>Interstitial Lung Disease</c:v>
                  </c:pt>
                  <c:pt idx="19">
                    <c:v>General Inborn Errors of Metabolism</c:v>
                  </c:pt>
                  <c:pt idx="20">
                    <c:v>Glomerulopathy</c:v>
                  </c:pt>
                  <c:pt idx="21">
                    <c:v>Congenital Disorders of Glycosylation</c:v>
                  </c:pt>
                  <c:pt idx="22">
                    <c:v>Primary Immune Regulatory Disorders</c:v>
                  </c:pt>
                  <c:pt idx="23">
                    <c:v>Kidney Cystic and Ciliopathy Disorders</c:v>
                  </c:pt>
                  <c:pt idx="24">
                    <c:v>SCID-CID</c:v>
                  </c:pt>
                  <c:pt idx="25">
                    <c:v>Congenital Myopathies and Myasthenic Syndromes</c:v>
                  </c:pt>
                  <c:pt idx="26">
                    <c:v>Congenital Heart Disease</c:v>
                  </c:pt>
                  <c:pt idx="27">
                    <c:v>Cerebral Palsy</c:v>
                  </c:pt>
                  <c:pt idx="28">
                    <c:v>Prenatal</c:v>
                  </c:pt>
                  <c:pt idx="29">
                    <c:v>Mitochondrial Diseases</c:v>
                  </c:pt>
                  <c:pt idx="30">
                    <c:v>Hereditary Cardiovascular Disease</c:v>
                  </c:pt>
                  <c:pt idx="31">
                    <c:v>Hereditary Cancer</c:v>
                  </c:pt>
                  <c:pt idx="32">
                    <c:v>Syndromic Disorders</c:v>
                  </c:pt>
                  <c:pt idx="33">
                    <c:v>Dilated Cardiomyopathy</c:v>
                  </c:pt>
                  <c:pt idx="34">
                    <c:v>Brain Malformations</c:v>
                  </c:pt>
                  <c:pt idx="35">
                    <c:v>Leukodystrophy and Leukoencephalopathy</c:v>
                  </c:pt>
                  <c:pt idx="36">
                    <c:v>RASopathy</c:v>
                  </c:pt>
                  <c:pt idx="37">
                    <c:v>Charcot-Marie-Tooth Disease</c:v>
                  </c:pt>
                  <c:pt idx="38">
                    <c:v>Fatty Acid Oxidation Disorders</c:v>
                  </c:pt>
                  <c:pt idx="39">
                    <c:v>Intellectual Disability and Autism</c:v>
                  </c:pt>
                  <c:pt idx="40">
                    <c:v>Cerebellar Ataxia</c:v>
                  </c:pt>
                  <c:pt idx="41">
                    <c:v>Amyotrophic Lateral Sclerosis Spectrum Disorders</c:v>
                  </c:pt>
                </c:lvl>
              </c:multiLvlStrCache>
            </c:multiLvlStrRef>
          </c:cat>
          <c:val>
            <c:numRef>
              <c:f>Sheet1!$B$2:$B$43</c:f>
              <c:numCache>
                <c:formatCode>General</c:formatCode>
                <c:ptCount val="42"/>
                <c:pt idx="0">
                  <c:v>6.7</c:v>
                </c:pt>
                <c:pt idx="1">
                  <c:v>7.7</c:v>
                </c:pt>
                <c:pt idx="2">
                  <c:v>16</c:v>
                </c:pt>
                <c:pt idx="3">
                  <c:v>16.9</c:v>
                </c:pt>
                <c:pt idx="4">
                  <c:v>17.5</c:v>
                </c:pt>
                <c:pt idx="5">
                  <c:v>17.8</c:v>
                </c:pt>
                <c:pt idx="6">
                  <c:v>19.4</c:v>
                </c:pt>
                <c:pt idx="7">
                  <c:v>20.8</c:v>
                </c:pt>
                <c:pt idx="8">
                  <c:v>23.1</c:v>
                </c:pt>
                <c:pt idx="9">
                  <c:v>23.3</c:v>
                </c:pt>
                <c:pt idx="10">
                  <c:v>23.7</c:v>
                </c:pt>
                <c:pt idx="11">
                  <c:v>24.3</c:v>
                </c:pt>
                <c:pt idx="12">
                  <c:v>24.8</c:v>
                </c:pt>
                <c:pt idx="13">
                  <c:v>28</c:v>
                </c:pt>
                <c:pt idx="14">
                  <c:v>30</c:v>
                </c:pt>
                <c:pt idx="15">
                  <c:v>30.3</c:v>
                </c:pt>
                <c:pt idx="16">
                  <c:v>30.4</c:v>
                </c:pt>
                <c:pt idx="17">
                  <c:v>30.9</c:v>
                </c:pt>
                <c:pt idx="18">
                  <c:v>31.2</c:v>
                </c:pt>
                <c:pt idx="19">
                  <c:v>31.6</c:v>
                </c:pt>
                <c:pt idx="20">
                  <c:v>31.6</c:v>
                </c:pt>
                <c:pt idx="21">
                  <c:v>32.2</c:v>
                </c:pt>
                <c:pt idx="22">
                  <c:v>32.5</c:v>
                </c:pt>
                <c:pt idx="23">
                  <c:v>32.8</c:v>
                </c:pt>
                <c:pt idx="24">
                  <c:v>34.1</c:v>
                </c:pt>
                <c:pt idx="25">
                  <c:v>34.2</c:v>
                </c:pt>
                <c:pt idx="26">
                  <c:v>34.8</c:v>
                </c:pt>
                <c:pt idx="27">
                  <c:v>35.7</c:v>
                </c:pt>
                <c:pt idx="28">
                  <c:v>37.5</c:v>
                </c:pt>
                <c:pt idx="29">
                  <c:v>38.2</c:v>
                </c:pt>
                <c:pt idx="30">
                  <c:v>38.5</c:v>
                </c:pt>
                <c:pt idx="31">
                  <c:v>42.1</c:v>
                </c:pt>
                <c:pt idx="32">
                  <c:v>43.1</c:v>
                </c:pt>
                <c:pt idx="33">
                  <c:v>43.3</c:v>
                </c:pt>
                <c:pt idx="34">
                  <c:v>46.4</c:v>
                </c:pt>
                <c:pt idx="35">
                  <c:v>48.6</c:v>
                </c:pt>
                <c:pt idx="36">
                  <c:v>50</c:v>
                </c:pt>
                <c:pt idx="37">
                  <c:v>52.3</c:v>
                </c:pt>
                <c:pt idx="38">
                  <c:v>54.2</c:v>
                </c:pt>
                <c:pt idx="39">
                  <c:v>54.7</c:v>
                </c:pt>
                <c:pt idx="40">
                  <c:v>58.3</c:v>
                </c:pt>
                <c:pt idx="41">
                  <c:v>72.4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5E7EB"/>
              </a:solidFill>
              <a:prstDash val="solid"/>
              <a:round/>
            </a:ln>
          </c:spPr>
        </c:majorGridlines>
        <c:title>
          <c:tx>
            <c:rich>
              <a:bodyPr/>
              <a:lstStyle/>
              <a:p>
                <a:pPr>
                  <a:defRPr sz="1200" b="0" i="0" u="none" strike="noStrike">
                    <a:solidFill>
                      <a:srgbClr val="6B7280"/>
                    </a:solidFill>
                    <a:latin typeface="+mn-lt"/>
                  </a:defRPr>
                </a:pPr>
                <a:r>
                  <a:rPr sz="1200" b="0" i="0" u="none" strike="noStrike">
                    <a:solidFill>
                      <a:srgbClr val="6B7280"/>
                    </a:solidFill>
                    <a:latin typeface="+mn-lt"/>
                  </a:rPr>
                  <a:t>% of panel proteins methylated</a:t>
                </a:r>
              </a:p>
            </c:rich>
          </c:tx>
          <c:layout/>
          <c:overlay val="0"/>
        </c:title>
        <c:numFmt formatCode="General" sourceLinked="0"/>
        <c:majorTickMark val="out"/>
        <c:minorTickMark val="none"/>
        <c:tickLblPos val="low"/>
        <c:spPr>
          <a:ln w="12700" cap="flat">
            <a:no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-log10 FDR</c:v>
                </c:pt>
              </c:strCache>
            </c:strRef>
          </c:tx>
          <c:spPr>
            <a:solidFill>
              <a:srgbClr val="B5332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B5332A"/>
              </a:solidFill>
              <a:effectLst/>
            </c:spPr>
          </c:dPt>
          <c:dPt>
            <c:idx val="1"/>
            <c:invertIfNegative val="0"/>
            <c:bubble3D val="0"/>
            <c:spPr>
              <a:solidFill>
                <a:srgbClr val="687388"/>
              </a:solidFill>
              <a:effectLst/>
            </c:spPr>
          </c:dPt>
          <c:dPt>
            <c:idx val="2"/>
            <c:invertIfNegative val="0"/>
            <c:bubble3D val="0"/>
            <c:spPr>
              <a:solidFill>
                <a:srgbClr val="687388"/>
              </a:solidFill>
              <a:effectLst/>
            </c:spPr>
          </c:dPt>
          <c:dPt>
            <c:idx val="3"/>
            <c:invertIfNegative val="0"/>
            <c:bubble3D val="0"/>
            <c:spPr>
              <a:solidFill>
                <a:srgbClr val="687388"/>
              </a:solidFill>
              <a:effectLst/>
            </c:spPr>
          </c:dPt>
          <c:dPt>
            <c:idx val="4"/>
            <c:invertIfNegative val="0"/>
            <c:bubble3D val="0"/>
            <c:spPr>
              <a:solidFill>
                <a:srgbClr val="687388"/>
              </a:solidFill>
              <a:effectLst/>
            </c:spPr>
          </c:dPt>
          <c:dPt>
            <c:idx val="5"/>
            <c:invertIfNegative val="0"/>
            <c:bubble3D val="0"/>
            <c:spPr>
              <a:solidFill>
                <a:srgbClr val="687388"/>
              </a:solidFill>
              <a:effectLst/>
            </c:spPr>
          </c:dPt>
          <c:dPt>
            <c:idx val="6"/>
            <c:invertIfNegative val="0"/>
            <c:bubble3D val="0"/>
            <c:spPr>
              <a:solidFill>
                <a:srgbClr val="687388"/>
              </a:solidFill>
              <a:effectLst/>
            </c:spPr>
          </c:dPt>
          <c:dPt>
            <c:idx val="7"/>
            <c:invertIfNegative val="0"/>
            <c:bubble3D val="0"/>
            <c:spPr>
              <a:solidFill>
                <a:srgbClr val="687388"/>
              </a:solidFill>
              <a:effectLst/>
            </c:spPr>
          </c:dPt>
          <c:dPt>
            <c:idx val="8"/>
            <c:invertIfNegative val="0"/>
            <c:bubble3D val="0"/>
            <c:spPr>
              <a:solidFill>
                <a:srgbClr val="687388"/>
              </a:solidFill>
              <a:effectLst/>
            </c:spPr>
          </c:dPt>
          <c:dPt>
            <c:idx val="9"/>
            <c:invertIfNegative val="0"/>
            <c:bubble3D val="0"/>
            <c:spPr>
              <a:solidFill>
                <a:srgbClr val="687388"/>
              </a:solidFill>
              <a:effectLst/>
            </c:spPr>
          </c:dPt>
          <c:dPt>
            <c:idx val="10"/>
            <c:invertIfNegative val="0"/>
            <c:bubble3D val="0"/>
            <c:spPr>
              <a:solidFill>
                <a:srgbClr val="B5332A"/>
              </a:solidFill>
              <a:effectLst/>
            </c:spPr>
          </c:dPt>
          <c:dPt>
            <c:idx val="11"/>
            <c:invertIfNegative val="0"/>
            <c:bubble3D val="0"/>
            <c:spPr>
              <a:solidFill>
                <a:srgbClr val="687388"/>
              </a:solidFill>
              <a:effectLst/>
            </c:spPr>
          </c:dPt>
          <c:cat>
            <c:multiLvlStrRef>
              <c:f>Sheet1!$A$2:$A$13</c:f>
              <c:multiLvlStrCache>
                <c:ptCount val="12"/>
                <c:lvl>
                  <c:pt idx="0">
                    <c:v>Pathways of neurodegeneration  (176)</c:v>
                  </c:pt>
                  <c:pt idx="1">
                    <c:v>Salmonella infection  (104)</c:v>
                  </c:pt>
                  <c:pt idx="2">
                    <c:v>Endocytosis  (107)</c:v>
                  </c:pt>
                  <c:pt idx="3">
                    <c:v>Carbon metabolism  (63)</c:v>
                  </c:pt>
                  <c:pt idx="4">
                    <c:v>Biosynthesis of amino acids  (47)</c:v>
                  </c:pt>
                  <c:pt idx="5">
                    <c:v>Ribosome  (106)</c:v>
                  </c:pt>
                  <c:pt idx="6">
                    <c:v>Spliceosome  (113)</c:v>
                  </c:pt>
                  <c:pt idx="7">
                    <c:v>Motor proteins  (100)</c:v>
                  </c:pt>
                  <c:pt idx="8">
                    <c:v>mRNA surveillance pathway  (65)</c:v>
                  </c:pt>
                  <c:pt idx="9">
                    <c:v>ATP-dependent chromatin remodeling  (71)</c:v>
                  </c:pt>
                  <c:pt idx="10">
                    <c:v>Amyotrophic lateral sclerosis  (164)</c:v>
                  </c:pt>
                  <c:pt idx="11">
                    <c:v>Nucleocytoplasmic transport  (69)</c:v>
                  </c:pt>
                </c:lvl>
              </c:multiLvlStrCache>
            </c:multiLvlStrRef>
          </c:cat>
          <c:val>
            <c:numRef>
              <c:f>Sheet1!$B$2:$B$13</c:f>
              <c:numCache>
                <c:formatCode>General</c:formatCode>
                <c:ptCount val="12"/>
                <c:pt idx="0">
                  <c:v>7.22</c:v>
                </c:pt>
                <c:pt idx="1">
                  <c:v>7.24</c:v>
                </c:pt>
                <c:pt idx="2">
                  <c:v>8.17</c:v>
                </c:pt>
                <c:pt idx="3">
                  <c:v>9.56</c:v>
                </c:pt>
                <c:pt idx="4">
                  <c:v>9.82</c:v>
                </c:pt>
                <c:pt idx="5">
                  <c:v>10.48</c:v>
                </c:pt>
                <c:pt idx="6">
                  <c:v>11.35</c:v>
                </c:pt>
                <c:pt idx="7">
                  <c:v>13.27</c:v>
                </c:pt>
                <c:pt idx="8">
                  <c:v>13.9</c:v>
                </c:pt>
                <c:pt idx="9">
                  <c:v>13.9</c:v>
                </c:pt>
                <c:pt idx="10">
                  <c:v>14.26</c:v>
                </c:pt>
                <c:pt idx="11">
                  <c:v>14.66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nextTo"/>
        <c:spPr>
          <a:ln w="12700" cap="flat">
            <a:no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E5E7EB"/>
              </a:solidFill>
              <a:prstDash val="solid"/>
              <a:round/>
            </a:ln>
          </c:spPr>
        </c:majorGridlines>
        <c:title>
          <c:tx>
            <c:rich>
              <a:bodyPr/>
              <a:lstStyle/>
              <a:p>
                <a:pPr>
                  <a:defRPr sz="1200" b="0" i="0" u="none" strike="noStrike">
                    <a:solidFill>
                      <a:srgbClr val="6B7280"/>
                    </a:solidFill>
                    <a:latin typeface="+mn-lt"/>
                  </a:defRPr>
                </a:pPr>
                <a:r>
                  <a:rPr sz="1200" b="0" i="0" u="none" strike="noStrike">
                    <a:solidFill>
                      <a:srgbClr val="6B7280"/>
                    </a:solidFill>
                    <a:latin typeface="+mn-lt"/>
                  </a:rPr>
                  <a:t>Enrichment, −log10 FDR</a:t>
                </a:r>
              </a:p>
            </c:rich>
          </c:tx>
          <c:layout/>
          <c:overlay val="0"/>
        </c:title>
        <c:numFmt formatCode="General" sourceLinked="0"/>
        <c:majorTickMark val="out"/>
        <c:minorTickMark val="none"/>
        <c:tickLblPos val="low"/>
        <c:spPr>
          <a:ln w="12700" cap="flat">
            <a:no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 any condensate</c:v>
                </c:pt>
              </c:strCache>
            </c:strRef>
          </c:tx>
          <c:spPr>
            <a:solidFill>
              <a:srgbClr val="C9CED8"/>
            </a:solidFill>
            <a:effectLst/>
          </c:spPr>
          <c:invertIfNegative val="0"/>
          <c:dLbls>
            <c:numFmt formatCode="0&quot;%&quot;" sourceLinked="0"/>
            <c:txPr>
              <a:bodyPr/>
              <a:lstStyle/>
              <a:p>
                <a:pPr>
                  <a:defRPr b="1" i="0" strike="noStrike" sz="1600" u="none">
                    <a:solidFill>
                      <a:srgbClr val="1F2937"/>
                    </a:solidFill>
                    <a:latin typeface="+mn-lt"/>
                  </a:defRPr>
                </a:pPr>
              </a:p>
            </c:txPr>
            <c:showLegendKey val="0"/>
            <c:showVal val="1"/>
            <c:showCatName val="0"/>
            <c:showSerName val="0"/>
            <c:showPercent val="0"/>
            <c:showBubbleSize val="0"/>
            <c:showLeaderLines val="0"/>
          </c:dLbls>
          <c:cat>
            <c:multiLvlStrRef>
              <c:f>Sheet1!$A$2:$A$4</c:f>
              <c:multiLvlStrCache>
                <c:ptCount val="3"/>
                <c:lvl>
                  <c:pt idx="0">
                    <c:v>Methylated ALS-causing proteins
(n = 21)</c:v>
                  </c:pt>
                  <c:pt idx="1">
                    <c:v>All methylated proteins
(n = 4,687)</c:v>
                  </c:pt>
                  <c:pt idx="2">
                    <c:v>All human proteins
(n = 19,113)</c:v>
                  </c:pt>
                </c:lvl>
              </c:multiLvlStrCache>
            </c:multiLvlStrRef>
          </c:cat>
          <c:val>
            <c:numRef>
              <c:f>Sheet1!$B$2:$B$4</c:f>
              <c:numCache>
                <c:formatCode>General</c:formatCode>
                <c:ptCount val="3"/>
                <c:pt idx="0">
                  <c:v>81</c:v>
                </c:pt>
                <c:pt idx="1">
                  <c:v>44.9</c:v>
                </c:pt>
                <c:pt idx="2">
                  <c:v>20.9</c:v>
                </c:pt>
              </c:numCache>
            </c:numRef>
          </c:val>
        </c:ser>
        <c:ser>
          <c:idx val="1"/>
          <c:order val="1"/>
          <c:tx>
            <c:strRef>
              <c:f>Sheet1!$C$1</c:f>
              <c:strCache>
                <c:ptCount val="1"/>
                <c:pt idx="0">
                  <c:v>In stress granules</c:v>
                </c:pt>
              </c:strCache>
            </c:strRef>
          </c:tx>
          <c:spPr>
            <a:solidFill>
              <a:srgbClr val="B5332A"/>
            </a:solidFill>
            <a:effectLst/>
          </c:spPr>
          <c:invertIfNegative val="0"/>
          <c:dLbls>
            <c:numFmt formatCode="0&quot;%&quot;" sourceLinked="0"/>
            <c:txPr>
              <a:bodyPr/>
              <a:lstStyle/>
              <a:p>
                <a:pPr>
                  <a:defRPr b="1" i="0" strike="noStrike" sz="1600" u="none">
                    <a:solidFill>
                      <a:srgbClr val="1F2937"/>
                    </a:solidFill>
                    <a:latin typeface="+mn-lt"/>
                  </a:defRPr>
                </a:pPr>
              </a:p>
            </c:txPr>
            <c:showLegendKey val="0"/>
            <c:showVal val="1"/>
            <c:showCatName val="0"/>
            <c:showSerName val="0"/>
            <c:showPercent val="0"/>
            <c:showBubbleSize val="0"/>
            <c:showLeaderLines val="0"/>
          </c:dLbls>
          <c:cat>
            <c:multiLvlStrRef>
              <c:f>Sheet1!$A$2:$A$4</c:f>
              <c:multiLvlStrCache>
                <c:ptCount val="3"/>
                <c:lvl>
                  <c:pt idx="0">
                    <c:v>Methylated ALS-causing proteins
(n = 21)</c:v>
                  </c:pt>
                  <c:pt idx="1">
                    <c:v>All methylated proteins
(n = 4,687)</c:v>
                  </c:pt>
                  <c:pt idx="2">
                    <c:v>All human proteins
(n = 19,113)</c:v>
                  </c:pt>
                </c:lvl>
              </c:multiLvlStrCache>
            </c:multiLvlStrRef>
          </c:cat>
          <c:val>
            <c:numRef>
              <c:f>Sheet1!$C$2:$C$4</c:f>
              <c:numCache>
                <c:formatCode>General</c:formatCode>
                <c:ptCount val="3"/>
                <c:pt idx="0">
                  <c:v>57.1</c:v>
                </c:pt>
                <c:pt idx="1">
                  <c:v>16.7</c:v>
                </c:pt>
                <c:pt idx="2">
                  <c:v>5.9</c:v>
                </c:pt>
              </c:numCache>
            </c:numRef>
          </c:val>
        </c:ser>
        <c:dLbls>
          <c:numFmt formatCode="0&quot;%&quot;" sourceLinked="0"/>
          <c:txPr>
            <a:bodyPr/>
            <a:lstStyle/>
            <a:p>
              <a:pPr>
                <a:defRPr b="1" i="0" strike="noStrike" sz="1600" u="none">
                  <a:solidFill>
                    <a:srgbClr val="1F2937"/>
                  </a:solidFill>
                  <a:latin typeface="+mn-lt"/>
                </a:defRPr>
              </a:pPr>
            </a:p>
          </c:txPr>
          <c:showLegendKey val="0"/>
          <c:showVal val="1"/>
          <c:showCatName val="0"/>
          <c:showSerName val="0"/>
          <c:showPercent val="0"/>
          <c:showBubbleSize val="0"/>
          <c:showLeaderLines val="0"/>
        </c:dLbls>
        <c:gapWidth val="60"/>
        <c:overlap val="-1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F293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-log10 FDR</c:v>
                </c:pt>
              </c:strCache>
            </c:strRef>
          </c:tx>
          <c:spPr>
            <a:solidFill>
              <a:srgbClr val="B5332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B5332A"/>
              </a:solidFill>
              <a:effectLst/>
            </c:spPr>
          </c:dPt>
          <c:dPt>
            <c:idx val="1"/>
            <c:invertIfNegative val="0"/>
            <c:bubble3D val="0"/>
            <c:spPr>
              <a:solidFill>
                <a:srgbClr val="687388"/>
              </a:solidFill>
              <a:effectLst/>
            </c:spPr>
          </c:dPt>
          <c:dPt>
            <c:idx val="2"/>
            <c:invertIfNegative val="0"/>
            <c:bubble3D val="0"/>
            <c:spPr>
              <a:solidFill>
                <a:srgbClr val="687388"/>
              </a:solidFill>
              <a:effectLst/>
            </c:spPr>
          </c:dPt>
          <c:dPt>
            <c:idx val="3"/>
            <c:invertIfNegative val="0"/>
            <c:bubble3D val="0"/>
            <c:spPr>
              <a:solidFill>
                <a:srgbClr val="687388"/>
              </a:solidFill>
              <a:effectLst/>
            </c:spPr>
          </c:dPt>
          <c:dPt>
            <c:idx val="4"/>
            <c:invertIfNegative val="0"/>
            <c:bubble3D val="0"/>
            <c:spPr>
              <a:solidFill>
                <a:srgbClr val="687388"/>
              </a:solidFill>
              <a:effectLst/>
            </c:spPr>
          </c:dPt>
          <c:dPt>
            <c:idx val="5"/>
            <c:invertIfNegative val="0"/>
            <c:bubble3D val="0"/>
            <c:spPr>
              <a:solidFill>
                <a:srgbClr val="B5332A"/>
              </a:solidFill>
              <a:effectLst/>
            </c:spPr>
          </c:dPt>
          <c:dPt>
            <c:idx val="6"/>
            <c:invertIfNegative val="0"/>
            <c:bubble3D val="0"/>
            <c:spPr>
              <a:solidFill>
                <a:srgbClr val="687388"/>
              </a:solidFill>
              <a:effectLst/>
            </c:spPr>
          </c:dPt>
          <c:dPt>
            <c:idx val="7"/>
            <c:invertIfNegative val="0"/>
            <c:bubble3D val="0"/>
            <c:spPr>
              <a:solidFill>
                <a:srgbClr val="687388"/>
              </a:solidFill>
              <a:effectLst/>
            </c:spPr>
          </c:dPt>
          <c:dPt>
            <c:idx val="8"/>
            <c:invertIfNegative val="0"/>
            <c:bubble3D val="0"/>
            <c:spPr>
              <a:solidFill>
                <a:srgbClr val="687388"/>
              </a:solidFill>
              <a:effectLst/>
            </c:spPr>
          </c:dPt>
          <c:dPt>
            <c:idx val="9"/>
            <c:invertIfNegative val="0"/>
            <c:bubble3D val="0"/>
            <c:spPr>
              <a:solidFill>
                <a:srgbClr val="687388"/>
              </a:solidFill>
              <a:effectLst/>
            </c:spPr>
          </c:dPt>
          <c:dPt>
            <c:idx val="10"/>
            <c:invertIfNegative val="0"/>
            <c:bubble3D val="0"/>
            <c:spPr>
              <a:solidFill>
                <a:srgbClr val="687388"/>
              </a:solidFill>
              <a:effectLst/>
            </c:spPr>
          </c:dPt>
          <c:cat>
            <c:multiLvlStrRef>
              <c:f>Sheet1!$A$2:$A$12</c:f>
              <c:multiLvlStrCache>
                <c:ptCount val="11"/>
                <c:lvl>
                  <c:pt idx="0">
                    <c:v>(rank 20)  Amyotrophic lateral sclerosis  (55 of 121)</c:v>
                  </c:pt>
                  <c:pt idx="1">
                    <c:v>Syndromic intellectual disability</c:v>
                  </c:pt>
                  <c:pt idx="2">
                    <c:v>Microcephaly</c:v>
                  </c:pt>
                  <c:pt idx="3">
                    <c:v>Diamond-Blackfan anemia</c:v>
                  </c:pt>
                  <c:pt idx="4">
                    <c:v>Emery-Dreifuss muscular dystrophy</c:v>
                  </c:pt>
                  <c:pt idx="5">
                    <c:v>Motor neuron disease  (78 of 167)</c:v>
                  </c:pt>
                  <c:pt idx="6">
                    <c:v>Hepatocellular carcinoma</c:v>
                  </c:pt>
                  <c:pt idx="7">
                    <c:v>Liver carcinoma</c:v>
                  </c:pt>
                  <c:pt idx="8">
                    <c:v>Liver cancer</c:v>
                  </c:pt>
                  <c:pt idx="9">
                    <c:v>Autosomal dominant intellectual developmental disorder</c:v>
                  </c:pt>
                  <c:pt idx="10">
                    <c:v>Intellectual disability</c:v>
                  </c:pt>
                </c:lvl>
              </c:multiLvlStrCache>
            </c:multiLvlStrRef>
          </c:cat>
          <c:val>
            <c:numRef>
              <c:f>Sheet1!$B$2:$B$12</c:f>
              <c:numCache>
                <c:formatCode>General</c:formatCode>
                <c:ptCount val="11"/>
                <c:pt idx="0">
                  <c:v>1.87</c:v>
                </c:pt>
                <c:pt idx="1">
                  <c:v>2.29</c:v>
                </c:pt>
                <c:pt idx="2">
                  <c:v>2.29</c:v>
                </c:pt>
                <c:pt idx="3">
                  <c:v>2.29</c:v>
                </c:pt>
                <c:pt idx="4">
                  <c:v>2.86</c:v>
                </c:pt>
                <c:pt idx="5">
                  <c:v>3.12</c:v>
                </c:pt>
                <c:pt idx="6">
                  <c:v>3.27</c:v>
                </c:pt>
                <c:pt idx="7">
                  <c:v>3.38</c:v>
                </c:pt>
                <c:pt idx="8">
                  <c:v>3.38</c:v>
                </c:pt>
                <c:pt idx="9">
                  <c:v>7.92</c:v>
                </c:pt>
                <c:pt idx="10">
                  <c:v>11.68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E5E7EB"/>
              </a:solidFill>
              <a:prstDash val="solid"/>
              <a:round/>
            </a:ln>
          </c:spPr>
        </c:majorGridlines>
        <c:title>
          <c:tx>
            <c:rich>
              <a:bodyPr/>
              <a:lstStyle/>
              <a:p>
                <a:pPr>
                  <a:defRPr sz="1200" b="0" i="0" u="none" strike="noStrike">
                    <a:solidFill>
                      <a:srgbClr val="6B7280"/>
                    </a:solidFill>
                    <a:latin typeface="+mn-lt"/>
                  </a:defRPr>
                </a:pPr>
                <a:r>
                  <a:rPr sz="1200" b="0" i="0" u="none" strike="noStrike">
                    <a:solidFill>
                      <a:srgbClr val="6B7280"/>
                    </a:solidFill>
                    <a:latin typeface="+mn-lt"/>
                  </a:rPr>
                  <a:t>Enrichment, −log10 FDR</a:t>
                </a:r>
              </a:p>
            </c:rich>
          </c:tx>
          <c:layout/>
          <c:overlay val="0"/>
        </c:title>
        <c:numFmt formatCode="General" sourceLinked="0"/>
        <c:majorTickMark val="out"/>
        <c:minorTickMark val="none"/>
        <c:tickLblPos val="low"/>
        <c:spPr>
          <a:ln w="12700" cap="flat">
            <a:no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Gene ratio (%)</c:v>
                </c:pt>
              </c:strCache>
            </c:strRef>
          </c:tx>
          <c:spPr>
            <a:solidFill>
              <a:srgbClr val="68738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687388"/>
              </a:solidFill>
              <a:effectLst/>
            </c:spPr>
          </c:dPt>
          <c:dPt>
            <c:idx val="1"/>
            <c:invertIfNegative val="0"/>
            <c:bubble3D val="0"/>
            <c:spPr>
              <a:solidFill>
                <a:srgbClr val="687388"/>
              </a:solidFill>
              <a:effectLst/>
            </c:spPr>
          </c:dPt>
          <c:dPt>
            <c:idx val="2"/>
            <c:invertIfNegative val="0"/>
            <c:bubble3D val="0"/>
            <c:spPr>
              <a:solidFill>
                <a:srgbClr val="687388"/>
              </a:solidFill>
              <a:effectLst/>
            </c:spPr>
          </c:dPt>
          <c:dPt>
            <c:idx val="3"/>
            <c:invertIfNegative val="0"/>
            <c:bubble3D val="0"/>
            <c:spPr>
              <a:solidFill>
                <a:srgbClr val="687388"/>
              </a:solidFill>
              <a:effectLst/>
            </c:spPr>
          </c:dPt>
          <c:dPt>
            <c:idx val="4"/>
            <c:invertIfNegative val="0"/>
            <c:bubble3D val="0"/>
            <c:spPr>
              <a:solidFill>
                <a:srgbClr val="687388"/>
              </a:solidFill>
              <a:effectLst/>
            </c:spPr>
          </c:dPt>
          <c:dPt>
            <c:idx val="5"/>
            <c:invertIfNegative val="0"/>
            <c:bubble3D val="0"/>
            <c:spPr>
              <a:solidFill>
                <a:srgbClr val="687388"/>
              </a:solidFill>
              <a:effectLst/>
            </c:spPr>
          </c:dPt>
          <c:dPt>
            <c:idx val="6"/>
            <c:invertIfNegative val="0"/>
            <c:bubble3D val="0"/>
            <c:spPr>
              <a:solidFill>
                <a:srgbClr val="687388"/>
              </a:solidFill>
              <a:effectLst/>
            </c:spPr>
          </c:dPt>
          <c:dPt>
            <c:idx val="7"/>
            <c:invertIfNegative val="0"/>
            <c:bubble3D val="0"/>
            <c:spPr>
              <a:solidFill>
                <a:srgbClr val="687388"/>
              </a:solidFill>
              <a:effectLst/>
            </c:spPr>
          </c:dPt>
          <c:dPt>
            <c:idx val="8"/>
            <c:invertIfNegative val="0"/>
            <c:bubble3D val="0"/>
            <c:spPr>
              <a:solidFill>
                <a:srgbClr val="687388"/>
              </a:solidFill>
              <a:effectLst/>
            </c:spPr>
          </c:dPt>
          <c:dPt>
            <c:idx val="9"/>
            <c:invertIfNegative val="0"/>
            <c:bubble3D val="0"/>
            <c:spPr>
              <a:solidFill>
                <a:srgbClr val="687388"/>
              </a:solidFill>
              <a:effectLst/>
            </c:spPr>
          </c:dPt>
          <c:dPt>
            <c:idx val="10"/>
            <c:invertIfNegative val="0"/>
            <c:bubble3D val="0"/>
            <c:spPr>
              <a:solidFill>
                <a:srgbClr val="687388"/>
              </a:solidFill>
              <a:effectLst/>
            </c:spPr>
          </c:dPt>
          <c:dPt>
            <c:idx val="11"/>
            <c:invertIfNegative val="0"/>
            <c:bubble3D val="0"/>
            <c:spPr>
              <a:solidFill>
                <a:srgbClr val="687388"/>
              </a:solidFill>
              <a:effectLst/>
            </c:spPr>
          </c:dPt>
          <c:dPt>
            <c:idx val="12"/>
            <c:invertIfNegative val="0"/>
            <c:bubble3D val="0"/>
            <c:spPr>
              <a:solidFill>
                <a:srgbClr val="687388"/>
              </a:solidFill>
              <a:effectLst/>
            </c:spPr>
          </c:dPt>
          <c:dPt>
            <c:idx val="13"/>
            <c:invertIfNegative val="0"/>
            <c:bubble3D val="0"/>
            <c:spPr>
              <a:solidFill>
                <a:srgbClr val="687388"/>
              </a:solidFill>
              <a:effectLst/>
            </c:spPr>
          </c:dPt>
          <c:dPt>
            <c:idx val="14"/>
            <c:invertIfNegative val="0"/>
            <c:bubble3D val="0"/>
            <c:spPr>
              <a:solidFill>
                <a:srgbClr val="687388"/>
              </a:solidFill>
              <a:effectLst/>
            </c:spPr>
          </c:dPt>
          <c:dPt>
            <c:idx val="15"/>
            <c:invertIfNegative val="0"/>
            <c:bubble3D val="0"/>
            <c:spPr>
              <a:solidFill>
                <a:srgbClr val="687388"/>
              </a:solidFill>
              <a:effectLst/>
            </c:spPr>
          </c:dPt>
          <c:dPt>
            <c:idx val="16"/>
            <c:invertIfNegative val="0"/>
            <c:bubble3D val="0"/>
            <c:spPr>
              <a:solidFill>
                <a:srgbClr val="687388"/>
              </a:solidFill>
              <a:effectLst/>
            </c:spPr>
          </c:dPt>
          <c:dPt>
            <c:idx val="17"/>
            <c:invertIfNegative val="0"/>
            <c:bubble3D val="0"/>
            <c:spPr>
              <a:solidFill>
                <a:srgbClr val="687388"/>
              </a:solidFill>
              <a:effectLst/>
            </c:spPr>
          </c:dPt>
          <c:dPt>
            <c:idx val="18"/>
            <c:invertIfNegative val="0"/>
            <c:bubble3D val="0"/>
            <c:spPr>
              <a:solidFill>
                <a:srgbClr val="B5332A"/>
              </a:solidFill>
              <a:effectLst/>
            </c:spPr>
          </c:dPt>
          <c:dPt>
            <c:idx val="19"/>
            <c:invertIfNegative val="0"/>
            <c:bubble3D val="0"/>
            <c:spPr>
              <a:solidFill>
                <a:srgbClr val="B5332A"/>
              </a:solidFill>
              <a:effectLst/>
            </c:spPr>
          </c:dPt>
          <c:cat>
            <c:multiLvlStrRef>
              <c:f>Sheet1!$A$2:$A$21</c:f>
              <c:multiLvlStrCache>
                <c:ptCount val="20"/>
                <c:lvl>
                  <c:pt idx="0">
                    <c:v>Pathogenic Escherichia coli infection  (73; 1e-3)</c:v>
                  </c:pt>
                  <c:pt idx="1">
                    <c:v>Regulation of actin cytoskeleton  (74; 4e-2)</c:v>
                  </c:pt>
                  <c:pt idx="2">
                    <c:v>Protein processing in endoplasmic reticulum  (77; 4e-7)</c:v>
                  </c:pt>
                  <c:pt idx="3">
                    <c:v>Viral carcinogenesis  (77; 3e-4)</c:v>
                  </c:pt>
                  <c:pt idx="4">
                    <c:v>Cytoskeleton in muscle cells  (87; 1e-4)</c:v>
                  </c:pt>
                  <c:pt idx="5">
                    <c:v>Shigellosis  (91; 4e-4)</c:v>
                  </c:pt>
                  <c:pt idx="6">
                    <c:v>Coronavirus disease  (97; 9e-7)</c:v>
                  </c:pt>
                  <c:pt idx="7">
                    <c:v>Motor proteins  (100; 5e-14)</c:v>
                  </c:pt>
                  <c:pt idx="8">
                    <c:v>Parkinson disease  (102; 1e-5)</c:v>
                  </c:pt>
                  <c:pt idx="9">
                    <c:v>Prion disease  (103; 3e-5)</c:v>
                  </c:pt>
                  <c:pt idx="10">
                    <c:v>Salmonella infection  (104; 6e-8)</c:v>
                  </c:pt>
                  <c:pt idx="11">
                    <c:v>IgSF CAM signaling  (105; 4e-4)</c:v>
                  </c:pt>
                  <c:pt idx="12">
                    <c:v>Ribosome  (106; 3e-11)</c:v>
                  </c:pt>
                  <c:pt idx="13">
                    <c:v>Endocytosis  (107; 7e-9)</c:v>
                  </c:pt>
                  <c:pt idx="14">
                    <c:v>Spliceosome  (113; 4e-12)</c:v>
                  </c:pt>
                  <c:pt idx="15">
                    <c:v>Huntington disease  (119; 9e-7)</c:v>
                  </c:pt>
                  <c:pt idx="16">
                    <c:v>Cadherin signaling  (124; 2e-2)</c:v>
                  </c:pt>
                  <c:pt idx="17">
                    <c:v>Alzheimer disease  (129; 7e-4)</c:v>
                  </c:pt>
                  <c:pt idx="18">
                    <c:v>Amyotrophic lateral sclerosis  (164; 6e-15)</c:v>
                  </c:pt>
                  <c:pt idx="19">
                    <c:v>Pathways of neurodegeneration  (176; 6e-8)</c:v>
                  </c:pt>
                </c:lvl>
              </c:multiLvlStrCache>
            </c:multiLvlStrRef>
          </c:cat>
          <c:val>
            <c:numRef>
              <c:f>Sheet1!$B$2:$B$21</c:f>
              <c:numCache>
                <c:formatCode>General</c:formatCode>
                <c:ptCount val="20"/>
                <c:pt idx="0">
                  <c:v>3.12</c:v>
                </c:pt>
                <c:pt idx="1">
                  <c:v>3.16</c:v>
                </c:pt>
                <c:pt idx="2">
                  <c:v>3.29</c:v>
                </c:pt>
                <c:pt idx="3">
                  <c:v>3.29</c:v>
                </c:pt>
                <c:pt idx="4">
                  <c:v>3.72</c:v>
                </c:pt>
                <c:pt idx="5">
                  <c:v>3.89</c:v>
                </c:pt>
                <c:pt idx="6">
                  <c:v>4.15</c:v>
                </c:pt>
                <c:pt idx="7">
                  <c:v>4.27</c:v>
                </c:pt>
                <c:pt idx="8">
                  <c:v>4.36</c:v>
                </c:pt>
                <c:pt idx="9">
                  <c:v>4.4</c:v>
                </c:pt>
                <c:pt idx="10">
                  <c:v>4.44</c:v>
                </c:pt>
                <c:pt idx="11">
                  <c:v>4.49</c:v>
                </c:pt>
                <c:pt idx="12">
                  <c:v>4.53</c:v>
                </c:pt>
                <c:pt idx="13">
                  <c:v>4.57</c:v>
                </c:pt>
                <c:pt idx="14">
                  <c:v>4.83</c:v>
                </c:pt>
                <c:pt idx="15">
                  <c:v>5.09</c:v>
                </c:pt>
                <c:pt idx="16">
                  <c:v>5.3</c:v>
                </c:pt>
                <c:pt idx="17">
                  <c:v>5.51</c:v>
                </c:pt>
                <c:pt idx="18">
                  <c:v>7.01</c:v>
                </c:pt>
                <c:pt idx="19">
                  <c:v>7.52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none"/>
        <c:minorTickMark val="none"/>
        <c:tickLblPos val="nextTo"/>
        <c:spPr>
          <a:ln w="12700" cap="flat">
            <a:no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E5E7EB"/>
              </a:solidFill>
              <a:prstDash val="solid"/>
              <a:round/>
            </a:ln>
          </c:spPr>
        </c:majorGridlines>
        <c:title>
          <c:tx>
            <c:rich>
              <a:bodyPr/>
              <a:lstStyle/>
              <a:p>
                <a:pPr>
                  <a:defRPr sz="1200" b="0" i="0" u="none" strike="noStrike">
                    <a:solidFill>
                      <a:srgbClr val="6B7280"/>
                    </a:solidFill>
                    <a:latin typeface="+mn-lt"/>
                  </a:defRPr>
                </a:pPr>
                <a:r>
                  <a:rPr sz="1200" b="0" i="0" u="none" strike="noStrike">
                    <a:solidFill>
                      <a:srgbClr val="6B7280"/>
                    </a:solidFill>
                    <a:latin typeface="+mn-lt"/>
                  </a:rPr>
                  <a:t>Gene ratio, % of methylated proteins</a:t>
                </a:r>
              </a:p>
            </c:rich>
          </c:tx>
          <c:layout/>
          <c:overlay val="0"/>
        </c:title>
        <c:numFmt formatCode="General" sourceLinked="0"/>
        <c:majorTickMark val="out"/>
        <c:minorTickMark val="none"/>
        <c:tickLblPos val="low"/>
        <c:spPr>
          <a:ln w="12700" cap="flat">
            <a:no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Methylated ALS-causing proteins (21 of 29): ALS2, ANXA11, AR, ATXN2, CHMP2B, DCTN1, FUS, HNRNPA2B1, KIF5A, LRP12, MATR3, NEK1, PFN1, SOD1, SPTLC2, SQSTM1, TARDBP, TUBA4A, UBQLN2, VAPB, VCP.
Rank 1 of 42 ClinGen panels by fraction methylated. Adjusted odds ratio 3.04 (95% CI 1.25–7.39), p = 0.014; this p-value does not survive correction across 42 panels, so quote the rank.
Not enriched for heavy methylation (&gt;=3 sites) after adjustment.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 pathway: 164 of 369 pathway proteins methylated, 1.8-fold, FDR 6e-15.
Caveats: whole-genome KEGG background, as in 2022. Against an MS-detectable background the ALS pathway ranks 11 (FDR 0.001). The KEGG ALS map (hsa05014) also includes proteasome, mitochondrial and cytoskeletal proteins.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FUS (P35637): 30 sites at R213, R216, R218, R234, R242, R244, R248, R251, R259, R269, R328, R371, R372, R377, R383, R386, R388, R394, R407, R472, R473, R476, R481, R485, R487, R491, R495, R498, R503, R514
EWSR1 (Q01844): 35 sites at R292, R300, R302, R304, R309, R314, R317, R321, R330, R455, R461, R464, R471, R486, R490, R494, R500, R503, R506, R563, R565, R572, R575, R581, R589, R592, R596, R600, R603, R607, R614, R615, R632, R633, R636
TAF15 (Q92804): 41 sites at R164, R175, R185, R187, R195, R206, R216, R320, R321, R326, R334, R337, R343, R349, R373, R383, R388, R395, R397, R403, R406, R415, R431, R441, R450, R459, R467, R475, R483, R490, R498, R505, R512, R519, R528, R535, R545, R553, R562, R570, R580
TDP-43 (Q13148): 2 sites at R275, R293
hnRNPA1 (P09651): 20 sites at R14, R31, R53, R55, R88, R122, R140, R146, R178, R194, R196, R206, R218, R225, R232, R265, R336, R352, R370, R371
hnRNPA2B1 (P22626): 15 sites at R15, R38, R95, R99, R129, R147, R153, R200, R203, R213, R228, R238, R266, R325, R350
MATR3 (P43243): 9 sites at R12, R51, R92, R192, R216, R223, R255, R387, R407
Site counts use canonical UniProt positions only; rows mapped to isoform/TrEMBL accessions are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condensate: ALS 81% (n=21), all methylated 44.9%, proteome 20.9%. Stress granule: 57.1%, 16.7%, 5.9%.
Caveats: CD-CODE is literature-curated, and ALS proteins are among the most studied stress-granule proteins, so part of this is ascertainment. RNA binding explains some of the overlap. Maron 2021 Fig. 7 shows methylarginine proteins are more disordered, charged and LLPS-prone (PScore) than the proteome.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MS023 raises MMA-pulldown sites on FUS (median log2 3.72, 21 of 23 sites FDR&lt;0.05) and EWSR1 (3.14), against a proteome median of 0. Maron 2021 describes this as substrate scavenging: when type I PRMTs are blocked, PRMT5 and monomethylation take over (FUS gains Rme2s and Rme1; TAF15 gains Rme1).
Caveat: FUS sites in the ADMA pulldown also rise with MS023 (median 2.09) in our parse of Table S3, whereas the paper text says FUS Rme2a decreased. PTMScan is not normalised to protein level, so higher FUS recovery could inflate all three pulldowns. Check against the original Table S3 before quoting the ADMA direction.
Relevance: type I PRMT inhibitors are in clinical development, and they block the asymmetric dimethylation of poly-GR/PR that drives C9orf72 DPR toxicity in cell models; symmetric poly-GR dimethylation correlates with longer disease duration (Gittings et al.,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Disease Ontology terms are intellectual-disability and developmental terms; motor neuron disease is the top neurodegenerative term. Motor neuron disease: 78 methylated proteins, FDR 8e-4. ALS: rank 20, FDR 0.014.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call as the 2022 enrichKEGG analysis. With Maron 2021 Table S5 alone, Pathways of neurodegeneration (173) and ALS (162, FDR 7e-15) are also the top two by gene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3F7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548640" y="1005840"/>
            <a:ext cx="11064240" cy="411480"/>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
        <p:nvSpPr>
          <p:cNvPr id="4" name="Text 0"/>
          <p:cNvSpPr/>
          <p:nvPr>
            <p:ph idx="102" type="body" hasCustomPrompt="1"/>
          </p:nvPr>
        </p:nvSpPr>
        <p:spPr>
          <a:xfrm>
            <a:off x="548640" y="6172200"/>
            <a:ext cx="10424160" cy="457200"/>
          </a:xfrm>
          <a:prstGeom prst="rect">
            <a:avLst/>
          </a:prstGeom>
          <a:noFill/>
          <a:ln/>
        </p:spPr>
        <p:txBody>
          <a:bodyPr wrap="square" rtlCol="0"/>
          <a:lstStyle>
            <a:lvl1pPr algn="l" indent="0" marL="0">
              <a:buNone/>
              <a:defRPr lang="en-US" sz="1000" i="1" dirty="0">
                <a:solidFill>
                  <a:schemeClr val="accent6"/>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lIns="0" tIns="0" rIns="0" bIns="0" rtlCol="0" anchor="b"/>
          <a:lstStyle/>
          <a:p>
            <a:pPr algn="l" indent="0" marL="0">
              <a:buNone/>
            </a:pPr>
            <a:r>
              <a:rPr lang="en-US" sz="4000" b="1" dirty="0">
                <a:solidFill>
                  <a:schemeClr val="bg1"/>
                </a:solidFill>
              </a:rPr>
              <a:t>Arginine methylation marks the ALS proteome</a:t>
            </a:r>
            <a:endParaRPr lang="en-US" sz="4000" dirty="0"/>
          </a:p>
        </p:txBody>
      </p:sp>
      <p:sp>
        <p:nvSpPr>
          <p:cNvPr id="3" name="Text 0"/>
          <p:cNvSpPr/>
          <p:nvPr>
            <p:ph idx="101" type="body" hasCustomPrompt="1"/>
          </p:nvPr>
        </p:nvSpPr>
        <p:spPr>
          <a:xfrm>
            <a:off x="731520" y="3749040"/>
            <a:ext cx="10698480" cy="914400"/>
          </a:xfrm>
          <a:prstGeom prst="rect">
            <a:avLst/>
          </a:prstGeom>
          <a:noFill/>
          <a:ln/>
        </p:spPr>
        <p:txBody>
          <a:bodyPr wrap="square" lIns="0" tIns="0" rIns="0" bIns="0" rtlCol="0" anchor="t"/>
          <a:lstStyle/>
          <a:p>
            <a:pPr indent="0" marL="0">
              <a:buNone/>
            </a:pPr>
            <a:r>
              <a:rPr lang="en-US" sz="2000" dirty="0">
                <a:solidFill>
                  <a:schemeClr val="accent3"/>
                </a:solidFill>
              </a:rPr>
              <a:t>FET proteins, TDP-43, hnRNPs and most ALS-causing proteins carry methylarginine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72% of ALS-causing proteins are arginine-methylated</a:t>
            </a:r>
            <a:endParaRPr lang="en-US" sz="28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6"/>
                </a:solidFill>
              </a:rPr>
              <a:t>The most of any disease group: ALS ranks 1st of 42 ClinGen disease panels</a:t>
            </a:r>
            <a:endParaRPr lang="en-US" sz="1600" dirty="0"/>
          </a:p>
        </p:txBody>
      </p:sp>
      <p:sp>
        <p:nvSpPr>
          <p:cNvPr id="4" name="Text 0"/>
          <p:cNvSpPr/>
          <p:nvPr>
            <p:ph idx="102" type="body" hasCustomPrompt="1"/>
          </p:nvPr>
        </p:nvSpPr>
        <p:spPr>
          <a:xfrm>
            <a:off x="548640" y="6172200"/>
            <a:ext cx="10424160" cy="457200"/>
          </a:xfrm>
          <a:prstGeom prst="rect">
            <a:avLst/>
          </a:prstGeom>
          <a:noFill/>
          <a:ln/>
        </p:spPr>
        <p:txBody>
          <a:bodyPr wrap="square" lIns="0" tIns="0" rIns="0" bIns="0" rtlCol="0" anchor="b"/>
          <a:lstStyle/>
          <a:p>
            <a:pPr algn="l" indent="0" marL="0">
              <a:buNone/>
            </a:pPr>
            <a:r>
              <a:rPr lang="en-US" sz="1000" i="1" dirty="0">
                <a:solidFill>
                  <a:schemeClr val="accent6"/>
                </a:solidFill>
              </a:rPr>
              <a:t>ClinGen gene–disease validity (Definitive/Strong/Moderate; panels with ≥10 proteins). Methylated = any arginine-methylation site in the PTM_pipeline compendium. Adjusted for RNA binding, length and abundance: ALS odds ratio 3.0 (95% CI 1.3–7.4).</a:t>
            </a:r>
            <a:endParaRPr lang="en-US" sz="1000" dirty="0"/>
          </a:p>
        </p:txBody>
      </p:sp>
      <p:graphicFrame>
        <p:nvGraphicFramePr>
          <p:cNvPr id="6" name="ALS vs disease vs proteome" descr=""/>
          <p:cNvGraphicFramePr/>
          <p:nvPr/>
        </p:nvGraphicFramePr>
        <p:xfrm>
          <a:off x="548640" y="1600200"/>
          <a:ext cx="603504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All ClinGen panels" descr=""/>
          <p:cNvGraphicFramePr/>
          <p:nvPr/>
        </p:nvGraphicFramePr>
        <p:xfrm>
          <a:off x="7040880" y="1874520"/>
          <a:ext cx="4572000" cy="4160520"/>
        </p:xfrm>
        <a:graphic xmlns:a="http://schemas.openxmlformats.org/drawingml/2006/main">
          <a:graphicData uri="http://schemas.openxmlformats.org/drawingml/2006/chart">
            <c:chart xmlns:c="http://schemas.openxmlformats.org/drawingml/2006/chart" r:id="rId2"/>
          </a:graphicData>
        </a:graphic>
      </p:graphicFrame>
      <p:sp>
        <p:nvSpPr>
          <p:cNvPr id="8" name="Panel chart heading"/>
          <p:cNvSpPr txBox="1"/>
          <p:nvPr/>
        </p:nvSpPr>
        <p:spPr>
          <a:xfrm>
            <a:off x="7040880" y="1554480"/>
            <a:ext cx="4572000" cy="320040"/>
          </a:xfrm>
          <a:prstGeom prst="rect">
            <a:avLst/>
          </a:prstGeom>
          <a:noFill/>
          <a:ln/>
        </p:spPr>
        <p:txBody>
          <a:bodyPr wrap="square" lIns="0" tIns="0" rIns="0" bIns="0" rtlCol="0" anchor="ctr"/>
          <a:lstStyle/>
          <a:p>
            <a:pPr indent="0" marL="0">
              <a:buNone/>
            </a:pPr>
            <a:r>
              <a:rPr lang="en-US" sz="1400" b="1" dirty="0">
                <a:solidFill>
                  <a:schemeClr val="tx1"/>
                </a:solidFill>
              </a:rPr>
              <a:t>All 42 ClinGen disease panels: </a:t>
            </a:r>
            <a:pPr indent="0" marL="0">
              <a:buNone/>
            </a:pPr>
            <a:r>
              <a:rPr lang="en-US" sz="1400" b="1" dirty="0">
                <a:solidFill>
                  <a:schemeClr val="accent1"/>
                </a:solidFill>
              </a:rPr>
              <a:t>ALS in red, at the top</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ALS is the #2 KEGG pathway for methylated proteins</a:t>
            </a:r>
            <a:endParaRPr lang="en-US" sz="28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6"/>
                </a:solidFill>
              </a:rPr>
              <a:t>2,340 KEGG-annotated methylated proteins; top 12 of 68 significant pathways (n = methylated proteins)</a:t>
            </a:r>
            <a:endParaRPr lang="en-US" sz="1600" dirty="0"/>
          </a:p>
        </p:txBody>
      </p:sp>
      <p:sp>
        <p:nvSpPr>
          <p:cNvPr id="4" name="Text 0"/>
          <p:cNvSpPr/>
          <p:nvPr>
            <p:ph idx="102" type="body" hasCustomPrompt="1"/>
          </p:nvPr>
        </p:nvSpPr>
        <p:spPr>
          <a:xfrm>
            <a:off x="548640" y="6172200"/>
            <a:ext cx="10424160" cy="457200"/>
          </a:xfrm>
          <a:prstGeom prst="rect">
            <a:avLst/>
          </a:prstGeom>
          <a:noFill/>
          <a:ln/>
        </p:spPr>
        <p:txBody>
          <a:bodyPr wrap="square" lIns="0" tIns="0" rIns="0" bIns="0" rtlCol="0" anchor="b"/>
          <a:lstStyle/>
          <a:p>
            <a:pPr algn="l" indent="0" marL="0">
              <a:buNone/>
            </a:pPr>
            <a:r>
              <a:rPr lang="en-US" sz="1000" i="1" dirty="0">
                <a:solidFill>
                  <a:schemeClr val="accent6"/>
                </a:solidFill>
              </a:rPr>
              <a:t>clusterProfiler enrichKEGG (organism hsa, default KEGG background, BH), as in the 2022 analysis of Maron et al. 2021 Table S5, re-run on the PTM_pipeline methylarginine compendium.</a:t>
            </a:r>
            <a:endParaRPr lang="en-US" sz="1000" dirty="0"/>
          </a:p>
        </p:txBody>
      </p:sp>
      <p:graphicFrame>
        <p:nvGraphicFramePr>
          <p:cNvPr id="6" name="KEGG top pathways" descr=""/>
          <p:cNvGraphicFramePr/>
          <p:nvPr/>
        </p:nvGraphicFramePr>
        <p:xfrm>
          <a:off x="548640" y="1600200"/>
          <a:ext cx="7863840" cy="4480560"/>
        </p:xfrm>
        <a:graphic xmlns:a="http://schemas.openxmlformats.org/drawingml/2006/main">
          <a:graphicData uri="http://schemas.openxmlformats.org/drawingml/2006/chart">
            <c:chart xmlns:c="http://schemas.openxmlformats.org/drawingml/2006/chart" r:id="rId1"/>
          </a:graphicData>
        </a:graphic>
      </p:graphicFrame>
      <p:sp>
        <p:nvSpPr>
          <p:cNvPr id="7" name="Side panel heading"/>
          <p:cNvSpPr txBox="1"/>
          <p:nvPr/>
        </p:nvSpPr>
        <p:spPr>
          <a:xfrm>
            <a:off x="8869680" y="1691640"/>
            <a:ext cx="2743200" cy="731520"/>
          </a:xfrm>
          <a:prstGeom prst="rect">
            <a:avLst/>
          </a:prstGeom>
          <a:noFill/>
          <a:ln/>
        </p:spPr>
        <p:txBody>
          <a:bodyPr wrap="square" lIns="0" tIns="0" rIns="0" bIns="0" rtlCol="0" anchor="t"/>
          <a:lstStyle/>
          <a:p>
            <a:pPr indent="0" marL="0">
              <a:buNone/>
            </a:pPr>
            <a:r>
              <a:rPr lang="en-US" sz="1800" b="1" dirty="0">
                <a:solidFill>
                  <a:schemeClr val="accent1"/>
                </a:solidFill>
              </a:rPr>
              <a:t>Methylated proteins in the KEGG ALS pathway</a:t>
            </a:r>
            <a:endParaRPr lang="en-US" sz="1800" dirty="0"/>
          </a:p>
        </p:txBody>
      </p:sp>
      <p:sp>
        <p:nvSpPr>
          <p:cNvPr id="8" name="Side panel proteins"/>
          <p:cNvSpPr txBox="1"/>
          <p:nvPr/>
        </p:nvSpPr>
        <p:spPr>
          <a:xfrm>
            <a:off x="8869680" y="2514600"/>
            <a:ext cx="2743200" cy="2194560"/>
          </a:xfrm>
          <a:prstGeom prst="rect">
            <a:avLst/>
          </a:prstGeom>
          <a:noFill/>
          <a:ln/>
        </p:spPr>
        <p:txBody>
          <a:bodyPr wrap="square" lIns="0" tIns="0" rIns="0" bIns="0" rtlCol="0" anchor="t"/>
          <a:lstStyle/>
          <a:p>
            <a:pPr algn="l" indent="0" marL="0">
              <a:spcBef>
                <a:spcPts val="600"/>
              </a:spcBef>
              <a:buNone/>
            </a:pPr>
            <a:r>
              <a:rPr lang="en-US" sz="1500" b="1" dirty="0">
                <a:solidFill>
                  <a:schemeClr val="tx1"/>
                </a:solidFill>
              </a:rPr>
              <a:t>TARDBP  FUS  HNRNPA1  HNRNPA2B1  MATR3  ATXN2  VCP  SOD1  UBQLN2  SQSTM1  NEFH  PRPH  DCTN1  SETX  TUBA4A</a:t>
            </a:r>
            <a:endParaRPr lang="en-US" sz="1500" dirty="0"/>
          </a:p>
          <a:p>
            <a:pPr algn="l" indent="0" marL="0">
              <a:spcBef>
                <a:spcPts val="600"/>
              </a:spcBef>
              <a:buNone/>
            </a:pPr>
            <a:r>
              <a:rPr lang="en-US" sz="1400" dirty="0">
                <a:solidFill>
                  <a:schemeClr val="accent6"/>
                </a:solidFill>
              </a:rPr>
              <a:t>+ 149 more</a:t>
            </a:r>
            <a:endParaRPr lang="en-US" sz="1500" dirty="0"/>
          </a:p>
        </p:txBody>
      </p:sp>
      <p:sp>
        <p:nvSpPr>
          <p:cNvPr id="9" name="Side panel stat"/>
          <p:cNvSpPr txBox="1"/>
          <p:nvPr/>
        </p:nvSpPr>
        <p:spPr>
          <a:xfrm>
            <a:off x="8869680" y="4343400"/>
            <a:ext cx="2743200" cy="1097280"/>
          </a:xfrm>
          <a:prstGeom prst="rect">
            <a:avLst/>
          </a:prstGeom>
          <a:noFill/>
          <a:ln/>
        </p:spPr>
        <p:txBody>
          <a:bodyPr wrap="square" lIns="0" tIns="0" rIns="0" bIns="0" rtlCol="0" anchor="t"/>
          <a:lstStyle/>
          <a:p>
            <a:pPr indent="0" marL="0">
              <a:buNone/>
            </a:pPr>
            <a:r>
              <a:rPr lang="en-US" sz="1400" dirty="0">
                <a:solidFill>
                  <a:schemeClr val="tx1"/>
                </a:solidFill>
              </a:rPr>
              <a:t>164 of 369 pathway proteins are methylated (1.8-fold over expected; FDR 6e-15).</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Methylarginine sits in the RGG regions of ALS proteins</a:t>
            </a:r>
            <a:endParaRPr lang="en-US" sz="28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6"/>
                </a:solidFill>
              </a:rPr>
              <a:t>Arginine-methylation sites on FET proteins, TDP-43, hnRNPA1/A2B1 and MATR3</a:t>
            </a:r>
            <a:endParaRPr lang="en-US" sz="1600" dirty="0"/>
          </a:p>
        </p:txBody>
      </p:sp>
      <p:sp>
        <p:nvSpPr>
          <p:cNvPr id="4" name="Text 0"/>
          <p:cNvSpPr/>
          <p:nvPr>
            <p:ph idx="102" type="body" hasCustomPrompt="1"/>
          </p:nvPr>
        </p:nvSpPr>
        <p:spPr>
          <a:xfrm>
            <a:off x="548640" y="6172200"/>
            <a:ext cx="10424160" cy="457200"/>
          </a:xfrm>
          <a:prstGeom prst="rect">
            <a:avLst/>
          </a:prstGeom>
          <a:noFill/>
          <a:ln/>
        </p:spPr>
        <p:txBody>
          <a:bodyPr wrap="square" lIns="0" tIns="0" rIns="0" bIns="0" rtlCol="0" anchor="b"/>
          <a:lstStyle/>
          <a:p>
            <a:pPr algn="l" indent="0" marL="0">
              <a:buNone/>
            </a:pPr>
            <a:r>
              <a:rPr lang="en-US" sz="1000" i="1" dirty="0">
                <a:solidFill>
                  <a:schemeClr val="accent6"/>
                </a:solidFill>
              </a:rPr>
              <a:t>Sites: PTM_pipeline methylarginine compendium, canonical UniProt positions. Domains and Gly-rich / low-complexity regions: UniProt. TDP-43 R293 (C-terminal Gly-rich region) reported monomethylated in 7 proteomic studies; R275 in 3.</a:t>
            </a:r>
            <a:endParaRPr lang="en-US" sz="1000" dirty="0"/>
          </a:p>
        </p:txBody>
      </p:sp>
      <p:sp>
        <p:nvSpPr>
          <p:cNvPr id="6" name="Legend domain"/>
          <p:cNvSpPr/>
          <p:nvPr/>
        </p:nvSpPr>
        <p:spPr>
          <a:xfrm>
            <a:off x="7315200" y="1481328"/>
            <a:ext cx="274320" cy="182880"/>
          </a:xfrm>
          <a:prstGeom prst="roundRect">
            <a:avLst>
              <a:gd name="adj" fmla="val 20000"/>
            </a:avLst>
          </a:prstGeom>
          <a:solidFill>
            <a:schemeClr val="accent4"/>
          </a:solidFill>
          <a:ln/>
        </p:spPr>
      </p:sp>
      <p:sp>
        <p:nvSpPr>
          <p:cNvPr id="7" name="Text 4"/>
          <p:cNvSpPr txBox="1"/>
          <p:nvPr/>
        </p:nvSpPr>
        <p:spPr>
          <a:xfrm>
            <a:off x="7662672" y="1435608"/>
            <a:ext cx="2103120" cy="274320"/>
          </a:xfrm>
          <a:prstGeom prst="rect">
            <a:avLst/>
          </a:prstGeom>
          <a:noFill/>
          <a:ln/>
        </p:spPr>
        <p:txBody>
          <a:bodyPr wrap="square" lIns="0" tIns="0" rIns="0" bIns="0" rtlCol="0" anchor="ctr"/>
          <a:lstStyle/>
          <a:p>
            <a:pPr indent="0" marL="0">
              <a:buNone/>
            </a:pPr>
            <a:r>
              <a:rPr lang="en-US" sz="1200" dirty="0">
                <a:solidFill>
                  <a:schemeClr val="tx1"/>
                </a:solidFill>
              </a:rPr>
              <a:t>Folded domain (RRM, ZnF)</a:t>
            </a:r>
            <a:endParaRPr lang="en-US" sz="1200" dirty="0"/>
          </a:p>
        </p:txBody>
      </p:sp>
      <p:sp>
        <p:nvSpPr>
          <p:cNvPr id="8" name="Legend LCD"/>
          <p:cNvSpPr/>
          <p:nvPr/>
        </p:nvSpPr>
        <p:spPr>
          <a:xfrm>
            <a:off x="9784080" y="1481328"/>
            <a:ext cx="274320" cy="182880"/>
          </a:xfrm>
          <a:prstGeom prst="rect">
            <a:avLst/>
          </a:prstGeom>
          <a:solidFill>
            <a:schemeClr val="accent5"/>
          </a:solidFill>
          <a:ln/>
        </p:spPr>
      </p:sp>
      <p:sp>
        <p:nvSpPr>
          <p:cNvPr id="9" name="Text 6"/>
          <p:cNvSpPr txBox="1"/>
          <p:nvPr/>
        </p:nvSpPr>
        <p:spPr>
          <a:xfrm>
            <a:off x="10131552" y="1435608"/>
            <a:ext cx="1554480" cy="274320"/>
          </a:xfrm>
          <a:prstGeom prst="rect">
            <a:avLst/>
          </a:prstGeom>
          <a:noFill/>
          <a:ln/>
        </p:spPr>
        <p:txBody>
          <a:bodyPr wrap="square" lIns="0" tIns="0" rIns="0" bIns="0" rtlCol="0" anchor="ctr"/>
          <a:lstStyle/>
          <a:p>
            <a:pPr indent="0" marL="0">
              <a:buNone/>
            </a:pPr>
            <a:r>
              <a:rPr lang="en-US" sz="1200" dirty="0">
                <a:solidFill>
                  <a:schemeClr val="tx1"/>
                </a:solidFill>
              </a:rPr>
              <a:t>Gly-rich / RGG / LCD</a:t>
            </a:r>
            <a:endParaRPr lang="en-US" sz="1200" dirty="0"/>
          </a:p>
        </p:txBody>
      </p:sp>
      <p:sp>
        <p:nvSpPr>
          <p:cNvPr id="10" name="FUS name"/>
          <p:cNvSpPr txBox="1"/>
          <p:nvPr/>
        </p:nvSpPr>
        <p:spPr>
          <a:xfrm>
            <a:off x="457200" y="1828800"/>
            <a:ext cx="1325880" cy="365760"/>
          </a:xfrm>
          <a:prstGeom prst="rect">
            <a:avLst/>
          </a:prstGeom>
          <a:noFill/>
          <a:ln/>
        </p:spPr>
        <p:txBody>
          <a:bodyPr wrap="square" lIns="0" tIns="0" rIns="0" bIns="0" rtlCol="0" anchor="ctr"/>
          <a:lstStyle/>
          <a:p>
            <a:pPr algn="r" indent="0" marL="0">
              <a:buNone/>
            </a:pPr>
            <a:r>
              <a:rPr lang="en-US" sz="1600" b="1" dirty="0">
                <a:solidFill>
                  <a:schemeClr val="tx1"/>
                </a:solidFill>
              </a:rPr>
              <a:t>FUS</a:t>
            </a:r>
            <a:endParaRPr lang="en-US" sz="1600" dirty="0"/>
          </a:p>
        </p:txBody>
      </p:sp>
      <p:sp>
        <p:nvSpPr>
          <p:cNvPr id="11" name="FUS backbone"/>
          <p:cNvSpPr/>
          <p:nvPr/>
        </p:nvSpPr>
        <p:spPr>
          <a:xfrm>
            <a:off x="1920240" y="1975104"/>
            <a:ext cx="5369017" cy="73152"/>
          </a:xfrm>
          <a:prstGeom prst="rect">
            <a:avLst/>
          </a:prstGeom>
          <a:solidFill>
            <a:srgbClr val="B8BEC9"/>
          </a:solidFill>
          <a:ln/>
        </p:spPr>
      </p:sp>
      <p:sp>
        <p:nvSpPr>
          <p:cNvPr id="12" name="FUS Low complexity 17-75"/>
          <p:cNvSpPr/>
          <p:nvPr/>
        </p:nvSpPr>
        <p:spPr>
          <a:xfrm>
            <a:off x="2093763" y="1901952"/>
            <a:ext cx="592021" cy="219456"/>
          </a:xfrm>
          <a:prstGeom prst="rect">
            <a:avLst/>
          </a:prstGeom>
          <a:solidFill>
            <a:schemeClr val="accent5"/>
          </a:solidFill>
          <a:ln/>
        </p:spPr>
      </p:sp>
      <p:sp>
        <p:nvSpPr>
          <p:cNvPr id="13" name="FUS Low complexity 83-164"/>
          <p:cNvSpPr/>
          <p:nvPr/>
        </p:nvSpPr>
        <p:spPr>
          <a:xfrm>
            <a:off x="2767442" y="1901952"/>
            <a:ext cx="826788" cy="219456"/>
          </a:xfrm>
          <a:prstGeom prst="rect">
            <a:avLst/>
          </a:prstGeom>
          <a:solidFill>
            <a:schemeClr val="accent5"/>
          </a:solidFill>
          <a:ln/>
        </p:spPr>
      </p:sp>
      <p:sp>
        <p:nvSpPr>
          <p:cNvPr id="14" name="FUS Gly residues 165-177"/>
          <p:cNvSpPr/>
          <p:nvPr/>
        </p:nvSpPr>
        <p:spPr>
          <a:xfrm>
            <a:off x="3604437" y="1901952"/>
            <a:ext cx="122487" cy="219456"/>
          </a:xfrm>
          <a:prstGeom prst="rect">
            <a:avLst/>
          </a:prstGeom>
          <a:solidFill>
            <a:schemeClr val="accent5"/>
          </a:solidFill>
          <a:ln/>
        </p:spPr>
      </p:sp>
      <p:sp>
        <p:nvSpPr>
          <p:cNvPr id="15" name="FUS Gly residues 186-209"/>
          <p:cNvSpPr/>
          <p:nvPr/>
        </p:nvSpPr>
        <p:spPr>
          <a:xfrm>
            <a:off x="3818790" y="1901952"/>
            <a:ext cx="234767" cy="219456"/>
          </a:xfrm>
          <a:prstGeom prst="rect">
            <a:avLst/>
          </a:prstGeom>
          <a:solidFill>
            <a:schemeClr val="accent5"/>
          </a:solidFill>
          <a:ln/>
        </p:spPr>
      </p:sp>
      <p:sp>
        <p:nvSpPr>
          <p:cNvPr id="16" name="FUS Gly residues 217-232"/>
          <p:cNvSpPr/>
          <p:nvPr/>
        </p:nvSpPr>
        <p:spPr>
          <a:xfrm>
            <a:off x="4135215" y="1901952"/>
            <a:ext cx="153109" cy="219456"/>
          </a:xfrm>
          <a:prstGeom prst="rect">
            <a:avLst/>
          </a:prstGeom>
          <a:solidFill>
            <a:schemeClr val="accent5"/>
          </a:solidFill>
          <a:ln/>
        </p:spPr>
      </p:sp>
      <p:sp>
        <p:nvSpPr>
          <p:cNvPr id="17" name="FUS Gly residues 244-259"/>
          <p:cNvSpPr/>
          <p:nvPr/>
        </p:nvSpPr>
        <p:spPr>
          <a:xfrm>
            <a:off x="4410810" y="1901952"/>
            <a:ext cx="153109" cy="219456"/>
          </a:xfrm>
          <a:prstGeom prst="rect">
            <a:avLst/>
          </a:prstGeom>
          <a:solidFill>
            <a:schemeClr val="accent5"/>
          </a:solidFill>
          <a:ln/>
        </p:spPr>
      </p:sp>
      <p:sp>
        <p:nvSpPr>
          <p:cNvPr id="18" name="FUS Gly residues 377-421"/>
          <p:cNvSpPr/>
          <p:nvPr/>
        </p:nvSpPr>
        <p:spPr>
          <a:xfrm>
            <a:off x="5768375" y="1901952"/>
            <a:ext cx="449119" cy="219456"/>
          </a:xfrm>
          <a:prstGeom prst="rect">
            <a:avLst/>
          </a:prstGeom>
          <a:solidFill>
            <a:schemeClr val="accent5"/>
          </a:solidFill>
          <a:ln/>
        </p:spPr>
      </p:sp>
      <p:sp>
        <p:nvSpPr>
          <p:cNvPr id="19" name="FUS Gly residues 454-468"/>
          <p:cNvSpPr/>
          <p:nvPr/>
        </p:nvSpPr>
        <p:spPr>
          <a:xfrm>
            <a:off x="6554334" y="1901952"/>
            <a:ext cx="142902" cy="219456"/>
          </a:xfrm>
          <a:prstGeom prst="rect">
            <a:avLst/>
          </a:prstGeom>
          <a:solidFill>
            <a:schemeClr val="accent5"/>
          </a:solidFill>
          <a:ln/>
        </p:spPr>
      </p:sp>
      <p:sp>
        <p:nvSpPr>
          <p:cNvPr id="20" name="FUS Gly residues 494-508"/>
          <p:cNvSpPr/>
          <p:nvPr/>
        </p:nvSpPr>
        <p:spPr>
          <a:xfrm>
            <a:off x="6962624" y="1901952"/>
            <a:ext cx="142902" cy="219456"/>
          </a:xfrm>
          <a:prstGeom prst="rect">
            <a:avLst/>
          </a:prstGeom>
          <a:solidFill>
            <a:schemeClr val="accent5"/>
          </a:solidFill>
          <a:ln/>
        </p:spPr>
      </p:sp>
      <p:sp>
        <p:nvSpPr>
          <p:cNvPr id="21" name="FUS RRM 285-371"/>
          <p:cNvSpPr/>
          <p:nvPr/>
        </p:nvSpPr>
        <p:spPr>
          <a:xfrm>
            <a:off x="4829308" y="1874520"/>
            <a:ext cx="877824"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RRM</a:t>
            </a:r>
            <a:endParaRPr lang="en-US" sz="1000" dirty="0"/>
          </a:p>
        </p:txBody>
      </p:sp>
      <p:sp>
        <p:nvSpPr>
          <p:cNvPr id="22" name="FUS ZnF 422-453"/>
          <p:cNvSpPr/>
          <p:nvPr/>
        </p:nvSpPr>
        <p:spPr>
          <a:xfrm>
            <a:off x="6227702" y="1874520"/>
            <a:ext cx="316425"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ZnF</a:t>
            </a:r>
            <a:endParaRPr lang="en-US" sz="1000" dirty="0"/>
          </a:p>
        </p:txBody>
      </p:sp>
      <p:sp>
        <p:nvSpPr>
          <p:cNvPr id="23" name="FUS R213 stem"/>
          <p:cNvSpPr/>
          <p:nvPr/>
        </p:nvSpPr>
        <p:spPr>
          <a:xfrm>
            <a:off x="4094385" y="1737360"/>
            <a:ext cx="0" cy="128016"/>
          </a:xfrm>
          <a:prstGeom prst="line">
            <a:avLst/>
          </a:prstGeom>
          <a:noFill/>
          <a:ln w="12700">
            <a:solidFill>
              <a:schemeClr val="accent1"/>
            </a:solidFill>
            <a:prstDash val="solid"/>
          </a:ln>
        </p:spPr>
      </p:sp>
      <p:sp>
        <p:nvSpPr>
          <p:cNvPr id="24" name="FUS R213"/>
          <p:cNvSpPr/>
          <p:nvPr/>
        </p:nvSpPr>
        <p:spPr>
          <a:xfrm>
            <a:off x="4066953" y="1700784"/>
            <a:ext cx="54864" cy="54864"/>
          </a:xfrm>
          <a:prstGeom prst="ellipse">
            <a:avLst/>
          </a:prstGeom>
          <a:solidFill>
            <a:schemeClr val="accent1"/>
          </a:solidFill>
          <a:ln/>
        </p:spPr>
      </p:sp>
      <p:sp>
        <p:nvSpPr>
          <p:cNvPr id="25" name="FUS R216 stem"/>
          <p:cNvSpPr/>
          <p:nvPr/>
        </p:nvSpPr>
        <p:spPr>
          <a:xfrm>
            <a:off x="4125007" y="1737360"/>
            <a:ext cx="0" cy="128016"/>
          </a:xfrm>
          <a:prstGeom prst="line">
            <a:avLst/>
          </a:prstGeom>
          <a:noFill/>
          <a:ln w="12700">
            <a:solidFill>
              <a:schemeClr val="accent1"/>
            </a:solidFill>
            <a:prstDash val="solid"/>
          </a:ln>
        </p:spPr>
      </p:sp>
      <p:sp>
        <p:nvSpPr>
          <p:cNvPr id="26" name="FUS R216"/>
          <p:cNvSpPr/>
          <p:nvPr/>
        </p:nvSpPr>
        <p:spPr>
          <a:xfrm>
            <a:off x="4097575" y="1700784"/>
            <a:ext cx="54864" cy="54864"/>
          </a:xfrm>
          <a:prstGeom prst="ellipse">
            <a:avLst/>
          </a:prstGeom>
          <a:solidFill>
            <a:schemeClr val="accent1"/>
          </a:solidFill>
          <a:ln/>
        </p:spPr>
      </p:sp>
      <p:sp>
        <p:nvSpPr>
          <p:cNvPr id="27" name="FUS R218 stem"/>
          <p:cNvSpPr/>
          <p:nvPr/>
        </p:nvSpPr>
        <p:spPr>
          <a:xfrm>
            <a:off x="4145422" y="1737360"/>
            <a:ext cx="0" cy="128016"/>
          </a:xfrm>
          <a:prstGeom prst="line">
            <a:avLst/>
          </a:prstGeom>
          <a:noFill/>
          <a:ln w="12700">
            <a:solidFill>
              <a:schemeClr val="accent1"/>
            </a:solidFill>
            <a:prstDash val="solid"/>
          </a:ln>
        </p:spPr>
      </p:sp>
      <p:sp>
        <p:nvSpPr>
          <p:cNvPr id="28" name="FUS R218"/>
          <p:cNvSpPr/>
          <p:nvPr/>
        </p:nvSpPr>
        <p:spPr>
          <a:xfrm>
            <a:off x="4117990" y="1700784"/>
            <a:ext cx="54864" cy="54864"/>
          </a:xfrm>
          <a:prstGeom prst="ellipse">
            <a:avLst/>
          </a:prstGeom>
          <a:solidFill>
            <a:schemeClr val="accent1"/>
          </a:solidFill>
          <a:ln/>
        </p:spPr>
      </p:sp>
      <p:sp>
        <p:nvSpPr>
          <p:cNvPr id="29" name="FUS R234 stem"/>
          <p:cNvSpPr/>
          <p:nvPr/>
        </p:nvSpPr>
        <p:spPr>
          <a:xfrm>
            <a:off x="4308738" y="1737360"/>
            <a:ext cx="0" cy="128016"/>
          </a:xfrm>
          <a:prstGeom prst="line">
            <a:avLst/>
          </a:prstGeom>
          <a:noFill/>
          <a:ln w="12700">
            <a:solidFill>
              <a:schemeClr val="accent1"/>
            </a:solidFill>
            <a:prstDash val="solid"/>
          </a:ln>
        </p:spPr>
      </p:sp>
      <p:sp>
        <p:nvSpPr>
          <p:cNvPr id="30" name="FUS R234"/>
          <p:cNvSpPr/>
          <p:nvPr/>
        </p:nvSpPr>
        <p:spPr>
          <a:xfrm>
            <a:off x="4281306" y="1700784"/>
            <a:ext cx="54864" cy="54864"/>
          </a:xfrm>
          <a:prstGeom prst="ellipse">
            <a:avLst/>
          </a:prstGeom>
          <a:solidFill>
            <a:schemeClr val="accent1"/>
          </a:solidFill>
          <a:ln/>
        </p:spPr>
      </p:sp>
      <p:sp>
        <p:nvSpPr>
          <p:cNvPr id="31" name="FUS R242 stem"/>
          <p:cNvSpPr/>
          <p:nvPr/>
        </p:nvSpPr>
        <p:spPr>
          <a:xfrm>
            <a:off x="4390396" y="1737360"/>
            <a:ext cx="0" cy="128016"/>
          </a:xfrm>
          <a:prstGeom prst="line">
            <a:avLst/>
          </a:prstGeom>
          <a:noFill/>
          <a:ln w="12700">
            <a:solidFill>
              <a:schemeClr val="accent1"/>
            </a:solidFill>
            <a:prstDash val="solid"/>
          </a:ln>
        </p:spPr>
      </p:sp>
      <p:sp>
        <p:nvSpPr>
          <p:cNvPr id="32" name="FUS R242"/>
          <p:cNvSpPr/>
          <p:nvPr/>
        </p:nvSpPr>
        <p:spPr>
          <a:xfrm>
            <a:off x="4362964" y="1700784"/>
            <a:ext cx="54864" cy="54864"/>
          </a:xfrm>
          <a:prstGeom prst="ellipse">
            <a:avLst/>
          </a:prstGeom>
          <a:solidFill>
            <a:schemeClr val="accent1"/>
          </a:solidFill>
          <a:ln/>
        </p:spPr>
      </p:sp>
      <p:sp>
        <p:nvSpPr>
          <p:cNvPr id="33" name="FUS R244 stem"/>
          <p:cNvSpPr/>
          <p:nvPr/>
        </p:nvSpPr>
        <p:spPr>
          <a:xfrm>
            <a:off x="4410810" y="1737360"/>
            <a:ext cx="0" cy="128016"/>
          </a:xfrm>
          <a:prstGeom prst="line">
            <a:avLst/>
          </a:prstGeom>
          <a:noFill/>
          <a:ln w="12700">
            <a:solidFill>
              <a:schemeClr val="accent1"/>
            </a:solidFill>
            <a:prstDash val="solid"/>
          </a:ln>
        </p:spPr>
      </p:sp>
      <p:sp>
        <p:nvSpPr>
          <p:cNvPr id="34" name="FUS R244"/>
          <p:cNvSpPr/>
          <p:nvPr/>
        </p:nvSpPr>
        <p:spPr>
          <a:xfrm>
            <a:off x="4383378" y="1700784"/>
            <a:ext cx="54864" cy="54864"/>
          </a:xfrm>
          <a:prstGeom prst="ellipse">
            <a:avLst/>
          </a:prstGeom>
          <a:solidFill>
            <a:schemeClr val="accent1"/>
          </a:solidFill>
          <a:ln/>
        </p:spPr>
      </p:sp>
      <p:sp>
        <p:nvSpPr>
          <p:cNvPr id="35" name="FUS R248 stem"/>
          <p:cNvSpPr/>
          <p:nvPr/>
        </p:nvSpPr>
        <p:spPr>
          <a:xfrm>
            <a:off x="4451639" y="1737360"/>
            <a:ext cx="0" cy="128016"/>
          </a:xfrm>
          <a:prstGeom prst="line">
            <a:avLst/>
          </a:prstGeom>
          <a:noFill/>
          <a:ln w="12700">
            <a:solidFill>
              <a:schemeClr val="accent1"/>
            </a:solidFill>
            <a:prstDash val="solid"/>
          </a:ln>
        </p:spPr>
      </p:sp>
      <p:sp>
        <p:nvSpPr>
          <p:cNvPr id="36" name="FUS R248"/>
          <p:cNvSpPr/>
          <p:nvPr/>
        </p:nvSpPr>
        <p:spPr>
          <a:xfrm>
            <a:off x="4424207" y="1700784"/>
            <a:ext cx="54864" cy="54864"/>
          </a:xfrm>
          <a:prstGeom prst="ellipse">
            <a:avLst/>
          </a:prstGeom>
          <a:solidFill>
            <a:schemeClr val="accent1"/>
          </a:solidFill>
          <a:ln/>
        </p:spPr>
      </p:sp>
      <p:sp>
        <p:nvSpPr>
          <p:cNvPr id="37" name="FUS R251 stem"/>
          <p:cNvSpPr/>
          <p:nvPr/>
        </p:nvSpPr>
        <p:spPr>
          <a:xfrm>
            <a:off x="4482261" y="1737360"/>
            <a:ext cx="0" cy="128016"/>
          </a:xfrm>
          <a:prstGeom prst="line">
            <a:avLst/>
          </a:prstGeom>
          <a:noFill/>
          <a:ln w="12700">
            <a:solidFill>
              <a:schemeClr val="accent1"/>
            </a:solidFill>
            <a:prstDash val="solid"/>
          </a:ln>
        </p:spPr>
      </p:sp>
      <p:sp>
        <p:nvSpPr>
          <p:cNvPr id="38" name="FUS R251"/>
          <p:cNvSpPr/>
          <p:nvPr/>
        </p:nvSpPr>
        <p:spPr>
          <a:xfrm>
            <a:off x="4454829" y="1700784"/>
            <a:ext cx="54864" cy="54864"/>
          </a:xfrm>
          <a:prstGeom prst="ellipse">
            <a:avLst/>
          </a:prstGeom>
          <a:solidFill>
            <a:schemeClr val="accent1"/>
          </a:solidFill>
          <a:ln/>
        </p:spPr>
      </p:sp>
      <p:sp>
        <p:nvSpPr>
          <p:cNvPr id="39" name="FUS R259 stem"/>
          <p:cNvSpPr/>
          <p:nvPr/>
        </p:nvSpPr>
        <p:spPr>
          <a:xfrm>
            <a:off x="4563919" y="1737360"/>
            <a:ext cx="0" cy="128016"/>
          </a:xfrm>
          <a:prstGeom prst="line">
            <a:avLst/>
          </a:prstGeom>
          <a:noFill/>
          <a:ln w="12700">
            <a:solidFill>
              <a:schemeClr val="accent1"/>
            </a:solidFill>
            <a:prstDash val="solid"/>
          </a:ln>
        </p:spPr>
      </p:sp>
      <p:sp>
        <p:nvSpPr>
          <p:cNvPr id="40" name="FUS R259"/>
          <p:cNvSpPr/>
          <p:nvPr/>
        </p:nvSpPr>
        <p:spPr>
          <a:xfrm>
            <a:off x="4536487" y="1700784"/>
            <a:ext cx="54864" cy="54864"/>
          </a:xfrm>
          <a:prstGeom prst="ellipse">
            <a:avLst/>
          </a:prstGeom>
          <a:solidFill>
            <a:schemeClr val="accent1"/>
          </a:solidFill>
          <a:ln/>
        </p:spPr>
      </p:sp>
      <p:sp>
        <p:nvSpPr>
          <p:cNvPr id="41" name="FUS R269 stem"/>
          <p:cNvSpPr/>
          <p:nvPr/>
        </p:nvSpPr>
        <p:spPr>
          <a:xfrm>
            <a:off x="4665992" y="1737360"/>
            <a:ext cx="0" cy="128016"/>
          </a:xfrm>
          <a:prstGeom prst="line">
            <a:avLst/>
          </a:prstGeom>
          <a:noFill/>
          <a:ln w="12700">
            <a:solidFill>
              <a:schemeClr val="accent1"/>
            </a:solidFill>
            <a:prstDash val="solid"/>
          </a:ln>
        </p:spPr>
      </p:sp>
      <p:sp>
        <p:nvSpPr>
          <p:cNvPr id="42" name="FUS R269"/>
          <p:cNvSpPr/>
          <p:nvPr/>
        </p:nvSpPr>
        <p:spPr>
          <a:xfrm>
            <a:off x="4638560" y="1700784"/>
            <a:ext cx="54864" cy="54864"/>
          </a:xfrm>
          <a:prstGeom prst="ellipse">
            <a:avLst/>
          </a:prstGeom>
          <a:solidFill>
            <a:schemeClr val="accent1"/>
          </a:solidFill>
          <a:ln/>
        </p:spPr>
      </p:sp>
      <p:sp>
        <p:nvSpPr>
          <p:cNvPr id="43" name="FUS R328 stem"/>
          <p:cNvSpPr/>
          <p:nvPr/>
        </p:nvSpPr>
        <p:spPr>
          <a:xfrm>
            <a:off x="5268220" y="1737360"/>
            <a:ext cx="0" cy="128016"/>
          </a:xfrm>
          <a:prstGeom prst="line">
            <a:avLst/>
          </a:prstGeom>
          <a:noFill/>
          <a:ln w="12700">
            <a:solidFill>
              <a:schemeClr val="accent1"/>
            </a:solidFill>
            <a:prstDash val="solid"/>
          </a:ln>
        </p:spPr>
      </p:sp>
      <p:sp>
        <p:nvSpPr>
          <p:cNvPr id="44" name="FUS R328"/>
          <p:cNvSpPr/>
          <p:nvPr/>
        </p:nvSpPr>
        <p:spPr>
          <a:xfrm>
            <a:off x="5240788" y="1700784"/>
            <a:ext cx="54864" cy="54864"/>
          </a:xfrm>
          <a:prstGeom prst="ellipse">
            <a:avLst/>
          </a:prstGeom>
          <a:solidFill>
            <a:schemeClr val="accent1"/>
          </a:solidFill>
          <a:ln/>
        </p:spPr>
      </p:sp>
      <p:sp>
        <p:nvSpPr>
          <p:cNvPr id="45" name="FUS R371 stem"/>
          <p:cNvSpPr/>
          <p:nvPr/>
        </p:nvSpPr>
        <p:spPr>
          <a:xfrm>
            <a:off x="5707132" y="1737360"/>
            <a:ext cx="0" cy="128016"/>
          </a:xfrm>
          <a:prstGeom prst="line">
            <a:avLst/>
          </a:prstGeom>
          <a:noFill/>
          <a:ln w="12700">
            <a:solidFill>
              <a:schemeClr val="accent1"/>
            </a:solidFill>
            <a:prstDash val="solid"/>
          </a:ln>
        </p:spPr>
      </p:sp>
      <p:sp>
        <p:nvSpPr>
          <p:cNvPr id="46" name="FUS R371"/>
          <p:cNvSpPr/>
          <p:nvPr/>
        </p:nvSpPr>
        <p:spPr>
          <a:xfrm>
            <a:off x="5679700" y="1700784"/>
            <a:ext cx="54864" cy="54864"/>
          </a:xfrm>
          <a:prstGeom prst="ellipse">
            <a:avLst/>
          </a:prstGeom>
          <a:solidFill>
            <a:schemeClr val="accent1"/>
          </a:solidFill>
          <a:ln/>
        </p:spPr>
      </p:sp>
      <p:sp>
        <p:nvSpPr>
          <p:cNvPr id="47" name="FUS R372 stem"/>
          <p:cNvSpPr/>
          <p:nvPr/>
        </p:nvSpPr>
        <p:spPr>
          <a:xfrm>
            <a:off x="5717339" y="1737360"/>
            <a:ext cx="0" cy="128016"/>
          </a:xfrm>
          <a:prstGeom prst="line">
            <a:avLst/>
          </a:prstGeom>
          <a:noFill/>
          <a:ln w="12700">
            <a:solidFill>
              <a:schemeClr val="accent1"/>
            </a:solidFill>
            <a:prstDash val="solid"/>
          </a:ln>
        </p:spPr>
      </p:sp>
      <p:sp>
        <p:nvSpPr>
          <p:cNvPr id="48" name="FUS R372"/>
          <p:cNvSpPr/>
          <p:nvPr/>
        </p:nvSpPr>
        <p:spPr>
          <a:xfrm>
            <a:off x="5689907" y="1700784"/>
            <a:ext cx="54864" cy="54864"/>
          </a:xfrm>
          <a:prstGeom prst="ellipse">
            <a:avLst/>
          </a:prstGeom>
          <a:solidFill>
            <a:schemeClr val="accent1"/>
          </a:solidFill>
          <a:ln/>
        </p:spPr>
      </p:sp>
      <p:sp>
        <p:nvSpPr>
          <p:cNvPr id="49" name="FUS R377 stem"/>
          <p:cNvSpPr/>
          <p:nvPr/>
        </p:nvSpPr>
        <p:spPr>
          <a:xfrm>
            <a:off x="5768375" y="1737360"/>
            <a:ext cx="0" cy="128016"/>
          </a:xfrm>
          <a:prstGeom prst="line">
            <a:avLst/>
          </a:prstGeom>
          <a:noFill/>
          <a:ln w="12700">
            <a:solidFill>
              <a:schemeClr val="accent1"/>
            </a:solidFill>
            <a:prstDash val="solid"/>
          </a:ln>
        </p:spPr>
      </p:sp>
      <p:sp>
        <p:nvSpPr>
          <p:cNvPr id="50" name="FUS R377"/>
          <p:cNvSpPr/>
          <p:nvPr/>
        </p:nvSpPr>
        <p:spPr>
          <a:xfrm>
            <a:off x="5740943" y="1700784"/>
            <a:ext cx="54864" cy="54864"/>
          </a:xfrm>
          <a:prstGeom prst="ellipse">
            <a:avLst/>
          </a:prstGeom>
          <a:solidFill>
            <a:schemeClr val="accent1"/>
          </a:solidFill>
          <a:ln/>
        </p:spPr>
      </p:sp>
      <p:sp>
        <p:nvSpPr>
          <p:cNvPr id="51" name="FUS R383 stem"/>
          <p:cNvSpPr/>
          <p:nvPr/>
        </p:nvSpPr>
        <p:spPr>
          <a:xfrm>
            <a:off x="5829619" y="1737360"/>
            <a:ext cx="0" cy="128016"/>
          </a:xfrm>
          <a:prstGeom prst="line">
            <a:avLst/>
          </a:prstGeom>
          <a:noFill/>
          <a:ln w="12700">
            <a:solidFill>
              <a:schemeClr val="accent1"/>
            </a:solidFill>
            <a:prstDash val="solid"/>
          </a:ln>
        </p:spPr>
      </p:sp>
      <p:sp>
        <p:nvSpPr>
          <p:cNvPr id="52" name="FUS R383"/>
          <p:cNvSpPr/>
          <p:nvPr/>
        </p:nvSpPr>
        <p:spPr>
          <a:xfrm>
            <a:off x="5802187" y="1700784"/>
            <a:ext cx="54864" cy="54864"/>
          </a:xfrm>
          <a:prstGeom prst="ellipse">
            <a:avLst/>
          </a:prstGeom>
          <a:solidFill>
            <a:schemeClr val="accent1"/>
          </a:solidFill>
          <a:ln/>
        </p:spPr>
      </p:sp>
      <p:sp>
        <p:nvSpPr>
          <p:cNvPr id="53" name="FUS R386 stem"/>
          <p:cNvSpPr/>
          <p:nvPr/>
        </p:nvSpPr>
        <p:spPr>
          <a:xfrm>
            <a:off x="5860241" y="1737360"/>
            <a:ext cx="0" cy="128016"/>
          </a:xfrm>
          <a:prstGeom prst="line">
            <a:avLst/>
          </a:prstGeom>
          <a:noFill/>
          <a:ln w="12700">
            <a:solidFill>
              <a:schemeClr val="accent1"/>
            </a:solidFill>
            <a:prstDash val="solid"/>
          </a:ln>
        </p:spPr>
      </p:sp>
      <p:sp>
        <p:nvSpPr>
          <p:cNvPr id="54" name="FUS R386"/>
          <p:cNvSpPr/>
          <p:nvPr/>
        </p:nvSpPr>
        <p:spPr>
          <a:xfrm>
            <a:off x="5832809" y="1700784"/>
            <a:ext cx="54864" cy="54864"/>
          </a:xfrm>
          <a:prstGeom prst="ellipse">
            <a:avLst/>
          </a:prstGeom>
          <a:solidFill>
            <a:schemeClr val="accent1"/>
          </a:solidFill>
          <a:ln/>
        </p:spPr>
      </p:sp>
      <p:sp>
        <p:nvSpPr>
          <p:cNvPr id="55" name="FUS R388 stem"/>
          <p:cNvSpPr/>
          <p:nvPr/>
        </p:nvSpPr>
        <p:spPr>
          <a:xfrm>
            <a:off x="5880655" y="1737360"/>
            <a:ext cx="0" cy="128016"/>
          </a:xfrm>
          <a:prstGeom prst="line">
            <a:avLst/>
          </a:prstGeom>
          <a:noFill/>
          <a:ln w="12700">
            <a:solidFill>
              <a:schemeClr val="accent1"/>
            </a:solidFill>
            <a:prstDash val="solid"/>
          </a:ln>
        </p:spPr>
      </p:sp>
      <p:sp>
        <p:nvSpPr>
          <p:cNvPr id="56" name="FUS R388"/>
          <p:cNvSpPr/>
          <p:nvPr/>
        </p:nvSpPr>
        <p:spPr>
          <a:xfrm>
            <a:off x="5853223" y="1700784"/>
            <a:ext cx="54864" cy="54864"/>
          </a:xfrm>
          <a:prstGeom prst="ellipse">
            <a:avLst/>
          </a:prstGeom>
          <a:solidFill>
            <a:schemeClr val="accent1"/>
          </a:solidFill>
          <a:ln/>
        </p:spPr>
      </p:sp>
      <p:sp>
        <p:nvSpPr>
          <p:cNvPr id="57" name="FUS R394 stem"/>
          <p:cNvSpPr/>
          <p:nvPr/>
        </p:nvSpPr>
        <p:spPr>
          <a:xfrm>
            <a:off x="5941899" y="1737360"/>
            <a:ext cx="0" cy="128016"/>
          </a:xfrm>
          <a:prstGeom prst="line">
            <a:avLst/>
          </a:prstGeom>
          <a:noFill/>
          <a:ln w="12700">
            <a:solidFill>
              <a:schemeClr val="accent1"/>
            </a:solidFill>
            <a:prstDash val="solid"/>
          </a:ln>
        </p:spPr>
      </p:sp>
      <p:sp>
        <p:nvSpPr>
          <p:cNvPr id="58" name="FUS R394"/>
          <p:cNvSpPr/>
          <p:nvPr/>
        </p:nvSpPr>
        <p:spPr>
          <a:xfrm>
            <a:off x="5914467" y="1700784"/>
            <a:ext cx="54864" cy="54864"/>
          </a:xfrm>
          <a:prstGeom prst="ellipse">
            <a:avLst/>
          </a:prstGeom>
          <a:solidFill>
            <a:schemeClr val="accent1"/>
          </a:solidFill>
          <a:ln/>
        </p:spPr>
      </p:sp>
      <p:sp>
        <p:nvSpPr>
          <p:cNvPr id="59" name="FUS R407 stem"/>
          <p:cNvSpPr/>
          <p:nvPr/>
        </p:nvSpPr>
        <p:spPr>
          <a:xfrm>
            <a:off x="6074593" y="1737360"/>
            <a:ext cx="0" cy="128016"/>
          </a:xfrm>
          <a:prstGeom prst="line">
            <a:avLst/>
          </a:prstGeom>
          <a:noFill/>
          <a:ln w="12700">
            <a:solidFill>
              <a:schemeClr val="accent1"/>
            </a:solidFill>
            <a:prstDash val="solid"/>
          </a:ln>
        </p:spPr>
      </p:sp>
      <p:sp>
        <p:nvSpPr>
          <p:cNvPr id="60" name="FUS R407"/>
          <p:cNvSpPr/>
          <p:nvPr/>
        </p:nvSpPr>
        <p:spPr>
          <a:xfrm>
            <a:off x="6047161" y="1700784"/>
            <a:ext cx="54864" cy="54864"/>
          </a:xfrm>
          <a:prstGeom prst="ellipse">
            <a:avLst/>
          </a:prstGeom>
          <a:solidFill>
            <a:schemeClr val="accent1"/>
          </a:solidFill>
          <a:ln/>
        </p:spPr>
      </p:sp>
      <p:sp>
        <p:nvSpPr>
          <p:cNvPr id="61" name="FUS R472 stem"/>
          <p:cNvSpPr/>
          <p:nvPr/>
        </p:nvSpPr>
        <p:spPr>
          <a:xfrm>
            <a:off x="6738065" y="1737360"/>
            <a:ext cx="0" cy="128016"/>
          </a:xfrm>
          <a:prstGeom prst="line">
            <a:avLst/>
          </a:prstGeom>
          <a:noFill/>
          <a:ln w="12700">
            <a:solidFill>
              <a:schemeClr val="accent1"/>
            </a:solidFill>
            <a:prstDash val="solid"/>
          </a:ln>
        </p:spPr>
      </p:sp>
      <p:sp>
        <p:nvSpPr>
          <p:cNvPr id="62" name="FUS R472"/>
          <p:cNvSpPr/>
          <p:nvPr/>
        </p:nvSpPr>
        <p:spPr>
          <a:xfrm>
            <a:off x="6710633" y="1700784"/>
            <a:ext cx="54864" cy="54864"/>
          </a:xfrm>
          <a:prstGeom prst="ellipse">
            <a:avLst/>
          </a:prstGeom>
          <a:solidFill>
            <a:schemeClr val="accent1"/>
          </a:solidFill>
          <a:ln/>
        </p:spPr>
      </p:sp>
      <p:sp>
        <p:nvSpPr>
          <p:cNvPr id="63" name="FUS R473 stem"/>
          <p:cNvSpPr/>
          <p:nvPr/>
        </p:nvSpPr>
        <p:spPr>
          <a:xfrm>
            <a:off x="6748272" y="1737360"/>
            <a:ext cx="0" cy="128016"/>
          </a:xfrm>
          <a:prstGeom prst="line">
            <a:avLst/>
          </a:prstGeom>
          <a:noFill/>
          <a:ln w="12700">
            <a:solidFill>
              <a:schemeClr val="accent1"/>
            </a:solidFill>
            <a:prstDash val="solid"/>
          </a:ln>
        </p:spPr>
      </p:sp>
      <p:sp>
        <p:nvSpPr>
          <p:cNvPr id="64" name="FUS R473"/>
          <p:cNvSpPr/>
          <p:nvPr/>
        </p:nvSpPr>
        <p:spPr>
          <a:xfrm>
            <a:off x="6720840" y="1700784"/>
            <a:ext cx="54864" cy="54864"/>
          </a:xfrm>
          <a:prstGeom prst="ellipse">
            <a:avLst/>
          </a:prstGeom>
          <a:solidFill>
            <a:schemeClr val="accent1"/>
          </a:solidFill>
          <a:ln/>
        </p:spPr>
      </p:sp>
      <p:sp>
        <p:nvSpPr>
          <p:cNvPr id="65" name="FUS R476 stem"/>
          <p:cNvSpPr/>
          <p:nvPr/>
        </p:nvSpPr>
        <p:spPr>
          <a:xfrm>
            <a:off x="6778894" y="1737360"/>
            <a:ext cx="0" cy="128016"/>
          </a:xfrm>
          <a:prstGeom prst="line">
            <a:avLst/>
          </a:prstGeom>
          <a:noFill/>
          <a:ln w="12700">
            <a:solidFill>
              <a:schemeClr val="accent1"/>
            </a:solidFill>
            <a:prstDash val="solid"/>
          </a:ln>
        </p:spPr>
      </p:sp>
      <p:sp>
        <p:nvSpPr>
          <p:cNvPr id="66" name="FUS R476"/>
          <p:cNvSpPr/>
          <p:nvPr/>
        </p:nvSpPr>
        <p:spPr>
          <a:xfrm>
            <a:off x="6751462" y="1700784"/>
            <a:ext cx="54864" cy="54864"/>
          </a:xfrm>
          <a:prstGeom prst="ellipse">
            <a:avLst/>
          </a:prstGeom>
          <a:solidFill>
            <a:schemeClr val="accent1"/>
          </a:solidFill>
          <a:ln/>
        </p:spPr>
      </p:sp>
      <p:sp>
        <p:nvSpPr>
          <p:cNvPr id="67" name="FUS R481 stem"/>
          <p:cNvSpPr/>
          <p:nvPr/>
        </p:nvSpPr>
        <p:spPr>
          <a:xfrm>
            <a:off x="6829930" y="1737360"/>
            <a:ext cx="0" cy="128016"/>
          </a:xfrm>
          <a:prstGeom prst="line">
            <a:avLst/>
          </a:prstGeom>
          <a:noFill/>
          <a:ln w="12700">
            <a:solidFill>
              <a:schemeClr val="accent1"/>
            </a:solidFill>
            <a:prstDash val="solid"/>
          </a:ln>
        </p:spPr>
      </p:sp>
      <p:sp>
        <p:nvSpPr>
          <p:cNvPr id="68" name="FUS R481"/>
          <p:cNvSpPr/>
          <p:nvPr/>
        </p:nvSpPr>
        <p:spPr>
          <a:xfrm>
            <a:off x="6802498" y="1700784"/>
            <a:ext cx="54864" cy="54864"/>
          </a:xfrm>
          <a:prstGeom prst="ellipse">
            <a:avLst/>
          </a:prstGeom>
          <a:solidFill>
            <a:schemeClr val="accent1"/>
          </a:solidFill>
          <a:ln/>
        </p:spPr>
      </p:sp>
      <p:sp>
        <p:nvSpPr>
          <p:cNvPr id="69" name="FUS R485 stem"/>
          <p:cNvSpPr/>
          <p:nvPr/>
        </p:nvSpPr>
        <p:spPr>
          <a:xfrm>
            <a:off x="6870759" y="1737360"/>
            <a:ext cx="0" cy="128016"/>
          </a:xfrm>
          <a:prstGeom prst="line">
            <a:avLst/>
          </a:prstGeom>
          <a:noFill/>
          <a:ln w="12700">
            <a:solidFill>
              <a:schemeClr val="accent1"/>
            </a:solidFill>
            <a:prstDash val="solid"/>
          </a:ln>
        </p:spPr>
      </p:sp>
      <p:sp>
        <p:nvSpPr>
          <p:cNvPr id="70" name="FUS R485"/>
          <p:cNvSpPr/>
          <p:nvPr/>
        </p:nvSpPr>
        <p:spPr>
          <a:xfrm>
            <a:off x="6843327" y="1700784"/>
            <a:ext cx="54864" cy="54864"/>
          </a:xfrm>
          <a:prstGeom prst="ellipse">
            <a:avLst/>
          </a:prstGeom>
          <a:solidFill>
            <a:schemeClr val="accent1"/>
          </a:solidFill>
          <a:ln/>
        </p:spPr>
      </p:sp>
      <p:sp>
        <p:nvSpPr>
          <p:cNvPr id="71" name="FUS R487 stem"/>
          <p:cNvSpPr/>
          <p:nvPr/>
        </p:nvSpPr>
        <p:spPr>
          <a:xfrm>
            <a:off x="6891174" y="1737360"/>
            <a:ext cx="0" cy="128016"/>
          </a:xfrm>
          <a:prstGeom prst="line">
            <a:avLst/>
          </a:prstGeom>
          <a:noFill/>
          <a:ln w="12700">
            <a:solidFill>
              <a:schemeClr val="accent1"/>
            </a:solidFill>
            <a:prstDash val="solid"/>
          </a:ln>
        </p:spPr>
      </p:sp>
      <p:sp>
        <p:nvSpPr>
          <p:cNvPr id="72" name="FUS R487"/>
          <p:cNvSpPr/>
          <p:nvPr/>
        </p:nvSpPr>
        <p:spPr>
          <a:xfrm>
            <a:off x="6863742" y="1700784"/>
            <a:ext cx="54864" cy="54864"/>
          </a:xfrm>
          <a:prstGeom prst="ellipse">
            <a:avLst/>
          </a:prstGeom>
          <a:solidFill>
            <a:schemeClr val="accent1"/>
          </a:solidFill>
          <a:ln/>
        </p:spPr>
      </p:sp>
      <p:sp>
        <p:nvSpPr>
          <p:cNvPr id="73" name="FUS R491 stem"/>
          <p:cNvSpPr/>
          <p:nvPr/>
        </p:nvSpPr>
        <p:spPr>
          <a:xfrm>
            <a:off x="6932003" y="1737360"/>
            <a:ext cx="0" cy="128016"/>
          </a:xfrm>
          <a:prstGeom prst="line">
            <a:avLst/>
          </a:prstGeom>
          <a:noFill/>
          <a:ln w="12700">
            <a:solidFill>
              <a:schemeClr val="accent1"/>
            </a:solidFill>
            <a:prstDash val="solid"/>
          </a:ln>
        </p:spPr>
      </p:sp>
      <p:sp>
        <p:nvSpPr>
          <p:cNvPr id="74" name="FUS R491"/>
          <p:cNvSpPr/>
          <p:nvPr/>
        </p:nvSpPr>
        <p:spPr>
          <a:xfrm>
            <a:off x="6904571" y="1700784"/>
            <a:ext cx="54864" cy="54864"/>
          </a:xfrm>
          <a:prstGeom prst="ellipse">
            <a:avLst/>
          </a:prstGeom>
          <a:solidFill>
            <a:schemeClr val="accent1"/>
          </a:solidFill>
          <a:ln/>
        </p:spPr>
      </p:sp>
      <p:sp>
        <p:nvSpPr>
          <p:cNvPr id="75" name="FUS R495 stem"/>
          <p:cNvSpPr/>
          <p:nvPr/>
        </p:nvSpPr>
        <p:spPr>
          <a:xfrm>
            <a:off x="6972832" y="1737360"/>
            <a:ext cx="0" cy="128016"/>
          </a:xfrm>
          <a:prstGeom prst="line">
            <a:avLst/>
          </a:prstGeom>
          <a:noFill/>
          <a:ln w="12700">
            <a:solidFill>
              <a:schemeClr val="accent1"/>
            </a:solidFill>
            <a:prstDash val="solid"/>
          </a:ln>
        </p:spPr>
      </p:sp>
      <p:sp>
        <p:nvSpPr>
          <p:cNvPr id="76" name="FUS R495"/>
          <p:cNvSpPr/>
          <p:nvPr/>
        </p:nvSpPr>
        <p:spPr>
          <a:xfrm>
            <a:off x="6945400" y="1700784"/>
            <a:ext cx="54864" cy="54864"/>
          </a:xfrm>
          <a:prstGeom prst="ellipse">
            <a:avLst/>
          </a:prstGeom>
          <a:solidFill>
            <a:schemeClr val="accent1"/>
          </a:solidFill>
          <a:ln/>
        </p:spPr>
      </p:sp>
      <p:sp>
        <p:nvSpPr>
          <p:cNvPr id="77" name="FUS R498 stem"/>
          <p:cNvSpPr/>
          <p:nvPr/>
        </p:nvSpPr>
        <p:spPr>
          <a:xfrm>
            <a:off x="7003453" y="1737360"/>
            <a:ext cx="0" cy="128016"/>
          </a:xfrm>
          <a:prstGeom prst="line">
            <a:avLst/>
          </a:prstGeom>
          <a:noFill/>
          <a:ln w="12700">
            <a:solidFill>
              <a:schemeClr val="accent1"/>
            </a:solidFill>
            <a:prstDash val="solid"/>
          </a:ln>
        </p:spPr>
      </p:sp>
      <p:sp>
        <p:nvSpPr>
          <p:cNvPr id="78" name="FUS R498"/>
          <p:cNvSpPr/>
          <p:nvPr/>
        </p:nvSpPr>
        <p:spPr>
          <a:xfrm>
            <a:off x="6976021" y="1700784"/>
            <a:ext cx="54864" cy="54864"/>
          </a:xfrm>
          <a:prstGeom prst="ellipse">
            <a:avLst/>
          </a:prstGeom>
          <a:solidFill>
            <a:schemeClr val="accent1"/>
          </a:solidFill>
          <a:ln/>
        </p:spPr>
      </p:sp>
      <p:sp>
        <p:nvSpPr>
          <p:cNvPr id="79" name="FUS R503 stem"/>
          <p:cNvSpPr/>
          <p:nvPr/>
        </p:nvSpPr>
        <p:spPr>
          <a:xfrm>
            <a:off x="7054490" y="1737360"/>
            <a:ext cx="0" cy="128016"/>
          </a:xfrm>
          <a:prstGeom prst="line">
            <a:avLst/>
          </a:prstGeom>
          <a:noFill/>
          <a:ln w="12700">
            <a:solidFill>
              <a:schemeClr val="accent1"/>
            </a:solidFill>
            <a:prstDash val="solid"/>
          </a:ln>
        </p:spPr>
      </p:sp>
      <p:sp>
        <p:nvSpPr>
          <p:cNvPr id="80" name="FUS R503"/>
          <p:cNvSpPr/>
          <p:nvPr/>
        </p:nvSpPr>
        <p:spPr>
          <a:xfrm>
            <a:off x="7027058" y="1700784"/>
            <a:ext cx="54864" cy="54864"/>
          </a:xfrm>
          <a:prstGeom prst="ellipse">
            <a:avLst/>
          </a:prstGeom>
          <a:solidFill>
            <a:schemeClr val="accent1"/>
          </a:solidFill>
          <a:ln/>
        </p:spPr>
      </p:sp>
      <p:sp>
        <p:nvSpPr>
          <p:cNvPr id="81" name="FUS R514 stem"/>
          <p:cNvSpPr/>
          <p:nvPr/>
        </p:nvSpPr>
        <p:spPr>
          <a:xfrm>
            <a:off x="7166769" y="1737360"/>
            <a:ext cx="0" cy="128016"/>
          </a:xfrm>
          <a:prstGeom prst="line">
            <a:avLst/>
          </a:prstGeom>
          <a:noFill/>
          <a:ln w="12700">
            <a:solidFill>
              <a:schemeClr val="accent1"/>
            </a:solidFill>
            <a:prstDash val="solid"/>
          </a:ln>
        </p:spPr>
      </p:sp>
      <p:sp>
        <p:nvSpPr>
          <p:cNvPr id="82" name="FUS R514"/>
          <p:cNvSpPr/>
          <p:nvPr/>
        </p:nvSpPr>
        <p:spPr>
          <a:xfrm>
            <a:off x="7139337" y="1700784"/>
            <a:ext cx="54864" cy="54864"/>
          </a:xfrm>
          <a:prstGeom prst="ellipse">
            <a:avLst/>
          </a:prstGeom>
          <a:solidFill>
            <a:schemeClr val="accent1"/>
          </a:solidFill>
          <a:ln/>
        </p:spPr>
      </p:sp>
      <p:sp>
        <p:nvSpPr>
          <p:cNvPr id="83" name="FUS site count"/>
          <p:cNvSpPr txBox="1"/>
          <p:nvPr/>
        </p:nvSpPr>
        <p:spPr>
          <a:xfrm>
            <a:off x="7398985" y="1865376"/>
            <a:ext cx="2377440" cy="292608"/>
          </a:xfrm>
          <a:prstGeom prst="rect">
            <a:avLst/>
          </a:prstGeom>
          <a:noFill/>
          <a:ln/>
        </p:spPr>
        <p:txBody>
          <a:bodyPr wrap="square" lIns="0" tIns="0" rIns="0" bIns="0" rtlCol="0" anchor="ctr"/>
          <a:lstStyle/>
          <a:p>
            <a:pPr indent="0" marL="0">
              <a:buNone/>
            </a:pPr>
            <a:r>
              <a:rPr lang="en-US" sz="1400" b="1" dirty="0">
                <a:solidFill>
                  <a:schemeClr val="accent1"/>
                </a:solidFill>
              </a:rPr>
              <a:t>30 sites</a:t>
            </a:r>
            <a:endParaRPr lang="en-US" sz="1400" dirty="0"/>
          </a:p>
        </p:txBody>
      </p:sp>
      <p:sp>
        <p:nvSpPr>
          <p:cNvPr id="84" name="EWSR1 name"/>
          <p:cNvSpPr txBox="1"/>
          <p:nvPr/>
        </p:nvSpPr>
        <p:spPr>
          <a:xfrm>
            <a:off x="457200" y="2359152"/>
            <a:ext cx="1325880" cy="365760"/>
          </a:xfrm>
          <a:prstGeom prst="rect">
            <a:avLst/>
          </a:prstGeom>
          <a:noFill/>
          <a:ln/>
        </p:spPr>
        <p:txBody>
          <a:bodyPr wrap="square" lIns="0" tIns="0" rIns="0" bIns="0" rtlCol="0" anchor="ctr"/>
          <a:lstStyle/>
          <a:p>
            <a:pPr algn="r" indent="0" marL="0">
              <a:buNone/>
            </a:pPr>
            <a:r>
              <a:rPr lang="en-US" sz="1600" b="1" dirty="0">
                <a:solidFill>
                  <a:schemeClr val="tx1"/>
                </a:solidFill>
              </a:rPr>
              <a:t>EWSR1</a:t>
            </a:r>
            <a:endParaRPr lang="en-US" sz="1600" dirty="0"/>
          </a:p>
        </p:txBody>
      </p:sp>
      <p:sp>
        <p:nvSpPr>
          <p:cNvPr id="85" name="EWSR1 backbone"/>
          <p:cNvSpPr/>
          <p:nvPr/>
        </p:nvSpPr>
        <p:spPr>
          <a:xfrm>
            <a:off x="1920240" y="2505456"/>
            <a:ext cx="6695960" cy="73152"/>
          </a:xfrm>
          <a:prstGeom prst="rect">
            <a:avLst/>
          </a:prstGeom>
          <a:solidFill>
            <a:srgbClr val="B8BEC9"/>
          </a:solidFill>
          <a:ln/>
        </p:spPr>
      </p:sp>
      <p:sp>
        <p:nvSpPr>
          <p:cNvPr id="86" name="EWSR1 Low complexity 123-137"/>
          <p:cNvSpPr/>
          <p:nvPr/>
        </p:nvSpPr>
        <p:spPr>
          <a:xfrm>
            <a:off x="3175732" y="2432304"/>
            <a:ext cx="142902" cy="219456"/>
          </a:xfrm>
          <a:prstGeom prst="rect">
            <a:avLst/>
          </a:prstGeom>
          <a:solidFill>
            <a:schemeClr val="accent5"/>
          </a:solidFill>
          <a:ln/>
        </p:spPr>
      </p:sp>
      <p:sp>
        <p:nvSpPr>
          <p:cNvPr id="87" name="EWSR1 Low complexity 192-266"/>
          <p:cNvSpPr/>
          <p:nvPr/>
        </p:nvSpPr>
        <p:spPr>
          <a:xfrm>
            <a:off x="3880033" y="2432304"/>
            <a:ext cx="755337" cy="219456"/>
          </a:xfrm>
          <a:prstGeom prst="rect">
            <a:avLst/>
          </a:prstGeom>
          <a:solidFill>
            <a:schemeClr val="accent5"/>
          </a:solidFill>
          <a:ln/>
        </p:spPr>
      </p:sp>
      <p:sp>
        <p:nvSpPr>
          <p:cNvPr id="88" name="EWSR1 Gly residues 308-335"/>
          <p:cNvSpPr/>
          <p:nvPr/>
        </p:nvSpPr>
        <p:spPr>
          <a:xfrm>
            <a:off x="5064075" y="2432304"/>
            <a:ext cx="275596" cy="219456"/>
          </a:xfrm>
          <a:prstGeom prst="rect">
            <a:avLst/>
          </a:prstGeom>
          <a:solidFill>
            <a:schemeClr val="accent5"/>
          </a:solidFill>
          <a:ln/>
        </p:spPr>
      </p:sp>
      <p:sp>
        <p:nvSpPr>
          <p:cNvPr id="89" name="EWSR1 Low complexity 336-350"/>
          <p:cNvSpPr/>
          <p:nvPr/>
        </p:nvSpPr>
        <p:spPr>
          <a:xfrm>
            <a:off x="5349878" y="2432304"/>
            <a:ext cx="142902" cy="219456"/>
          </a:xfrm>
          <a:prstGeom prst="rect">
            <a:avLst/>
          </a:prstGeom>
          <a:solidFill>
            <a:schemeClr val="accent5"/>
          </a:solidFill>
          <a:ln/>
        </p:spPr>
      </p:sp>
      <p:sp>
        <p:nvSpPr>
          <p:cNvPr id="90" name="EWSR1 Gly residues 472-490"/>
          <p:cNvSpPr/>
          <p:nvPr/>
        </p:nvSpPr>
        <p:spPr>
          <a:xfrm>
            <a:off x="6738065" y="2432304"/>
            <a:ext cx="183731" cy="219456"/>
          </a:xfrm>
          <a:prstGeom prst="rect">
            <a:avLst/>
          </a:prstGeom>
          <a:solidFill>
            <a:schemeClr val="accent5"/>
          </a:solidFill>
          <a:ln/>
        </p:spPr>
      </p:sp>
      <p:sp>
        <p:nvSpPr>
          <p:cNvPr id="91" name="EWSR1 Gly residues 566-591"/>
          <p:cNvSpPr/>
          <p:nvPr/>
        </p:nvSpPr>
        <p:spPr>
          <a:xfrm>
            <a:off x="7697547" y="2432304"/>
            <a:ext cx="255181" cy="219456"/>
          </a:xfrm>
          <a:prstGeom prst="rect">
            <a:avLst/>
          </a:prstGeom>
          <a:solidFill>
            <a:schemeClr val="accent5"/>
          </a:solidFill>
          <a:ln/>
        </p:spPr>
      </p:sp>
      <p:sp>
        <p:nvSpPr>
          <p:cNvPr id="92" name="EWSR1 Gly residues 607-618"/>
          <p:cNvSpPr/>
          <p:nvPr/>
        </p:nvSpPr>
        <p:spPr>
          <a:xfrm>
            <a:off x="8116044" y="2432304"/>
            <a:ext cx="112280" cy="219456"/>
          </a:xfrm>
          <a:prstGeom prst="rect">
            <a:avLst/>
          </a:prstGeom>
          <a:solidFill>
            <a:schemeClr val="accent5"/>
          </a:solidFill>
          <a:ln/>
        </p:spPr>
      </p:sp>
      <p:sp>
        <p:nvSpPr>
          <p:cNvPr id="93" name="EWSR1 RRM 361-447"/>
          <p:cNvSpPr/>
          <p:nvPr/>
        </p:nvSpPr>
        <p:spPr>
          <a:xfrm>
            <a:off x="5605059" y="2404872"/>
            <a:ext cx="877824"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RRM</a:t>
            </a:r>
            <a:endParaRPr lang="en-US" sz="1000" dirty="0"/>
          </a:p>
        </p:txBody>
      </p:sp>
      <p:sp>
        <p:nvSpPr>
          <p:cNvPr id="94" name="EWSR1 ZnF 518-549"/>
          <p:cNvSpPr/>
          <p:nvPr/>
        </p:nvSpPr>
        <p:spPr>
          <a:xfrm>
            <a:off x="7207599" y="2404872"/>
            <a:ext cx="316425"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ZnF</a:t>
            </a:r>
            <a:endParaRPr lang="en-US" sz="1000" dirty="0"/>
          </a:p>
        </p:txBody>
      </p:sp>
      <p:sp>
        <p:nvSpPr>
          <p:cNvPr id="95" name="EWSR1 R292 stem"/>
          <p:cNvSpPr/>
          <p:nvPr/>
        </p:nvSpPr>
        <p:spPr>
          <a:xfrm>
            <a:off x="4900759" y="2267712"/>
            <a:ext cx="0" cy="128016"/>
          </a:xfrm>
          <a:prstGeom prst="line">
            <a:avLst/>
          </a:prstGeom>
          <a:noFill/>
          <a:ln w="12700">
            <a:solidFill>
              <a:schemeClr val="accent1"/>
            </a:solidFill>
            <a:prstDash val="solid"/>
          </a:ln>
        </p:spPr>
      </p:sp>
      <p:sp>
        <p:nvSpPr>
          <p:cNvPr id="96" name="EWSR1 R292"/>
          <p:cNvSpPr/>
          <p:nvPr/>
        </p:nvSpPr>
        <p:spPr>
          <a:xfrm>
            <a:off x="4873327" y="2231136"/>
            <a:ext cx="54864" cy="54864"/>
          </a:xfrm>
          <a:prstGeom prst="ellipse">
            <a:avLst/>
          </a:prstGeom>
          <a:solidFill>
            <a:schemeClr val="accent1"/>
          </a:solidFill>
          <a:ln/>
        </p:spPr>
      </p:sp>
      <p:sp>
        <p:nvSpPr>
          <p:cNvPr id="97" name="EWSR1 R300 stem"/>
          <p:cNvSpPr/>
          <p:nvPr/>
        </p:nvSpPr>
        <p:spPr>
          <a:xfrm>
            <a:off x="4982417" y="2267712"/>
            <a:ext cx="0" cy="128016"/>
          </a:xfrm>
          <a:prstGeom prst="line">
            <a:avLst/>
          </a:prstGeom>
          <a:noFill/>
          <a:ln w="12700">
            <a:solidFill>
              <a:schemeClr val="accent1"/>
            </a:solidFill>
            <a:prstDash val="solid"/>
          </a:ln>
        </p:spPr>
      </p:sp>
      <p:sp>
        <p:nvSpPr>
          <p:cNvPr id="98" name="EWSR1 R300"/>
          <p:cNvSpPr/>
          <p:nvPr/>
        </p:nvSpPr>
        <p:spPr>
          <a:xfrm>
            <a:off x="4954985" y="2231136"/>
            <a:ext cx="54864" cy="54864"/>
          </a:xfrm>
          <a:prstGeom prst="ellipse">
            <a:avLst/>
          </a:prstGeom>
          <a:solidFill>
            <a:schemeClr val="accent1"/>
          </a:solidFill>
          <a:ln/>
        </p:spPr>
      </p:sp>
      <p:sp>
        <p:nvSpPr>
          <p:cNvPr id="99" name="EWSR1 R302 stem"/>
          <p:cNvSpPr/>
          <p:nvPr/>
        </p:nvSpPr>
        <p:spPr>
          <a:xfrm>
            <a:off x="5002831" y="2267712"/>
            <a:ext cx="0" cy="128016"/>
          </a:xfrm>
          <a:prstGeom prst="line">
            <a:avLst/>
          </a:prstGeom>
          <a:noFill/>
          <a:ln w="12700">
            <a:solidFill>
              <a:schemeClr val="accent1"/>
            </a:solidFill>
            <a:prstDash val="solid"/>
          </a:ln>
        </p:spPr>
      </p:sp>
      <p:sp>
        <p:nvSpPr>
          <p:cNvPr id="100" name="EWSR1 R302"/>
          <p:cNvSpPr/>
          <p:nvPr/>
        </p:nvSpPr>
        <p:spPr>
          <a:xfrm>
            <a:off x="4975399" y="2231136"/>
            <a:ext cx="54864" cy="54864"/>
          </a:xfrm>
          <a:prstGeom prst="ellipse">
            <a:avLst/>
          </a:prstGeom>
          <a:solidFill>
            <a:schemeClr val="accent1"/>
          </a:solidFill>
          <a:ln/>
        </p:spPr>
      </p:sp>
      <p:sp>
        <p:nvSpPr>
          <p:cNvPr id="101" name="EWSR1 R304 stem"/>
          <p:cNvSpPr/>
          <p:nvPr/>
        </p:nvSpPr>
        <p:spPr>
          <a:xfrm>
            <a:off x="5023246" y="2267712"/>
            <a:ext cx="0" cy="128016"/>
          </a:xfrm>
          <a:prstGeom prst="line">
            <a:avLst/>
          </a:prstGeom>
          <a:noFill/>
          <a:ln w="12700">
            <a:solidFill>
              <a:schemeClr val="accent1"/>
            </a:solidFill>
            <a:prstDash val="solid"/>
          </a:ln>
        </p:spPr>
      </p:sp>
      <p:sp>
        <p:nvSpPr>
          <p:cNvPr id="102" name="EWSR1 R304"/>
          <p:cNvSpPr/>
          <p:nvPr/>
        </p:nvSpPr>
        <p:spPr>
          <a:xfrm>
            <a:off x="4995814" y="2231136"/>
            <a:ext cx="54864" cy="54864"/>
          </a:xfrm>
          <a:prstGeom prst="ellipse">
            <a:avLst/>
          </a:prstGeom>
          <a:solidFill>
            <a:schemeClr val="accent1"/>
          </a:solidFill>
          <a:ln/>
        </p:spPr>
      </p:sp>
      <p:sp>
        <p:nvSpPr>
          <p:cNvPr id="103" name="EWSR1 R309 stem"/>
          <p:cNvSpPr/>
          <p:nvPr/>
        </p:nvSpPr>
        <p:spPr>
          <a:xfrm>
            <a:off x="5074282" y="2267712"/>
            <a:ext cx="0" cy="128016"/>
          </a:xfrm>
          <a:prstGeom prst="line">
            <a:avLst/>
          </a:prstGeom>
          <a:noFill/>
          <a:ln w="12700">
            <a:solidFill>
              <a:schemeClr val="accent1"/>
            </a:solidFill>
            <a:prstDash val="solid"/>
          </a:ln>
        </p:spPr>
      </p:sp>
      <p:sp>
        <p:nvSpPr>
          <p:cNvPr id="104" name="EWSR1 R309"/>
          <p:cNvSpPr/>
          <p:nvPr/>
        </p:nvSpPr>
        <p:spPr>
          <a:xfrm>
            <a:off x="5046850" y="2231136"/>
            <a:ext cx="54864" cy="54864"/>
          </a:xfrm>
          <a:prstGeom prst="ellipse">
            <a:avLst/>
          </a:prstGeom>
          <a:solidFill>
            <a:schemeClr val="accent1"/>
          </a:solidFill>
          <a:ln/>
        </p:spPr>
      </p:sp>
      <p:sp>
        <p:nvSpPr>
          <p:cNvPr id="105" name="EWSR1 R314 stem"/>
          <p:cNvSpPr/>
          <p:nvPr/>
        </p:nvSpPr>
        <p:spPr>
          <a:xfrm>
            <a:off x="5125318" y="2267712"/>
            <a:ext cx="0" cy="128016"/>
          </a:xfrm>
          <a:prstGeom prst="line">
            <a:avLst/>
          </a:prstGeom>
          <a:noFill/>
          <a:ln w="12700">
            <a:solidFill>
              <a:schemeClr val="accent1"/>
            </a:solidFill>
            <a:prstDash val="solid"/>
          </a:ln>
        </p:spPr>
      </p:sp>
      <p:sp>
        <p:nvSpPr>
          <p:cNvPr id="106" name="EWSR1 R314"/>
          <p:cNvSpPr/>
          <p:nvPr/>
        </p:nvSpPr>
        <p:spPr>
          <a:xfrm>
            <a:off x="5097886" y="2231136"/>
            <a:ext cx="54864" cy="54864"/>
          </a:xfrm>
          <a:prstGeom prst="ellipse">
            <a:avLst/>
          </a:prstGeom>
          <a:solidFill>
            <a:schemeClr val="accent1"/>
          </a:solidFill>
          <a:ln/>
        </p:spPr>
      </p:sp>
      <p:sp>
        <p:nvSpPr>
          <p:cNvPr id="107" name="EWSR1 R317 stem"/>
          <p:cNvSpPr/>
          <p:nvPr/>
        </p:nvSpPr>
        <p:spPr>
          <a:xfrm>
            <a:off x="5155940" y="2267712"/>
            <a:ext cx="0" cy="128016"/>
          </a:xfrm>
          <a:prstGeom prst="line">
            <a:avLst/>
          </a:prstGeom>
          <a:noFill/>
          <a:ln w="12700">
            <a:solidFill>
              <a:schemeClr val="accent1"/>
            </a:solidFill>
            <a:prstDash val="solid"/>
          </a:ln>
        </p:spPr>
      </p:sp>
      <p:sp>
        <p:nvSpPr>
          <p:cNvPr id="108" name="EWSR1 R317"/>
          <p:cNvSpPr/>
          <p:nvPr/>
        </p:nvSpPr>
        <p:spPr>
          <a:xfrm>
            <a:off x="5128508" y="2231136"/>
            <a:ext cx="54864" cy="54864"/>
          </a:xfrm>
          <a:prstGeom prst="ellipse">
            <a:avLst/>
          </a:prstGeom>
          <a:solidFill>
            <a:schemeClr val="accent1"/>
          </a:solidFill>
          <a:ln/>
        </p:spPr>
      </p:sp>
      <p:sp>
        <p:nvSpPr>
          <p:cNvPr id="109" name="EWSR1 R321 stem"/>
          <p:cNvSpPr/>
          <p:nvPr/>
        </p:nvSpPr>
        <p:spPr>
          <a:xfrm>
            <a:off x="5196769" y="2267712"/>
            <a:ext cx="0" cy="128016"/>
          </a:xfrm>
          <a:prstGeom prst="line">
            <a:avLst/>
          </a:prstGeom>
          <a:noFill/>
          <a:ln w="12700">
            <a:solidFill>
              <a:schemeClr val="accent1"/>
            </a:solidFill>
            <a:prstDash val="solid"/>
          </a:ln>
        </p:spPr>
      </p:sp>
      <p:sp>
        <p:nvSpPr>
          <p:cNvPr id="110" name="EWSR1 R321"/>
          <p:cNvSpPr/>
          <p:nvPr/>
        </p:nvSpPr>
        <p:spPr>
          <a:xfrm>
            <a:off x="5169337" y="2231136"/>
            <a:ext cx="54864" cy="54864"/>
          </a:xfrm>
          <a:prstGeom prst="ellipse">
            <a:avLst/>
          </a:prstGeom>
          <a:solidFill>
            <a:schemeClr val="accent1"/>
          </a:solidFill>
          <a:ln/>
        </p:spPr>
      </p:sp>
      <p:sp>
        <p:nvSpPr>
          <p:cNvPr id="111" name="EWSR1 R330 stem"/>
          <p:cNvSpPr/>
          <p:nvPr/>
        </p:nvSpPr>
        <p:spPr>
          <a:xfrm>
            <a:off x="5288634" y="2267712"/>
            <a:ext cx="0" cy="128016"/>
          </a:xfrm>
          <a:prstGeom prst="line">
            <a:avLst/>
          </a:prstGeom>
          <a:noFill/>
          <a:ln w="12700">
            <a:solidFill>
              <a:schemeClr val="accent1"/>
            </a:solidFill>
            <a:prstDash val="solid"/>
          </a:ln>
        </p:spPr>
      </p:sp>
      <p:sp>
        <p:nvSpPr>
          <p:cNvPr id="112" name="EWSR1 R330"/>
          <p:cNvSpPr/>
          <p:nvPr/>
        </p:nvSpPr>
        <p:spPr>
          <a:xfrm>
            <a:off x="5261202" y="2231136"/>
            <a:ext cx="54864" cy="54864"/>
          </a:xfrm>
          <a:prstGeom prst="ellipse">
            <a:avLst/>
          </a:prstGeom>
          <a:solidFill>
            <a:schemeClr val="accent1"/>
          </a:solidFill>
          <a:ln/>
        </p:spPr>
      </p:sp>
      <p:sp>
        <p:nvSpPr>
          <p:cNvPr id="113" name="EWSR1 R455 stem"/>
          <p:cNvSpPr/>
          <p:nvPr/>
        </p:nvSpPr>
        <p:spPr>
          <a:xfrm>
            <a:off x="6564541" y="2267712"/>
            <a:ext cx="0" cy="128016"/>
          </a:xfrm>
          <a:prstGeom prst="line">
            <a:avLst/>
          </a:prstGeom>
          <a:noFill/>
          <a:ln w="12700">
            <a:solidFill>
              <a:schemeClr val="accent1"/>
            </a:solidFill>
            <a:prstDash val="solid"/>
          </a:ln>
        </p:spPr>
      </p:sp>
      <p:sp>
        <p:nvSpPr>
          <p:cNvPr id="114" name="EWSR1 R455"/>
          <p:cNvSpPr/>
          <p:nvPr/>
        </p:nvSpPr>
        <p:spPr>
          <a:xfrm>
            <a:off x="6537109" y="2231136"/>
            <a:ext cx="54864" cy="54864"/>
          </a:xfrm>
          <a:prstGeom prst="ellipse">
            <a:avLst/>
          </a:prstGeom>
          <a:solidFill>
            <a:schemeClr val="accent1"/>
          </a:solidFill>
          <a:ln/>
        </p:spPr>
      </p:sp>
      <p:sp>
        <p:nvSpPr>
          <p:cNvPr id="115" name="EWSR1 R461 stem"/>
          <p:cNvSpPr/>
          <p:nvPr/>
        </p:nvSpPr>
        <p:spPr>
          <a:xfrm>
            <a:off x="6625785" y="2267712"/>
            <a:ext cx="0" cy="128016"/>
          </a:xfrm>
          <a:prstGeom prst="line">
            <a:avLst/>
          </a:prstGeom>
          <a:noFill/>
          <a:ln w="12700">
            <a:solidFill>
              <a:schemeClr val="accent1"/>
            </a:solidFill>
            <a:prstDash val="solid"/>
          </a:ln>
        </p:spPr>
      </p:sp>
      <p:sp>
        <p:nvSpPr>
          <p:cNvPr id="116" name="EWSR1 R461"/>
          <p:cNvSpPr/>
          <p:nvPr/>
        </p:nvSpPr>
        <p:spPr>
          <a:xfrm>
            <a:off x="6598353" y="2231136"/>
            <a:ext cx="54864" cy="54864"/>
          </a:xfrm>
          <a:prstGeom prst="ellipse">
            <a:avLst/>
          </a:prstGeom>
          <a:solidFill>
            <a:schemeClr val="accent1"/>
          </a:solidFill>
          <a:ln/>
        </p:spPr>
      </p:sp>
      <p:sp>
        <p:nvSpPr>
          <p:cNvPr id="117" name="EWSR1 R464 stem"/>
          <p:cNvSpPr/>
          <p:nvPr/>
        </p:nvSpPr>
        <p:spPr>
          <a:xfrm>
            <a:off x="6656407" y="2267712"/>
            <a:ext cx="0" cy="128016"/>
          </a:xfrm>
          <a:prstGeom prst="line">
            <a:avLst/>
          </a:prstGeom>
          <a:noFill/>
          <a:ln w="12700">
            <a:solidFill>
              <a:schemeClr val="accent1"/>
            </a:solidFill>
            <a:prstDash val="solid"/>
          </a:ln>
        </p:spPr>
      </p:sp>
      <p:sp>
        <p:nvSpPr>
          <p:cNvPr id="118" name="EWSR1 R464"/>
          <p:cNvSpPr/>
          <p:nvPr/>
        </p:nvSpPr>
        <p:spPr>
          <a:xfrm>
            <a:off x="6628975" y="2231136"/>
            <a:ext cx="54864" cy="54864"/>
          </a:xfrm>
          <a:prstGeom prst="ellipse">
            <a:avLst/>
          </a:prstGeom>
          <a:solidFill>
            <a:schemeClr val="accent1"/>
          </a:solidFill>
          <a:ln/>
        </p:spPr>
      </p:sp>
      <p:sp>
        <p:nvSpPr>
          <p:cNvPr id="119" name="EWSR1 R471 stem"/>
          <p:cNvSpPr/>
          <p:nvPr/>
        </p:nvSpPr>
        <p:spPr>
          <a:xfrm>
            <a:off x="6727857" y="2267712"/>
            <a:ext cx="0" cy="128016"/>
          </a:xfrm>
          <a:prstGeom prst="line">
            <a:avLst/>
          </a:prstGeom>
          <a:noFill/>
          <a:ln w="12700">
            <a:solidFill>
              <a:schemeClr val="accent1"/>
            </a:solidFill>
            <a:prstDash val="solid"/>
          </a:ln>
        </p:spPr>
      </p:sp>
      <p:sp>
        <p:nvSpPr>
          <p:cNvPr id="120" name="EWSR1 R471"/>
          <p:cNvSpPr/>
          <p:nvPr/>
        </p:nvSpPr>
        <p:spPr>
          <a:xfrm>
            <a:off x="6700425" y="2231136"/>
            <a:ext cx="54864" cy="54864"/>
          </a:xfrm>
          <a:prstGeom prst="ellipse">
            <a:avLst/>
          </a:prstGeom>
          <a:solidFill>
            <a:schemeClr val="accent1"/>
          </a:solidFill>
          <a:ln/>
        </p:spPr>
      </p:sp>
      <p:sp>
        <p:nvSpPr>
          <p:cNvPr id="121" name="EWSR1 R486 stem"/>
          <p:cNvSpPr/>
          <p:nvPr/>
        </p:nvSpPr>
        <p:spPr>
          <a:xfrm>
            <a:off x="6880966" y="2267712"/>
            <a:ext cx="0" cy="128016"/>
          </a:xfrm>
          <a:prstGeom prst="line">
            <a:avLst/>
          </a:prstGeom>
          <a:noFill/>
          <a:ln w="12700">
            <a:solidFill>
              <a:schemeClr val="accent1"/>
            </a:solidFill>
            <a:prstDash val="solid"/>
          </a:ln>
        </p:spPr>
      </p:sp>
      <p:sp>
        <p:nvSpPr>
          <p:cNvPr id="122" name="EWSR1 R486"/>
          <p:cNvSpPr/>
          <p:nvPr/>
        </p:nvSpPr>
        <p:spPr>
          <a:xfrm>
            <a:off x="6853534" y="2231136"/>
            <a:ext cx="54864" cy="54864"/>
          </a:xfrm>
          <a:prstGeom prst="ellipse">
            <a:avLst/>
          </a:prstGeom>
          <a:solidFill>
            <a:schemeClr val="accent1"/>
          </a:solidFill>
          <a:ln/>
        </p:spPr>
      </p:sp>
      <p:sp>
        <p:nvSpPr>
          <p:cNvPr id="123" name="EWSR1 R490 stem"/>
          <p:cNvSpPr/>
          <p:nvPr/>
        </p:nvSpPr>
        <p:spPr>
          <a:xfrm>
            <a:off x="6921795" y="2267712"/>
            <a:ext cx="0" cy="128016"/>
          </a:xfrm>
          <a:prstGeom prst="line">
            <a:avLst/>
          </a:prstGeom>
          <a:noFill/>
          <a:ln w="12700">
            <a:solidFill>
              <a:schemeClr val="accent1"/>
            </a:solidFill>
            <a:prstDash val="solid"/>
          </a:ln>
        </p:spPr>
      </p:sp>
      <p:sp>
        <p:nvSpPr>
          <p:cNvPr id="124" name="EWSR1 R490"/>
          <p:cNvSpPr/>
          <p:nvPr/>
        </p:nvSpPr>
        <p:spPr>
          <a:xfrm>
            <a:off x="6894363" y="2231136"/>
            <a:ext cx="54864" cy="54864"/>
          </a:xfrm>
          <a:prstGeom prst="ellipse">
            <a:avLst/>
          </a:prstGeom>
          <a:solidFill>
            <a:schemeClr val="accent1"/>
          </a:solidFill>
          <a:ln/>
        </p:spPr>
      </p:sp>
      <p:sp>
        <p:nvSpPr>
          <p:cNvPr id="125" name="EWSR1 R494 stem"/>
          <p:cNvSpPr/>
          <p:nvPr/>
        </p:nvSpPr>
        <p:spPr>
          <a:xfrm>
            <a:off x="6962624" y="2267712"/>
            <a:ext cx="0" cy="128016"/>
          </a:xfrm>
          <a:prstGeom prst="line">
            <a:avLst/>
          </a:prstGeom>
          <a:noFill/>
          <a:ln w="12700">
            <a:solidFill>
              <a:schemeClr val="accent1"/>
            </a:solidFill>
            <a:prstDash val="solid"/>
          </a:ln>
        </p:spPr>
      </p:sp>
      <p:sp>
        <p:nvSpPr>
          <p:cNvPr id="126" name="EWSR1 R494"/>
          <p:cNvSpPr/>
          <p:nvPr/>
        </p:nvSpPr>
        <p:spPr>
          <a:xfrm>
            <a:off x="6935192" y="2231136"/>
            <a:ext cx="54864" cy="54864"/>
          </a:xfrm>
          <a:prstGeom prst="ellipse">
            <a:avLst/>
          </a:prstGeom>
          <a:solidFill>
            <a:schemeClr val="accent1"/>
          </a:solidFill>
          <a:ln/>
        </p:spPr>
      </p:sp>
      <p:sp>
        <p:nvSpPr>
          <p:cNvPr id="127" name="EWSR1 R500 stem"/>
          <p:cNvSpPr/>
          <p:nvPr/>
        </p:nvSpPr>
        <p:spPr>
          <a:xfrm>
            <a:off x="7023868" y="2267712"/>
            <a:ext cx="0" cy="128016"/>
          </a:xfrm>
          <a:prstGeom prst="line">
            <a:avLst/>
          </a:prstGeom>
          <a:noFill/>
          <a:ln w="12700">
            <a:solidFill>
              <a:schemeClr val="accent1"/>
            </a:solidFill>
            <a:prstDash val="solid"/>
          </a:ln>
        </p:spPr>
      </p:sp>
      <p:sp>
        <p:nvSpPr>
          <p:cNvPr id="128" name="EWSR1 R500"/>
          <p:cNvSpPr/>
          <p:nvPr/>
        </p:nvSpPr>
        <p:spPr>
          <a:xfrm>
            <a:off x="6996436" y="2231136"/>
            <a:ext cx="54864" cy="54864"/>
          </a:xfrm>
          <a:prstGeom prst="ellipse">
            <a:avLst/>
          </a:prstGeom>
          <a:solidFill>
            <a:schemeClr val="accent1"/>
          </a:solidFill>
          <a:ln/>
        </p:spPr>
      </p:sp>
      <p:sp>
        <p:nvSpPr>
          <p:cNvPr id="129" name="EWSR1 R503 stem"/>
          <p:cNvSpPr/>
          <p:nvPr/>
        </p:nvSpPr>
        <p:spPr>
          <a:xfrm>
            <a:off x="7054490" y="2267712"/>
            <a:ext cx="0" cy="128016"/>
          </a:xfrm>
          <a:prstGeom prst="line">
            <a:avLst/>
          </a:prstGeom>
          <a:noFill/>
          <a:ln w="12700">
            <a:solidFill>
              <a:schemeClr val="accent1"/>
            </a:solidFill>
            <a:prstDash val="solid"/>
          </a:ln>
        </p:spPr>
      </p:sp>
      <p:sp>
        <p:nvSpPr>
          <p:cNvPr id="130" name="EWSR1 R503"/>
          <p:cNvSpPr/>
          <p:nvPr/>
        </p:nvSpPr>
        <p:spPr>
          <a:xfrm>
            <a:off x="7027058" y="2231136"/>
            <a:ext cx="54864" cy="54864"/>
          </a:xfrm>
          <a:prstGeom prst="ellipse">
            <a:avLst/>
          </a:prstGeom>
          <a:solidFill>
            <a:schemeClr val="accent1"/>
          </a:solidFill>
          <a:ln/>
        </p:spPr>
      </p:sp>
      <p:sp>
        <p:nvSpPr>
          <p:cNvPr id="131" name="EWSR1 R506 stem"/>
          <p:cNvSpPr/>
          <p:nvPr/>
        </p:nvSpPr>
        <p:spPr>
          <a:xfrm>
            <a:off x="7085111" y="2267712"/>
            <a:ext cx="0" cy="128016"/>
          </a:xfrm>
          <a:prstGeom prst="line">
            <a:avLst/>
          </a:prstGeom>
          <a:noFill/>
          <a:ln w="12700">
            <a:solidFill>
              <a:schemeClr val="accent1"/>
            </a:solidFill>
            <a:prstDash val="solid"/>
          </a:ln>
        </p:spPr>
      </p:sp>
      <p:sp>
        <p:nvSpPr>
          <p:cNvPr id="132" name="EWSR1 R506"/>
          <p:cNvSpPr/>
          <p:nvPr/>
        </p:nvSpPr>
        <p:spPr>
          <a:xfrm>
            <a:off x="7057679" y="2231136"/>
            <a:ext cx="54864" cy="54864"/>
          </a:xfrm>
          <a:prstGeom prst="ellipse">
            <a:avLst/>
          </a:prstGeom>
          <a:solidFill>
            <a:schemeClr val="accent1"/>
          </a:solidFill>
          <a:ln/>
        </p:spPr>
      </p:sp>
      <p:sp>
        <p:nvSpPr>
          <p:cNvPr id="133" name="EWSR1 R563 stem"/>
          <p:cNvSpPr/>
          <p:nvPr/>
        </p:nvSpPr>
        <p:spPr>
          <a:xfrm>
            <a:off x="7666925" y="2267712"/>
            <a:ext cx="0" cy="128016"/>
          </a:xfrm>
          <a:prstGeom prst="line">
            <a:avLst/>
          </a:prstGeom>
          <a:noFill/>
          <a:ln w="12700">
            <a:solidFill>
              <a:schemeClr val="accent1"/>
            </a:solidFill>
            <a:prstDash val="solid"/>
          </a:ln>
        </p:spPr>
      </p:sp>
      <p:sp>
        <p:nvSpPr>
          <p:cNvPr id="134" name="EWSR1 R563"/>
          <p:cNvSpPr/>
          <p:nvPr/>
        </p:nvSpPr>
        <p:spPr>
          <a:xfrm>
            <a:off x="7639493" y="2231136"/>
            <a:ext cx="54864" cy="54864"/>
          </a:xfrm>
          <a:prstGeom prst="ellipse">
            <a:avLst/>
          </a:prstGeom>
          <a:solidFill>
            <a:schemeClr val="accent1"/>
          </a:solidFill>
          <a:ln/>
        </p:spPr>
      </p:sp>
      <p:sp>
        <p:nvSpPr>
          <p:cNvPr id="135" name="EWSR1 R565 stem"/>
          <p:cNvSpPr/>
          <p:nvPr/>
        </p:nvSpPr>
        <p:spPr>
          <a:xfrm>
            <a:off x="7687340" y="2267712"/>
            <a:ext cx="0" cy="128016"/>
          </a:xfrm>
          <a:prstGeom prst="line">
            <a:avLst/>
          </a:prstGeom>
          <a:noFill/>
          <a:ln w="12700">
            <a:solidFill>
              <a:schemeClr val="accent1"/>
            </a:solidFill>
            <a:prstDash val="solid"/>
          </a:ln>
        </p:spPr>
      </p:sp>
      <p:sp>
        <p:nvSpPr>
          <p:cNvPr id="136" name="EWSR1 R565"/>
          <p:cNvSpPr/>
          <p:nvPr/>
        </p:nvSpPr>
        <p:spPr>
          <a:xfrm>
            <a:off x="7659908" y="2231136"/>
            <a:ext cx="54864" cy="54864"/>
          </a:xfrm>
          <a:prstGeom prst="ellipse">
            <a:avLst/>
          </a:prstGeom>
          <a:solidFill>
            <a:schemeClr val="accent1"/>
          </a:solidFill>
          <a:ln/>
        </p:spPr>
      </p:sp>
      <p:sp>
        <p:nvSpPr>
          <p:cNvPr id="137" name="EWSR1 R572 stem"/>
          <p:cNvSpPr/>
          <p:nvPr/>
        </p:nvSpPr>
        <p:spPr>
          <a:xfrm>
            <a:off x="7758790" y="2267712"/>
            <a:ext cx="0" cy="128016"/>
          </a:xfrm>
          <a:prstGeom prst="line">
            <a:avLst/>
          </a:prstGeom>
          <a:noFill/>
          <a:ln w="12700">
            <a:solidFill>
              <a:schemeClr val="accent1"/>
            </a:solidFill>
            <a:prstDash val="solid"/>
          </a:ln>
        </p:spPr>
      </p:sp>
      <p:sp>
        <p:nvSpPr>
          <p:cNvPr id="138" name="EWSR1 R572"/>
          <p:cNvSpPr/>
          <p:nvPr/>
        </p:nvSpPr>
        <p:spPr>
          <a:xfrm>
            <a:off x="7731358" y="2231136"/>
            <a:ext cx="54864" cy="54864"/>
          </a:xfrm>
          <a:prstGeom prst="ellipse">
            <a:avLst/>
          </a:prstGeom>
          <a:solidFill>
            <a:schemeClr val="accent1"/>
          </a:solidFill>
          <a:ln/>
        </p:spPr>
      </p:sp>
      <p:sp>
        <p:nvSpPr>
          <p:cNvPr id="139" name="EWSR1 R575 stem"/>
          <p:cNvSpPr/>
          <p:nvPr/>
        </p:nvSpPr>
        <p:spPr>
          <a:xfrm>
            <a:off x="7789412" y="2267712"/>
            <a:ext cx="0" cy="128016"/>
          </a:xfrm>
          <a:prstGeom prst="line">
            <a:avLst/>
          </a:prstGeom>
          <a:noFill/>
          <a:ln w="12700">
            <a:solidFill>
              <a:schemeClr val="accent1"/>
            </a:solidFill>
            <a:prstDash val="solid"/>
          </a:ln>
        </p:spPr>
      </p:sp>
      <p:sp>
        <p:nvSpPr>
          <p:cNvPr id="140" name="EWSR1 R575"/>
          <p:cNvSpPr/>
          <p:nvPr/>
        </p:nvSpPr>
        <p:spPr>
          <a:xfrm>
            <a:off x="7761980" y="2231136"/>
            <a:ext cx="54864" cy="54864"/>
          </a:xfrm>
          <a:prstGeom prst="ellipse">
            <a:avLst/>
          </a:prstGeom>
          <a:solidFill>
            <a:schemeClr val="accent1"/>
          </a:solidFill>
          <a:ln/>
        </p:spPr>
      </p:sp>
      <p:sp>
        <p:nvSpPr>
          <p:cNvPr id="141" name="EWSR1 R581 stem"/>
          <p:cNvSpPr/>
          <p:nvPr/>
        </p:nvSpPr>
        <p:spPr>
          <a:xfrm>
            <a:off x="7850656" y="2267712"/>
            <a:ext cx="0" cy="128016"/>
          </a:xfrm>
          <a:prstGeom prst="line">
            <a:avLst/>
          </a:prstGeom>
          <a:noFill/>
          <a:ln w="12700">
            <a:solidFill>
              <a:schemeClr val="accent1"/>
            </a:solidFill>
            <a:prstDash val="solid"/>
          </a:ln>
        </p:spPr>
      </p:sp>
      <p:sp>
        <p:nvSpPr>
          <p:cNvPr id="142" name="EWSR1 R581"/>
          <p:cNvSpPr/>
          <p:nvPr/>
        </p:nvSpPr>
        <p:spPr>
          <a:xfrm>
            <a:off x="7823224" y="2231136"/>
            <a:ext cx="54864" cy="54864"/>
          </a:xfrm>
          <a:prstGeom prst="ellipse">
            <a:avLst/>
          </a:prstGeom>
          <a:solidFill>
            <a:schemeClr val="accent1"/>
          </a:solidFill>
          <a:ln/>
        </p:spPr>
      </p:sp>
      <p:sp>
        <p:nvSpPr>
          <p:cNvPr id="143" name="EWSR1 R589 stem"/>
          <p:cNvSpPr/>
          <p:nvPr/>
        </p:nvSpPr>
        <p:spPr>
          <a:xfrm>
            <a:off x="7932314" y="2267712"/>
            <a:ext cx="0" cy="128016"/>
          </a:xfrm>
          <a:prstGeom prst="line">
            <a:avLst/>
          </a:prstGeom>
          <a:noFill/>
          <a:ln w="12700">
            <a:solidFill>
              <a:schemeClr val="accent1"/>
            </a:solidFill>
            <a:prstDash val="solid"/>
          </a:ln>
        </p:spPr>
      </p:sp>
      <p:sp>
        <p:nvSpPr>
          <p:cNvPr id="144" name="EWSR1 R589"/>
          <p:cNvSpPr/>
          <p:nvPr/>
        </p:nvSpPr>
        <p:spPr>
          <a:xfrm>
            <a:off x="7904882" y="2231136"/>
            <a:ext cx="54864" cy="54864"/>
          </a:xfrm>
          <a:prstGeom prst="ellipse">
            <a:avLst/>
          </a:prstGeom>
          <a:solidFill>
            <a:schemeClr val="accent1"/>
          </a:solidFill>
          <a:ln/>
        </p:spPr>
      </p:sp>
      <p:sp>
        <p:nvSpPr>
          <p:cNvPr id="145" name="EWSR1 R592 stem"/>
          <p:cNvSpPr/>
          <p:nvPr/>
        </p:nvSpPr>
        <p:spPr>
          <a:xfrm>
            <a:off x="7962935" y="2267712"/>
            <a:ext cx="0" cy="128016"/>
          </a:xfrm>
          <a:prstGeom prst="line">
            <a:avLst/>
          </a:prstGeom>
          <a:noFill/>
          <a:ln w="12700">
            <a:solidFill>
              <a:schemeClr val="accent1"/>
            </a:solidFill>
            <a:prstDash val="solid"/>
          </a:ln>
        </p:spPr>
      </p:sp>
      <p:sp>
        <p:nvSpPr>
          <p:cNvPr id="146" name="EWSR1 R592"/>
          <p:cNvSpPr/>
          <p:nvPr/>
        </p:nvSpPr>
        <p:spPr>
          <a:xfrm>
            <a:off x="7935503" y="2231136"/>
            <a:ext cx="54864" cy="54864"/>
          </a:xfrm>
          <a:prstGeom prst="ellipse">
            <a:avLst/>
          </a:prstGeom>
          <a:solidFill>
            <a:schemeClr val="accent1"/>
          </a:solidFill>
          <a:ln/>
        </p:spPr>
      </p:sp>
      <p:sp>
        <p:nvSpPr>
          <p:cNvPr id="147" name="EWSR1 R596 stem"/>
          <p:cNvSpPr/>
          <p:nvPr/>
        </p:nvSpPr>
        <p:spPr>
          <a:xfrm>
            <a:off x="8003764" y="2267712"/>
            <a:ext cx="0" cy="128016"/>
          </a:xfrm>
          <a:prstGeom prst="line">
            <a:avLst/>
          </a:prstGeom>
          <a:noFill/>
          <a:ln w="12700">
            <a:solidFill>
              <a:schemeClr val="accent1"/>
            </a:solidFill>
            <a:prstDash val="solid"/>
          </a:ln>
        </p:spPr>
      </p:sp>
      <p:sp>
        <p:nvSpPr>
          <p:cNvPr id="148" name="EWSR1 R596"/>
          <p:cNvSpPr/>
          <p:nvPr/>
        </p:nvSpPr>
        <p:spPr>
          <a:xfrm>
            <a:off x="7976332" y="2231136"/>
            <a:ext cx="54864" cy="54864"/>
          </a:xfrm>
          <a:prstGeom prst="ellipse">
            <a:avLst/>
          </a:prstGeom>
          <a:solidFill>
            <a:schemeClr val="accent1"/>
          </a:solidFill>
          <a:ln/>
        </p:spPr>
      </p:sp>
      <p:sp>
        <p:nvSpPr>
          <p:cNvPr id="149" name="EWSR1 R600 stem"/>
          <p:cNvSpPr/>
          <p:nvPr/>
        </p:nvSpPr>
        <p:spPr>
          <a:xfrm>
            <a:off x="8044593" y="2267712"/>
            <a:ext cx="0" cy="128016"/>
          </a:xfrm>
          <a:prstGeom prst="line">
            <a:avLst/>
          </a:prstGeom>
          <a:noFill/>
          <a:ln w="12700">
            <a:solidFill>
              <a:schemeClr val="accent1"/>
            </a:solidFill>
            <a:prstDash val="solid"/>
          </a:ln>
        </p:spPr>
      </p:sp>
      <p:sp>
        <p:nvSpPr>
          <p:cNvPr id="150" name="EWSR1 R600"/>
          <p:cNvSpPr/>
          <p:nvPr/>
        </p:nvSpPr>
        <p:spPr>
          <a:xfrm>
            <a:off x="8017161" y="2231136"/>
            <a:ext cx="54864" cy="54864"/>
          </a:xfrm>
          <a:prstGeom prst="ellipse">
            <a:avLst/>
          </a:prstGeom>
          <a:solidFill>
            <a:schemeClr val="accent1"/>
          </a:solidFill>
          <a:ln/>
        </p:spPr>
      </p:sp>
      <p:sp>
        <p:nvSpPr>
          <p:cNvPr id="151" name="EWSR1 R603 stem"/>
          <p:cNvSpPr/>
          <p:nvPr/>
        </p:nvSpPr>
        <p:spPr>
          <a:xfrm>
            <a:off x="8075215" y="2267712"/>
            <a:ext cx="0" cy="128016"/>
          </a:xfrm>
          <a:prstGeom prst="line">
            <a:avLst/>
          </a:prstGeom>
          <a:noFill/>
          <a:ln w="12700">
            <a:solidFill>
              <a:schemeClr val="accent1"/>
            </a:solidFill>
            <a:prstDash val="solid"/>
          </a:ln>
        </p:spPr>
      </p:sp>
      <p:sp>
        <p:nvSpPr>
          <p:cNvPr id="152" name="EWSR1 R603"/>
          <p:cNvSpPr/>
          <p:nvPr/>
        </p:nvSpPr>
        <p:spPr>
          <a:xfrm>
            <a:off x="8047783" y="2231136"/>
            <a:ext cx="54864" cy="54864"/>
          </a:xfrm>
          <a:prstGeom prst="ellipse">
            <a:avLst/>
          </a:prstGeom>
          <a:solidFill>
            <a:schemeClr val="accent1"/>
          </a:solidFill>
          <a:ln/>
        </p:spPr>
      </p:sp>
      <p:sp>
        <p:nvSpPr>
          <p:cNvPr id="153" name="EWSR1 R607 stem"/>
          <p:cNvSpPr/>
          <p:nvPr/>
        </p:nvSpPr>
        <p:spPr>
          <a:xfrm>
            <a:off x="8116044" y="2267712"/>
            <a:ext cx="0" cy="128016"/>
          </a:xfrm>
          <a:prstGeom prst="line">
            <a:avLst/>
          </a:prstGeom>
          <a:noFill/>
          <a:ln w="12700">
            <a:solidFill>
              <a:schemeClr val="accent1"/>
            </a:solidFill>
            <a:prstDash val="solid"/>
          </a:ln>
        </p:spPr>
      </p:sp>
      <p:sp>
        <p:nvSpPr>
          <p:cNvPr id="154" name="EWSR1 R607"/>
          <p:cNvSpPr/>
          <p:nvPr/>
        </p:nvSpPr>
        <p:spPr>
          <a:xfrm>
            <a:off x="8088612" y="2231136"/>
            <a:ext cx="54864" cy="54864"/>
          </a:xfrm>
          <a:prstGeom prst="ellipse">
            <a:avLst/>
          </a:prstGeom>
          <a:solidFill>
            <a:schemeClr val="accent1"/>
          </a:solidFill>
          <a:ln/>
        </p:spPr>
      </p:sp>
      <p:sp>
        <p:nvSpPr>
          <p:cNvPr id="155" name="EWSR1 R614 stem"/>
          <p:cNvSpPr/>
          <p:nvPr/>
        </p:nvSpPr>
        <p:spPr>
          <a:xfrm>
            <a:off x="8187495" y="2267712"/>
            <a:ext cx="0" cy="128016"/>
          </a:xfrm>
          <a:prstGeom prst="line">
            <a:avLst/>
          </a:prstGeom>
          <a:noFill/>
          <a:ln w="12700">
            <a:solidFill>
              <a:schemeClr val="accent1"/>
            </a:solidFill>
            <a:prstDash val="solid"/>
          </a:ln>
        </p:spPr>
      </p:sp>
      <p:sp>
        <p:nvSpPr>
          <p:cNvPr id="156" name="EWSR1 R614"/>
          <p:cNvSpPr/>
          <p:nvPr/>
        </p:nvSpPr>
        <p:spPr>
          <a:xfrm>
            <a:off x="8160063" y="2231136"/>
            <a:ext cx="54864" cy="54864"/>
          </a:xfrm>
          <a:prstGeom prst="ellipse">
            <a:avLst/>
          </a:prstGeom>
          <a:solidFill>
            <a:schemeClr val="accent1"/>
          </a:solidFill>
          <a:ln/>
        </p:spPr>
      </p:sp>
      <p:sp>
        <p:nvSpPr>
          <p:cNvPr id="157" name="EWSR1 R615 stem"/>
          <p:cNvSpPr/>
          <p:nvPr/>
        </p:nvSpPr>
        <p:spPr>
          <a:xfrm>
            <a:off x="8197702" y="2267712"/>
            <a:ext cx="0" cy="128016"/>
          </a:xfrm>
          <a:prstGeom prst="line">
            <a:avLst/>
          </a:prstGeom>
          <a:noFill/>
          <a:ln w="12700">
            <a:solidFill>
              <a:schemeClr val="accent1"/>
            </a:solidFill>
            <a:prstDash val="solid"/>
          </a:ln>
        </p:spPr>
      </p:sp>
      <p:sp>
        <p:nvSpPr>
          <p:cNvPr id="158" name="EWSR1 R615"/>
          <p:cNvSpPr/>
          <p:nvPr/>
        </p:nvSpPr>
        <p:spPr>
          <a:xfrm>
            <a:off x="8170270" y="2231136"/>
            <a:ext cx="54864" cy="54864"/>
          </a:xfrm>
          <a:prstGeom prst="ellipse">
            <a:avLst/>
          </a:prstGeom>
          <a:solidFill>
            <a:schemeClr val="accent1"/>
          </a:solidFill>
          <a:ln/>
        </p:spPr>
      </p:sp>
      <p:sp>
        <p:nvSpPr>
          <p:cNvPr id="159" name="EWSR1 R632 stem"/>
          <p:cNvSpPr/>
          <p:nvPr/>
        </p:nvSpPr>
        <p:spPr>
          <a:xfrm>
            <a:off x="8371226" y="2267712"/>
            <a:ext cx="0" cy="128016"/>
          </a:xfrm>
          <a:prstGeom prst="line">
            <a:avLst/>
          </a:prstGeom>
          <a:noFill/>
          <a:ln w="12700">
            <a:solidFill>
              <a:schemeClr val="accent1"/>
            </a:solidFill>
            <a:prstDash val="solid"/>
          </a:ln>
        </p:spPr>
      </p:sp>
      <p:sp>
        <p:nvSpPr>
          <p:cNvPr id="160" name="EWSR1 R632"/>
          <p:cNvSpPr/>
          <p:nvPr/>
        </p:nvSpPr>
        <p:spPr>
          <a:xfrm>
            <a:off x="8343794" y="2231136"/>
            <a:ext cx="54864" cy="54864"/>
          </a:xfrm>
          <a:prstGeom prst="ellipse">
            <a:avLst/>
          </a:prstGeom>
          <a:solidFill>
            <a:schemeClr val="accent1"/>
          </a:solidFill>
          <a:ln/>
        </p:spPr>
      </p:sp>
      <p:sp>
        <p:nvSpPr>
          <p:cNvPr id="161" name="EWSR1 R633 stem"/>
          <p:cNvSpPr/>
          <p:nvPr/>
        </p:nvSpPr>
        <p:spPr>
          <a:xfrm>
            <a:off x="8381433" y="2267712"/>
            <a:ext cx="0" cy="128016"/>
          </a:xfrm>
          <a:prstGeom prst="line">
            <a:avLst/>
          </a:prstGeom>
          <a:noFill/>
          <a:ln w="12700">
            <a:solidFill>
              <a:schemeClr val="accent1"/>
            </a:solidFill>
            <a:prstDash val="solid"/>
          </a:ln>
        </p:spPr>
      </p:sp>
      <p:sp>
        <p:nvSpPr>
          <p:cNvPr id="162" name="EWSR1 R633"/>
          <p:cNvSpPr/>
          <p:nvPr/>
        </p:nvSpPr>
        <p:spPr>
          <a:xfrm>
            <a:off x="8354001" y="2231136"/>
            <a:ext cx="54864" cy="54864"/>
          </a:xfrm>
          <a:prstGeom prst="ellipse">
            <a:avLst/>
          </a:prstGeom>
          <a:solidFill>
            <a:schemeClr val="accent1"/>
          </a:solidFill>
          <a:ln/>
        </p:spPr>
      </p:sp>
      <p:sp>
        <p:nvSpPr>
          <p:cNvPr id="163" name="EWSR1 R636 stem"/>
          <p:cNvSpPr/>
          <p:nvPr/>
        </p:nvSpPr>
        <p:spPr>
          <a:xfrm>
            <a:off x="8412055" y="2267712"/>
            <a:ext cx="0" cy="128016"/>
          </a:xfrm>
          <a:prstGeom prst="line">
            <a:avLst/>
          </a:prstGeom>
          <a:noFill/>
          <a:ln w="12700">
            <a:solidFill>
              <a:schemeClr val="accent1"/>
            </a:solidFill>
            <a:prstDash val="solid"/>
          </a:ln>
        </p:spPr>
      </p:sp>
      <p:sp>
        <p:nvSpPr>
          <p:cNvPr id="164" name="EWSR1 R636"/>
          <p:cNvSpPr/>
          <p:nvPr/>
        </p:nvSpPr>
        <p:spPr>
          <a:xfrm>
            <a:off x="8384623" y="2231136"/>
            <a:ext cx="54864" cy="54864"/>
          </a:xfrm>
          <a:prstGeom prst="ellipse">
            <a:avLst/>
          </a:prstGeom>
          <a:solidFill>
            <a:schemeClr val="accent1"/>
          </a:solidFill>
          <a:ln/>
        </p:spPr>
      </p:sp>
      <p:sp>
        <p:nvSpPr>
          <p:cNvPr id="165" name="EWSR1 site count"/>
          <p:cNvSpPr txBox="1"/>
          <p:nvPr/>
        </p:nvSpPr>
        <p:spPr>
          <a:xfrm>
            <a:off x="8725928" y="2395728"/>
            <a:ext cx="2377440" cy="292608"/>
          </a:xfrm>
          <a:prstGeom prst="rect">
            <a:avLst/>
          </a:prstGeom>
          <a:noFill/>
          <a:ln/>
        </p:spPr>
        <p:txBody>
          <a:bodyPr wrap="square" lIns="0" tIns="0" rIns="0" bIns="0" rtlCol="0" anchor="ctr"/>
          <a:lstStyle/>
          <a:p>
            <a:pPr indent="0" marL="0">
              <a:buNone/>
            </a:pPr>
            <a:r>
              <a:rPr lang="en-US" sz="1400" b="1" dirty="0">
                <a:solidFill>
                  <a:schemeClr val="accent1"/>
                </a:solidFill>
              </a:rPr>
              <a:t>35 sites</a:t>
            </a:r>
            <a:endParaRPr lang="en-US" sz="1400" dirty="0"/>
          </a:p>
        </p:txBody>
      </p:sp>
      <p:sp>
        <p:nvSpPr>
          <p:cNvPr id="166" name="TAF15 name"/>
          <p:cNvSpPr txBox="1"/>
          <p:nvPr/>
        </p:nvSpPr>
        <p:spPr>
          <a:xfrm>
            <a:off x="457200" y="2889504"/>
            <a:ext cx="1325880" cy="365760"/>
          </a:xfrm>
          <a:prstGeom prst="rect">
            <a:avLst/>
          </a:prstGeom>
          <a:noFill/>
          <a:ln/>
        </p:spPr>
        <p:txBody>
          <a:bodyPr wrap="square" lIns="0" tIns="0" rIns="0" bIns="0" rtlCol="0" anchor="ctr"/>
          <a:lstStyle/>
          <a:p>
            <a:pPr algn="r" indent="0" marL="0">
              <a:buNone/>
            </a:pPr>
            <a:r>
              <a:rPr lang="en-US" sz="1600" b="1" dirty="0">
                <a:solidFill>
                  <a:schemeClr val="tx1"/>
                </a:solidFill>
              </a:rPr>
              <a:t>TAF15</a:t>
            </a:r>
            <a:endParaRPr lang="en-US" sz="1600" dirty="0"/>
          </a:p>
        </p:txBody>
      </p:sp>
      <p:sp>
        <p:nvSpPr>
          <p:cNvPr id="167" name="TAF15 backbone"/>
          <p:cNvSpPr/>
          <p:nvPr/>
        </p:nvSpPr>
        <p:spPr>
          <a:xfrm>
            <a:off x="1920240" y="3035808"/>
            <a:ext cx="6042695" cy="73152"/>
          </a:xfrm>
          <a:prstGeom prst="rect">
            <a:avLst/>
          </a:prstGeom>
          <a:solidFill>
            <a:srgbClr val="B8BEC9"/>
          </a:solidFill>
          <a:ln/>
        </p:spPr>
      </p:sp>
      <p:sp>
        <p:nvSpPr>
          <p:cNvPr id="168" name="TAF15 21 X approximate tandem repeats of D-R-[S,G](0,3)-G-G-Y-G-G 407-575"/>
          <p:cNvSpPr/>
          <p:nvPr/>
        </p:nvSpPr>
        <p:spPr>
          <a:xfrm>
            <a:off x="6074593" y="2962656"/>
            <a:ext cx="1714819" cy="219456"/>
          </a:xfrm>
          <a:prstGeom prst="rect">
            <a:avLst/>
          </a:prstGeom>
          <a:solidFill>
            <a:schemeClr val="accent5"/>
          </a:solidFill>
          <a:ln/>
        </p:spPr>
      </p:sp>
      <p:sp>
        <p:nvSpPr>
          <p:cNvPr id="169" name="TAF15 Low complexity 1-21"/>
          <p:cNvSpPr/>
          <p:nvPr/>
        </p:nvSpPr>
        <p:spPr>
          <a:xfrm>
            <a:off x="1930447" y="2962656"/>
            <a:ext cx="204145" cy="219456"/>
          </a:xfrm>
          <a:prstGeom prst="rect">
            <a:avLst/>
          </a:prstGeom>
          <a:solidFill>
            <a:schemeClr val="accent5"/>
          </a:solidFill>
          <a:ln/>
        </p:spPr>
      </p:sp>
      <p:sp>
        <p:nvSpPr>
          <p:cNvPr id="170" name="TAF15 Low complexity 28-91"/>
          <p:cNvSpPr/>
          <p:nvPr/>
        </p:nvSpPr>
        <p:spPr>
          <a:xfrm>
            <a:off x="2206043" y="2962656"/>
            <a:ext cx="643057" cy="219456"/>
          </a:xfrm>
          <a:prstGeom prst="rect">
            <a:avLst/>
          </a:prstGeom>
          <a:solidFill>
            <a:schemeClr val="accent5"/>
          </a:solidFill>
          <a:ln/>
        </p:spPr>
      </p:sp>
      <p:sp>
        <p:nvSpPr>
          <p:cNvPr id="171" name="TAF15 Low complexity 104-129"/>
          <p:cNvSpPr/>
          <p:nvPr/>
        </p:nvSpPr>
        <p:spPr>
          <a:xfrm>
            <a:off x="2981795" y="2962656"/>
            <a:ext cx="255181" cy="219456"/>
          </a:xfrm>
          <a:prstGeom prst="rect">
            <a:avLst/>
          </a:prstGeom>
          <a:solidFill>
            <a:schemeClr val="accent5"/>
          </a:solidFill>
          <a:ln/>
        </p:spPr>
      </p:sp>
      <p:sp>
        <p:nvSpPr>
          <p:cNvPr id="172" name="TAF15 Low complexity 140-150"/>
          <p:cNvSpPr/>
          <p:nvPr/>
        </p:nvSpPr>
        <p:spPr>
          <a:xfrm>
            <a:off x="3349256" y="2962656"/>
            <a:ext cx="102073" cy="219456"/>
          </a:xfrm>
          <a:prstGeom prst="rect">
            <a:avLst/>
          </a:prstGeom>
          <a:solidFill>
            <a:schemeClr val="accent5"/>
          </a:solidFill>
          <a:ln/>
        </p:spPr>
      </p:sp>
      <p:sp>
        <p:nvSpPr>
          <p:cNvPr id="173" name="TAF15 Gly residues 176-187"/>
          <p:cNvSpPr/>
          <p:nvPr/>
        </p:nvSpPr>
        <p:spPr>
          <a:xfrm>
            <a:off x="3716717" y="2962656"/>
            <a:ext cx="112280" cy="219456"/>
          </a:xfrm>
          <a:prstGeom prst="rect">
            <a:avLst/>
          </a:prstGeom>
          <a:solidFill>
            <a:schemeClr val="accent5"/>
          </a:solidFill>
          <a:ln/>
        </p:spPr>
      </p:sp>
      <p:sp>
        <p:nvSpPr>
          <p:cNvPr id="174" name="TAF15 Gly residues 341-350"/>
          <p:cNvSpPr/>
          <p:nvPr/>
        </p:nvSpPr>
        <p:spPr>
          <a:xfrm>
            <a:off x="5400914" y="2962656"/>
            <a:ext cx="91865" cy="219456"/>
          </a:xfrm>
          <a:prstGeom prst="rect">
            <a:avLst/>
          </a:prstGeom>
          <a:solidFill>
            <a:schemeClr val="accent5"/>
          </a:solidFill>
          <a:ln/>
        </p:spPr>
      </p:sp>
      <p:sp>
        <p:nvSpPr>
          <p:cNvPr id="175" name="TAF15 Gly residues 415-578"/>
          <p:cNvSpPr/>
          <p:nvPr/>
        </p:nvSpPr>
        <p:spPr>
          <a:xfrm>
            <a:off x="6156251" y="2962656"/>
            <a:ext cx="1663783" cy="219456"/>
          </a:xfrm>
          <a:prstGeom prst="rect">
            <a:avLst/>
          </a:prstGeom>
          <a:solidFill>
            <a:schemeClr val="accent5"/>
          </a:solidFill>
          <a:ln/>
        </p:spPr>
      </p:sp>
      <p:sp>
        <p:nvSpPr>
          <p:cNvPr id="176" name="TAF15 RRM 234-320"/>
          <p:cNvSpPr/>
          <p:nvPr/>
        </p:nvSpPr>
        <p:spPr>
          <a:xfrm>
            <a:off x="4308738" y="2935224"/>
            <a:ext cx="877824"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RRM</a:t>
            </a:r>
            <a:endParaRPr lang="en-US" sz="1000" dirty="0"/>
          </a:p>
        </p:txBody>
      </p:sp>
      <p:sp>
        <p:nvSpPr>
          <p:cNvPr id="177" name="TAF15 ZnF 354-385"/>
          <p:cNvSpPr/>
          <p:nvPr/>
        </p:nvSpPr>
        <p:spPr>
          <a:xfrm>
            <a:off x="5533609" y="2935224"/>
            <a:ext cx="316425"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ZnF</a:t>
            </a:r>
            <a:endParaRPr lang="en-US" sz="1000" dirty="0"/>
          </a:p>
        </p:txBody>
      </p:sp>
      <p:sp>
        <p:nvSpPr>
          <p:cNvPr id="178" name="TAF15 R164 stem"/>
          <p:cNvSpPr/>
          <p:nvPr/>
        </p:nvSpPr>
        <p:spPr>
          <a:xfrm>
            <a:off x="3594230" y="2798064"/>
            <a:ext cx="0" cy="128016"/>
          </a:xfrm>
          <a:prstGeom prst="line">
            <a:avLst/>
          </a:prstGeom>
          <a:noFill/>
          <a:ln w="12700">
            <a:solidFill>
              <a:schemeClr val="accent1"/>
            </a:solidFill>
            <a:prstDash val="solid"/>
          </a:ln>
        </p:spPr>
      </p:sp>
      <p:sp>
        <p:nvSpPr>
          <p:cNvPr id="179" name="TAF15 R164"/>
          <p:cNvSpPr/>
          <p:nvPr/>
        </p:nvSpPr>
        <p:spPr>
          <a:xfrm>
            <a:off x="3566798" y="2761488"/>
            <a:ext cx="54864" cy="54864"/>
          </a:xfrm>
          <a:prstGeom prst="ellipse">
            <a:avLst/>
          </a:prstGeom>
          <a:solidFill>
            <a:schemeClr val="accent1"/>
          </a:solidFill>
          <a:ln/>
        </p:spPr>
      </p:sp>
      <p:sp>
        <p:nvSpPr>
          <p:cNvPr id="180" name="TAF15 R175 stem"/>
          <p:cNvSpPr/>
          <p:nvPr/>
        </p:nvSpPr>
        <p:spPr>
          <a:xfrm>
            <a:off x="3706510" y="2798064"/>
            <a:ext cx="0" cy="128016"/>
          </a:xfrm>
          <a:prstGeom prst="line">
            <a:avLst/>
          </a:prstGeom>
          <a:noFill/>
          <a:ln w="12700">
            <a:solidFill>
              <a:schemeClr val="accent1"/>
            </a:solidFill>
            <a:prstDash val="solid"/>
          </a:ln>
        </p:spPr>
      </p:sp>
      <p:sp>
        <p:nvSpPr>
          <p:cNvPr id="181" name="TAF15 R175"/>
          <p:cNvSpPr/>
          <p:nvPr/>
        </p:nvSpPr>
        <p:spPr>
          <a:xfrm>
            <a:off x="3679078" y="2761488"/>
            <a:ext cx="54864" cy="54864"/>
          </a:xfrm>
          <a:prstGeom prst="ellipse">
            <a:avLst/>
          </a:prstGeom>
          <a:solidFill>
            <a:schemeClr val="accent1"/>
          </a:solidFill>
          <a:ln/>
        </p:spPr>
      </p:sp>
      <p:sp>
        <p:nvSpPr>
          <p:cNvPr id="182" name="TAF15 R185 stem"/>
          <p:cNvSpPr/>
          <p:nvPr/>
        </p:nvSpPr>
        <p:spPr>
          <a:xfrm>
            <a:off x="3808582" y="2798064"/>
            <a:ext cx="0" cy="128016"/>
          </a:xfrm>
          <a:prstGeom prst="line">
            <a:avLst/>
          </a:prstGeom>
          <a:noFill/>
          <a:ln w="12700">
            <a:solidFill>
              <a:schemeClr val="accent1"/>
            </a:solidFill>
            <a:prstDash val="solid"/>
          </a:ln>
        </p:spPr>
      </p:sp>
      <p:sp>
        <p:nvSpPr>
          <p:cNvPr id="183" name="TAF15 R185"/>
          <p:cNvSpPr/>
          <p:nvPr/>
        </p:nvSpPr>
        <p:spPr>
          <a:xfrm>
            <a:off x="3781150" y="2761488"/>
            <a:ext cx="54864" cy="54864"/>
          </a:xfrm>
          <a:prstGeom prst="ellipse">
            <a:avLst/>
          </a:prstGeom>
          <a:solidFill>
            <a:schemeClr val="accent1"/>
          </a:solidFill>
          <a:ln/>
        </p:spPr>
      </p:sp>
      <p:sp>
        <p:nvSpPr>
          <p:cNvPr id="184" name="TAF15 R187 stem"/>
          <p:cNvSpPr/>
          <p:nvPr/>
        </p:nvSpPr>
        <p:spPr>
          <a:xfrm>
            <a:off x="3828997" y="2798064"/>
            <a:ext cx="0" cy="128016"/>
          </a:xfrm>
          <a:prstGeom prst="line">
            <a:avLst/>
          </a:prstGeom>
          <a:noFill/>
          <a:ln w="12700">
            <a:solidFill>
              <a:schemeClr val="accent1"/>
            </a:solidFill>
            <a:prstDash val="solid"/>
          </a:ln>
        </p:spPr>
      </p:sp>
      <p:sp>
        <p:nvSpPr>
          <p:cNvPr id="185" name="TAF15 R187"/>
          <p:cNvSpPr/>
          <p:nvPr/>
        </p:nvSpPr>
        <p:spPr>
          <a:xfrm>
            <a:off x="3801565" y="2761488"/>
            <a:ext cx="54864" cy="54864"/>
          </a:xfrm>
          <a:prstGeom prst="ellipse">
            <a:avLst/>
          </a:prstGeom>
          <a:solidFill>
            <a:schemeClr val="accent1"/>
          </a:solidFill>
          <a:ln/>
        </p:spPr>
      </p:sp>
      <p:sp>
        <p:nvSpPr>
          <p:cNvPr id="186" name="TAF15 R195 stem"/>
          <p:cNvSpPr/>
          <p:nvPr/>
        </p:nvSpPr>
        <p:spPr>
          <a:xfrm>
            <a:off x="3910655" y="2798064"/>
            <a:ext cx="0" cy="128016"/>
          </a:xfrm>
          <a:prstGeom prst="line">
            <a:avLst/>
          </a:prstGeom>
          <a:noFill/>
          <a:ln w="12700">
            <a:solidFill>
              <a:schemeClr val="accent1"/>
            </a:solidFill>
            <a:prstDash val="solid"/>
          </a:ln>
        </p:spPr>
      </p:sp>
      <p:sp>
        <p:nvSpPr>
          <p:cNvPr id="187" name="TAF15 R195"/>
          <p:cNvSpPr/>
          <p:nvPr/>
        </p:nvSpPr>
        <p:spPr>
          <a:xfrm>
            <a:off x="3883223" y="2761488"/>
            <a:ext cx="54864" cy="54864"/>
          </a:xfrm>
          <a:prstGeom prst="ellipse">
            <a:avLst/>
          </a:prstGeom>
          <a:solidFill>
            <a:schemeClr val="accent1"/>
          </a:solidFill>
          <a:ln/>
        </p:spPr>
      </p:sp>
      <p:sp>
        <p:nvSpPr>
          <p:cNvPr id="188" name="TAF15 R206 stem"/>
          <p:cNvSpPr/>
          <p:nvPr/>
        </p:nvSpPr>
        <p:spPr>
          <a:xfrm>
            <a:off x="4022935" y="2798064"/>
            <a:ext cx="0" cy="128016"/>
          </a:xfrm>
          <a:prstGeom prst="line">
            <a:avLst/>
          </a:prstGeom>
          <a:noFill/>
          <a:ln w="12700">
            <a:solidFill>
              <a:schemeClr val="accent1"/>
            </a:solidFill>
            <a:prstDash val="solid"/>
          </a:ln>
        </p:spPr>
      </p:sp>
      <p:sp>
        <p:nvSpPr>
          <p:cNvPr id="189" name="TAF15 R206"/>
          <p:cNvSpPr/>
          <p:nvPr/>
        </p:nvSpPr>
        <p:spPr>
          <a:xfrm>
            <a:off x="3995503" y="2761488"/>
            <a:ext cx="54864" cy="54864"/>
          </a:xfrm>
          <a:prstGeom prst="ellipse">
            <a:avLst/>
          </a:prstGeom>
          <a:solidFill>
            <a:schemeClr val="accent1"/>
          </a:solidFill>
          <a:ln/>
        </p:spPr>
      </p:sp>
      <p:sp>
        <p:nvSpPr>
          <p:cNvPr id="190" name="TAF15 R216 stem"/>
          <p:cNvSpPr/>
          <p:nvPr/>
        </p:nvSpPr>
        <p:spPr>
          <a:xfrm>
            <a:off x="4125007" y="2798064"/>
            <a:ext cx="0" cy="128016"/>
          </a:xfrm>
          <a:prstGeom prst="line">
            <a:avLst/>
          </a:prstGeom>
          <a:noFill/>
          <a:ln w="12700">
            <a:solidFill>
              <a:schemeClr val="accent1"/>
            </a:solidFill>
            <a:prstDash val="solid"/>
          </a:ln>
        </p:spPr>
      </p:sp>
      <p:sp>
        <p:nvSpPr>
          <p:cNvPr id="191" name="TAF15 R216"/>
          <p:cNvSpPr/>
          <p:nvPr/>
        </p:nvSpPr>
        <p:spPr>
          <a:xfrm>
            <a:off x="4097575" y="2761488"/>
            <a:ext cx="54864" cy="54864"/>
          </a:xfrm>
          <a:prstGeom prst="ellipse">
            <a:avLst/>
          </a:prstGeom>
          <a:solidFill>
            <a:schemeClr val="accent1"/>
          </a:solidFill>
          <a:ln/>
        </p:spPr>
      </p:sp>
      <p:sp>
        <p:nvSpPr>
          <p:cNvPr id="192" name="TAF15 R320 stem"/>
          <p:cNvSpPr/>
          <p:nvPr/>
        </p:nvSpPr>
        <p:spPr>
          <a:xfrm>
            <a:off x="5186562" y="2798064"/>
            <a:ext cx="0" cy="128016"/>
          </a:xfrm>
          <a:prstGeom prst="line">
            <a:avLst/>
          </a:prstGeom>
          <a:noFill/>
          <a:ln w="12700">
            <a:solidFill>
              <a:schemeClr val="accent1"/>
            </a:solidFill>
            <a:prstDash val="solid"/>
          </a:ln>
        </p:spPr>
      </p:sp>
      <p:sp>
        <p:nvSpPr>
          <p:cNvPr id="193" name="TAF15 R320"/>
          <p:cNvSpPr/>
          <p:nvPr/>
        </p:nvSpPr>
        <p:spPr>
          <a:xfrm>
            <a:off x="5159130" y="2761488"/>
            <a:ext cx="54864" cy="54864"/>
          </a:xfrm>
          <a:prstGeom prst="ellipse">
            <a:avLst/>
          </a:prstGeom>
          <a:solidFill>
            <a:schemeClr val="accent1"/>
          </a:solidFill>
          <a:ln/>
        </p:spPr>
      </p:sp>
      <p:sp>
        <p:nvSpPr>
          <p:cNvPr id="194" name="TAF15 R321 stem"/>
          <p:cNvSpPr/>
          <p:nvPr/>
        </p:nvSpPr>
        <p:spPr>
          <a:xfrm>
            <a:off x="5196769" y="2798064"/>
            <a:ext cx="0" cy="128016"/>
          </a:xfrm>
          <a:prstGeom prst="line">
            <a:avLst/>
          </a:prstGeom>
          <a:noFill/>
          <a:ln w="12700">
            <a:solidFill>
              <a:schemeClr val="accent1"/>
            </a:solidFill>
            <a:prstDash val="solid"/>
          </a:ln>
        </p:spPr>
      </p:sp>
      <p:sp>
        <p:nvSpPr>
          <p:cNvPr id="195" name="TAF15 R321"/>
          <p:cNvSpPr/>
          <p:nvPr/>
        </p:nvSpPr>
        <p:spPr>
          <a:xfrm>
            <a:off x="5169337" y="2761488"/>
            <a:ext cx="54864" cy="54864"/>
          </a:xfrm>
          <a:prstGeom prst="ellipse">
            <a:avLst/>
          </a:prstGeom>
          <a:solidFill>
            <a:schemeClr val="accent1"/>
          </a:solidFill>
          <a:ln/>
        </p:spPr>
      </p:sp>
      <p:sp>
        <p:nvSpPr>
          <p:cNvPr id="196" name="TAF15 R326 stem"/>
          <p:cNvSpPr/>
          <p:nvPr/>
        </p:nvSpPr>
        <p:spPr>
          <a:xfrm>
            <a:off x="5247805" y="2798064"/>
            <a:ext cx="0" cy="128016"/>
          </a:xfrm>
          <a:prstGeom prst="line">
            <a:avLst/>
          </a:prstGeom>
          <a:noFill/>
          <a:ln w="12700">
            <a:solidFill>
              <a:schemeClr val="accent1"/>
            </a:solidFill>
            <a:prstDash val="solid"/>
          </a:ln>
        </p:spPr>
      </p:sp>
      <p:sp>
        <p:nvSpPr>
          <p:cNvPr id="197" name="TAF15 R326"/>
          <p:cNvSpPr/>
          <p:nvPr/>
        </p:nvSpPr>
        <p:spPr>
          <a:xfrm>
            <a:off x="5220373" y="2761488"/>
            <a:ext cx="54864" cy="54864"/>
          </a:xfrm>
          <a:prstGeom prst="ellipse">
            <a:avLst/>
          </a:prstGeom>
          <a:solidFill>
            <a:schemeClr val="accent1"/>
          </a:solidFill>
          <a:ln/>
        </p:spPr>
      </p:sp>
      <p:sp>
        <p:nvSpPr>
          <p:cNvPr id="198" name="TAF15 R334 stem"/>
          <p:cNvSpPr/>
          <p:nvPr/>
        </p:nvSpPr>
        <p:spPr>
          <a:xfrm>
            <a:off x="5329463" y="2798064"/>
            <a:ext cx="0" cy="128016"/>
          </a:xfrm>
          <a:prstGeom prst="line">
            <a:avLst/>
          </a:prstGeom>
          <a:noFill/>
          <a:ln w="12700">
            <a:solidFill>
              <a:schemeClr val="accent1"/>
            </a:solidFill>
            <a:prstDash val="solid"/>
          </a:ln>
        </p:spPr>
      </p:sp>
      <p:sp>
        <p:nvSpPr>
          <p:cNvPr id="199" name="TAF15 R334"/>
          <p:cNvSpPr/>
          <p:nvPr/>
        </p:nvSpPr>
        <p:spPr>
          <a:xfrm>
            <a:off x="5302031" y="2761488"/>
            <a:ext cx="54864" cy="54864"/>
          </a:xfrm>
          <a:prstGeom prst="ellipse">
            <a:avLst/>
          </a:prstGeom>
          <a:solidFill>
            <a:schemeClr val="accent1"/>
          </a:solidFill>
          <a:ln/>
        </p:spPr>
      </p:sp>
      <p:sp>
        <p:nvSpPr>
          <p:cNvPr id="200" name="TAF15 R337 stem"/>
          <p:cNvSpPr/>
          <p:nvPr/>
        </p:nvSpPr>
        <p:spPr>
          <a:xfrm>
            <a:off x="5360085" y="2798064"/>
            <a:ext cx="0" cy="128016"/>
          </a:xfrm>
          <a:prstGeom prst="line">
            <a:avLst/>
          </a:prstGeom>
          <a:noFill/>
          <a:ln w="12700">
            <a:solidFill>
              <a:schemeClr val="accent1"/>
            </a:solidFill>
            <a:prstDash val="solid"/>
          </a:ln>
        </p:spPr>
      </p:sp>
      <p:sp>
        <p:nvSpPr>
          <p:cNvPr id="201" name="TAF15 R337"/>
          <p:cNvSpPr/>
          <p:nvPr/>
        </p:nvSpPr>
        <p:spPr>
          <a:xfrm>
            <a:off x="5332653" y="2761488"/>
            <a:ext cx="54864" cy="54864"/>
          </a:xfrm>
          <a:prstGeom prst="ellipse">
            <a:avLst/>
          </a:prstGeom>
          <a:solidFill>
            <a:schemeClr val="accent1"/>
          </a:solidFill>
          <a:ln/>
        </p:spPr>
      </p:sp>
      <p:sp>
        <p:nvSpPr>
          <p:cNvPr id="202" name="TAF15 R343 stem"/>
          <p:cNvSpPr/>
          <p:nvPr/>
        </p:nvSpPr>
        <p:spPr>
          <a:xfrm>
            <a:off x="5421329" y="2798064"/>
            <a:ext cx="0" cy="128016"/>
          </a:xfrm>
          <a:prstGeom prst="line">
            <a:avLst/>
          </a:prstGeom>
          <a:noFill/>
          <a:ln w="12700">
            <a:solidFill>
              <a:schemeClr val="accent1"/>
            </a:solidFill>
            <a:prstDash val="solid"/>
          </a:ln>
        </p:spPr>
      </p:sp>
      <p:sp>
        <p:nvSpPr>
          <p:cNvPr id="203" name="TAF15 R343"/>
          <p:cNvSpPr/>
          <p:nvPr/>
        </p:nvSpPr>
        <p:spPr>
          <a:xfrm>
            <a:off x="5393897" y="2761488"/>
            <a:ext cx="54864" cy="54864"/>
          </a:xfrm>
          <a:prstGeom prst="ellipse">
            <a:avLst/>
          </a:prstGeom>
          <a:solidFill>
            <a:schemeClr val="accent1"/>
          </a:solidFill>
          <a:ln/>
        </p:spPr>
      </p:sp>
      <p:sp>
        <p:nvSpPr>
          <p:cNvPr id="204" name="TAF15 R349 stem"/>
          <p:cNvSpPr/>
          <p:nvPr/>
        </p:nvSpPr>
        <p:spPr>
          <a:xfrm>
            <a:off x="5482572" y="2798064"/>
            <a:ext cx="0" cy="128016"/>
          </a:xfrm>
          <a:prstGeom prst="line">
            <a:avLst/>
          </a:prstGeom>
          <a:noFill/>
          <a:ln w="12700">
            <a:solidFill>
              <a:schemeClr val="accent1"/>
            </a:solidFill>
            <a:prstDash val="solid"/>
          </a:ln>
        </p:spPr>
      </p:sp>
      <p:sp>
        <p:nvSpPr>
          <p:cNvPr id="205" name="TAF15 R349"/>
          <p:cNvSpPr/>
          <p:nvPr/>
        </p:nvSpPr>
        <p:spPr>
          <a:xfrm>
            <a:off x="5455140" y="2761488"/>
            <a:ext cx="54864" cy="54864"/>
          </a:xfrm>
          <a:prstGeom prst="ellipse">
            <a:avLst/>
          </a:prstGeom>
          <a:solidFill>
            <a:schemeClr val="accent1"/>
          </a:solidFill>
          <a:ln/>
        </p:spPr>
      </p:sp>
      <p:sp>
        <p:nvSpPr>
          <p:cNvPr id="206" name="TAF15 R373 stem"/>
          <p:cNvSpPr/>
          <p:nvPr/>
        </p:nvSpPr>
        <p:spPr>
          <a:xfrm>
            <a:off x="5727546" y="2798064"/>
            <a:ext cx="0" cy="128016"/>
          </a:xfrm>
          <a:prstGeom prst="line">
            <a:avLst/>
          </a:prstGeom>
          <a:noFill/>
          <a:ln w="12700">
            <a:solidFill>
              <a:schemeClr val="accent1"/>
            </a:solidFill>
            <a:prstDash val="solid"/>
          </a:ln>
        </p:spPr>
      </p:sp>
      <p:sp>
        <p:nvSpPr>
          <p:cNvPr id="207" name="TAF15 R373"/>
          <p:cNvSpPr/>
          <p:nvPr/>
        </p:nvSpPr>
        <p:spPr>
          <a:xfrm>
            <a:off x="5700114" y="2761488"/>
            <a:ext cx="54864" cy="54864"/>
          </a:xfrm>
          <a:prstGeom prst="ellipse">
            <a:avLst/>
          </a:prstGeom>
          <a:solidFill>
            <a:schemeClr val="accent1"/>
          </a:solidFill>
          <a:ln/>
        </p:spPr>
      </p:sp>
      <p:sp>
        <p:nvSpPr>
          <p:cNvPr id="208" name="TAF15 R383 stem"/>
          <p:cNvSpPr/>
          <p:nvPr/>
        </p:nvSpPr>
        <p:spPr>
          <a:xfrm>
            <a:off x="5829619" y="2798064"/>
            <a:ext cx="0" cy="128016"/>
          </a:xfrm>
          <a:prstGeom prst="line">
            <a:avLst/>
          </a:prstGeom>
          <a:noFill/>
          <a:ln w="12700">
            <a:solidFill>
              <a:schemeClr val="accent1"/>
            </a:solidFill>
            <a:prstDash val="solid"/>
          </a:ln>
        </p:spPr>
      </p:sp>
      <p:sp>
        <p:nvSpPr>
          <p:cNvPr id="209" name="TAF15 R383"/>
          <p:cNvSpPr/>
          <p:nvPr/>
        </p:nvSpPr>
        <p:spPr>
          <a:xfrm>
            <a:off x="5802187" y="2761488"/>
            <a:ext cx="54864" cy="54864"/>
          </a:xfrm>
          <a:prstGeom prst="ellipse">
            <a:avLst/>
          </a:prstGeom>
          <a:solidFill>
            <a:schemeClr val="accent1"/>
          </a:solidFill>
          <a:ln/>
        </p:spPr>
      </p:sp>
      <p:sp>
        <p:nvSpPr>
          <p:cNvPr id="210" name="TAF15 R388 stem"/>
          <p:cNvSpPr/>
          <p:nvPr/>
        </p:nvSpPr>
        <p:spPr>
          <a:xfrm>
            <a:off x="5880655" y="2798064"/>
            <a:ext cx="0" cy="128016"/>
          </a:xfrm>
          <a:prstGeom prst="line">
            <a:avLst/>
          </a:prstGeom>
          <a:noFill/>
          <a:ln w="12700">
            <a:solidFill>
              <a:schemeClr val="accent1"/>
            </a:solidFill>
            <a:prstDash val="solid"/>
          </a:ln>
        </p:spPr>
      </p:sp>
      <p:sp>
        <p:nvSpPr>
          <p:cNvPr id="211" name="TAF15 R388"/>
          <p:cNvSpPr/>
          <p:nvPr/>
        </p:nvSpPr>
        <p:spPr>
          <a:xfrm>
            <a:off x="5853223" y="2761488"/>
            <a:ext cx="54864" cy="54864"/>
          </a:xfrm>
          <a:prstGeom prst="ellipse">
            <a:avLst/>
          </a:prstGeom>
          <a:solidFill>
            <a:schemeClr val="accent1"/>
          </a:solidFill>
          <a:ln/>
        </p:spPr>
      </p:sp>
      <p:sp>
        <p:nvSpPr>
          <p:cNvPr id="212" name="TAF15 R395 stem"/>
          <p:cNvSpPr/>
          <p:nvPr/>
        </p:nvSpPr>
        <p:spPr>
          <a:xfrm>
            <a:off x="5952106" y="2798064"/>
            <a:ext cx="0" cy="128016"/>
          </a:xfrm>
          <a:prstGeom prst="line">
            <a:avLst/>
          </a:prstGeom>
          <a:noFill/>
          <a:ln w="12700">
            <a:solidFill>
              <a:schemeClr val="accent1"/>
            </a:solidFill>
            <a:prstDash val="solid"/>
          </a:ln>
        </p:spPr>
      </p:sp>
      <p:sp>
        <p:nvSpPr>
          <p:cNvPr id="213" name="TAF15 R395"/>
          <p:cNvSpPr/>
          <p:nvPr/>
        </p:nvSpPr>
        <p:spPr>
          <a:xfrm>
            <a:off x="5924674" y="2761488"/>
            <a:ext cx="54864" cy="54864"/>
          </a:xfrm>
          <a:prstGeom prst="ellipse">
            <a:avLst/>
          </a:prstGeom>
          <a:solidFill>
            <a:schemeClr val="accent1"/>
          </a:solidFill>
          <a:ln/>
        </p:spPr>
      </p:sp>
      <p:sp>
        <p:nvSpPr>
          <p:cNvPr id="214" name="TAF15 R397 stem"/>
          <p:cNvSpPr/>
          <p:nvPr/>
        </p:nvSpPr>
        <p:spPr>
          <a:xfrm>
            <a:off x="5972521" y="2798064"/>
            <a:ext cx="0" cy="128016"/>
          </a:xfrm>
          <a:prstGeom prst="line">
            <a:avLst/>
          </a:prstGeom>
          <a:noFill/>
          <a:ln w="12700">
            <a:solidFill>
              <a:schemeClr val="accent1"/>
            </a:solidFill>
            <a:prstDash val="solid"/>
          </a:ln>
        </p:spPr>
      </p:sp>
      <p:sp>
        <p:nvSpPr>
          <p:cNvPr id="215" name="TAF15 R397"/>
          <p:cNvSpPr/>
          <p:nvPr/>
        </p:nvSpPr>
        <p:spPr>
          <a:xfrm>
            <a:off x="5945089" y="2761488"/>
            <a:ext cx="54864" cy="54864"/>
          </a:xfrm>
          <a:prstGeom prst="ellipse">
            <a:avLst/>
          </a:prstGeom>
          <a:solidFill>
            <a:schemeClr val="accent1"/>
          </a:solidFill>
          <a:ln/>
        </p:spPr>
      </p:sp>
      <p:sp>
        <p:nvSpPr>
          <p:cNvPr id="216" name="TAF15 R403 stem"/>
          <p:cNvSpPr/>
          <p:nvPr/>
        </p:nvSpPr>
        <p:spPr>
          <a:xfrm>
            <a:off x="6033764" y="2798064"/>
            <a:ext cx="0" cy="128016"/>
          </a:xfrm>
          <a:prstGeom prst="line">
            <a:avLst/>
          </a:prstGeom>
          <a:noFill/>
          <a:ln w="12700">
            <a:solidFill>
              <a:schemeClr val="accent1"/>
            </a:solidFill>
            <a:prstDash val="solid"/>
          </a:ln>
        </p:spPr>
      </p:sp>
      <p:sp>
        <p:nvSpPr>
          <p:cNvPr id="217" name="TAF15 R403"/>
          <p:cNvSpPr/>
          <p:nvPr/>
        </p:nvSpPr>
        <p:spPr>
          <a:xfrm>
            <a:off x="6006332" y="2761488"/>
            <a:ext cx="54864" cy="54864"/>
          </a:xfrm>
          <a:prstGeom prst="ellipse">
            <a:avLst/>
          </a:prstGeom>
          <a:solidFill>
            <a:schemeClr val="accent1"/>
          </a:solidFill>
          <a:ln/>
        </p:spPr>
      </p:sp>
      <p:sp>
        <p:nvSpPr>
          <p:cNvPr id="218" name="TAF15 R406 stem"/>
          <p:cNvSpPr/>
          <p:nvPr/>
        </p:nvSpPr>
        <p:spPr>
          <a:xfrm>
            <a:off x="6064386" y="2798064"/>
            <a:ext cx="0" cy="128016"/>
          </a:xfrm>
          <a:prstGeom prst="line">
            <a:avLst/>
          </a:prstGeom>
          <a:noFill/>
          <a:ln w="12700">
            <a:solidFill>
              <a:schemeClr val="accent1"/>
            </a:solidFill>
            <a:prstDash val="solid"/>
          </a:ln>
        </p:spPr>
      </p:sp>
      <p:sp>
        <p:nvSpPr>
          <p:cNvPr id="219" name="TAF15 R406"/>
          <p:cNvSpPr/>
          <p:nvPr/>
        </p:nvSpPr>
        <p:spPr>
          <a:xfrm>
            <a:off x="6036954" y="2761488"/>
            <a:ext cx="54864" cy="54864"/>
          </a:xfrm>
          <a:prstGeom prst="ellipse">
            <a:avLst/>
          </a:prstGeom>
          <a:solidFill>
            <a:schemeClr val="accent1"/>
          </a:solidFill>
          <a:ln/>
        </p:spPr>
      </p:sp>
      <p:sp>
        <p:nvSpPr>
          <p:cNvPr id="220" name="TAF15 R415 stem"/>
          <p:cNvSpPr/>
          <p:nvPr/>
        </p:nvSpPr>
        <p:spPr>
          <a:xfrm>
            <a:off x="6156251" y="2798064"/>
            <a:ext cx="0" cy="128016"/>
          </a:xfrm>
          <a:prstGeom prst="line">
            <a:avLst/>
          </a:prstGeom>
          <a:noFill/>
          <a:ln w="12700">
            <a:solidFill>
              <a:schemeClr val="accent1"/>
            </a:solidFill>
            <a:prstDash val="solid"/>
          </a:ln>
        </p:spPr>
      </p:sp>
      <p:sp>
        <p:nvSpPr>
          <p:cNvPr id="221" name="TAF15 R415"/>
          <p:cNvSpPr/>
          <p:nvPr/>
        </p:nvSpPr>
        <p:spPr>
          <a:xfrm>
            <a:off x="6128819" y="2761488"/>
            <a:ext cx="54864" cy="54864"/>
          </a:xfrm>
          <a:prstGeom prst="ellipse">
            <a:avLst/>
          </a:prstGeom>
          <a:solidFill>
            <a:schemeClr val="accent1"/>
          </a:solidFill>
          <a:ln/>
        </p:spPr>
      </p:sp>
      <p:sp>
        <p:nvSpPr>
          <p:cNvPr id="222" name="TAF15 R431 stem"/>
          <p:cNvSpPr/>
          <p:nvPr/>
        </p:nvSpPr>
        <p:spPr>
          <a:xfrm>
            <a:off x="6319567" y="2798064"/>
            <a:ext cx="0" cy="128016"/>
          </a:xfrm>
          <a:prstGeom prst="line">
            <a:avLst/>
          </a:prstGeom>
          <a:noFill/>
          <a:ln w="12700">
            <a:solidFill>
              <a:schemeClr val="accent1"/>
            </a:solidFill>
            <a:prstDash val="solid"/>
          </a:ln>
        </p:spPr>
      </p:sp>
      <p:sp>
        <p:nvSpPr>
          <p:cNvPr id="223" name="TAF15 R431"/>
          <p:cNvSpPr/>
          <p:nvPr/>
        </p:nvSpPr>
        <p:spPr>
          <a:xfrm>
            <a:off x="6292135" y="2761488"/>
            <a:ext cx="54864" cy="54864"/>
          </a:xfrm>
          <a:prstGeom prst="ellipse">
            <a:avLst/>
          </a:prstGeom>
          <a:solidFill>
            <a:schemeClr val="accent1"/>
          </a:solidFill>
          <a:ln/>
        </p:spPr>
      </p:sp>
      <p:sp>
        <p:nvSpPr>
          <p:cNvPr id="224" name="TAF15 R441 stem"/>
          <p:cNvSpPr/>
          <p:nvPr/>
        </p:nvSpPr>
        <p:spPr>
          <a:xfrm>
            <a:off x="6421640" y="2798064"/>
            <a:ext cx="0" cy="128016"/>
          </a:xfrm>
          <a:prstGeom prst="line">
            <a:avLst/>
          </a:prstGeom>
          <a:noFill/>
          <a:ln w="12700">
            <a:solidFill>
              <a:schemeClr val="accent1"/>
            </a:solidFill>
            <a:prstDash val="solid"/>
          </a:ln>
        </p:spPr>
      </p:sp>
      <p:sp>
        <p:nvSpPr>
          <p:cNvPr id="225" name="TAF15 R441"/>
          <p:cNvSpPr/>
          <p:nvPr/>
        </p:nvSpPr>
        <p:spPr>
          <a:xfrm>
            <a:off x="6394208" y="2761488"/>
            <a:ext cx="54864" cy="54864"/>
          </a:xfrm>
          <a:prstGeom prst="ellipse">
            <a:avLst/>
          </a:prstGeom>
          <a:solidFill>
            <a:schemeClr val="accent1"/>
          </a:solidFill>
          <a:ln/>
        </p:spPr>
      </p:sp>
      <p:sp>
        <p:nvSpPr>
          <p:cNvPr id="226" name="TAF15 R450 stem"/>
          <p:cNvSpPr/>
          <p:nvPr/>
        </p:nvSpPr>
        <p:spPr>
          <a:xfrm>
            <a:off x="6513505" y="2798064"/>
            <a:ext cx="0" cy="128016"/>
          </a:xfrm>
          <a:prstGeom prst="line">
            <a:avLst/>
          </a:prstGeom>
          <a:noFill/>
          <a:ln w="12700">
            <a:solidFill>
              <a:schemeClr val="accent1"/>
            </a:solidFill>
            <a:prstDash val="solid"/>
          </a:ln>
        </p:spPr>
      </p:sp>
      <p:sp>
        <p:nvSpPr>
          <p:cNvPr id="227" name="TAF15 R450"/>
          <p:cNvSpPr/>
          <p:nvPr/>
        </p:nvSpPr>
        <p:spPr>
          <a:xfrm>
            <a:off x="6486073" y="2761488"/>
            <a:ext cx="54864" cy="54864"/>
          </a:xfrm>
          <a:prstGeom prst="ellipse">
            <a:avLst/>
          </a:prstGeom>
          <a:solidFill>
            <a:schemeClr val="accent1"/>
          </a:solidFill>
          <a:ln/>
        </p:spPr>
      </p:sp>
      <p:sp>
        <p:nvSpPr>
          <p:cNvPr id="228" name="TAF15 R459 stem"/>
          <p:cNvSpPr/>
          <p:nvPr/>
        </p:nvSpPr>
        <p:spPr>
          <a:xfrm>
            <a:off x="6605370" y="2798064"/>
            <a:ext cx="0" cy="128016"/>
          </a:xfrm>
          <a:prstGeom prst="line">
            <a:avLst/>
          </a:prstGeom>
          <a:noFill/>
          <a:ln w="12700">
            <a:solidFill>
              <a:schemeClr val="accent1"/>
            </a:solidFill>
            <a:prstDash val="solid"/>
          </a:ln>
        </p:spPr>
      </p:sp>
      <p:sp>
        <p:nvSpPr>
          <p:cNvPr id="229" name="TAF15 R459"/>
          <p:cNvSpPr/>
          <p:nvPr/>
        </p:nvSpPr>
        <p:spPr>
          <a:xfrm>
            <a:off x="6577938" y="2761488"/>
            <a:ext cx="54864" cy="54864"/>
          </a:xfrm>
          <a:prstGeom prst="ellipse">
            <a:avLst/>
          </a:prstGeom>
          <a:solidFill>
            <a:schemeClr val="accent1"/>
          </a:solidFill>
          <a:ln/>
        </p:spPr>
      </p:sp>
      <p:sp>
        <p:nvSpPr>
          <p:cNvPr id="230" name="TAF15 R467 stem"/>
          <p:cNvSpPr/>
          <p:nvPr/>
        </p:nvSpPr>
        <p:spPr>
          <a:xfrm>
            <a:off x="6687028" y="2798064"/>
            <a:ext cx="0" cy="128016"/>
          </a:xfrm>
          <a:prstGeom prst="line">
            <a:avLst/>
          </a:prstGeom>
          <a:noFill/>
          <a:ln w="12700">
            <a:solidFill>
              <a:schemeClr val="accent1"/>
            </a:solidFill>
            <a:prstDash val="solid"/>
          </a:ln>
        </p:spPr>
      </p:sp>
      <p:sp>
        <p:nvSpPr>
          <p:cNvPr id="231" name="TAF15 R467"/>
          <p:cNvSpPr/>
          <p:nvPr/>
        </p:nvSpPr>
        <p:spPr>
          <a:xfrm>
            <a:off x="6659596" y="2761488"/>
            <a:ext cx="54864" cy="54864"/>
          </a:xfrm>
          <a:prstGeom prst="ellipse">
            <a:avLst/>
          </a:prstGeom>
          <a:solidFill>
            <a:schemeClr val="accent1"/>
          </a:solidFill>
          <a:ln/>
        </p:spPr>
      </p:sp>
      <p:sp>
        <p:nvSpPr>
          <p:cNvPr id="232" name="TAF15 R475 stem"/>
          <p:cNvSpPr/>
          <p:nvPr/>
        </p:nvSpPr>
        <p:spPr>
          <a:xfrm>
            <a:off x="6768687" y="2798064"/>
            <a:ext cx="0" cy="128016"/>
          </a:xfrm>
          <a:prstGeom prst="line">
            <a:avLst/>
          </a:prstGeom>
          <a:noFill/>
          <a:ln w="12700">
            <a:solidFill>
              <a:schemeClr val="accent1"/>
            </a:solidFill>
            <a:prstDash val="solid"/>
          </a:ln>
        </p:spPr>
      </p:sp>
      <p:sp>
        <p:nvSpPr>
          <p:cNvPr id="233" name="TAF15 R475"/>
          <p:cNvSpPr/>
          <p:nvPr/>
        </p:nvSpPr>
        <p:spPr>
          <a:xfrm>
            <a:off x="6741255" y="2761488"/>
            <a:ext cx="54864" cy="54864"/>
          </a:xfrm>
          <a:prstGeom prst="ellipse">
            <a:avLst/>
          </a:prstGeom>
          <a:solidFill>
            <a:schemeClr val="accent1"/>
          </a:solidFill>
          <a:ln/>
        </p:spPr>
      </p:sp>
      <p:sp>
        <p:nvSpPr>
          <p:cNvPr id="234" name="TAF15 R483 stem"/>
          <p:cNvSpPr/>
          <p:nvPr/>
        </p:nvSpPr>
        <p:spPr>
          <a:xfrm>
            <a:off x="6850345" y="2798064"/>
            <a:ext cx="0" cy="128016"/>
          </a:xfrm>
          <a:prstGeom prst="line">
            <a:avLst/>
          </a:prstGeom>
          <a:noFill/>
          <a:ln w="12700">
            <a:solidFill>
              <a:schemeClr val="accent1"/>
            </a:solidFill>
            <a:prstDash val="solid"/>
          </a:ln>
        </p:spPr>
      </p:sp>
      <p:sp>
        <p:nvSpPr>
          <p:cNvPr id="235" name="TAF15 R483"/>
          <p:cNvSpPr/>
          <p:nvPr/>
        </p:nvSpPr>
        <p:spPr>
          <a:xfrm>
            <a:off x="6822913" y="2761488"/>
            <a:ext cx="54864" cy="54864"/>
          </a:xfrm>
          <a:prstGeom prst="ellipse">
            <a:avLst/>
          </a:prstGeom>
          <a:solidFill>
            <a:schemeClr val="accent1"/>
          </a:solidFill>
          <a:ln/>
        </p:spPr>
      </p:sp>
      <p:sp>
        <p:nvSpPr>
          <p:cNvPr id="236" name="TAF15 R490 stem"/>
          <p:cNvSpPr/>
          <p:nvPr/>
        </p:nvSpPr>
        <p:spPr>
          <a:xfrm>
            <a:off x="6921795" y="2798064"/>
            <a:ext cx="0" cy="128016"/>
          </a:xfrm>
          <a:prstGeom prst="line">
            <a:avLst/>
          </a:prstGeom>
          <a:noFill/>
          <a:ln w="12700">
            <a:solidFill>
              <a:schemeClr val="accent1"/>
            </a:solidFill>
            <a:prstDash val="solid"/>
          </a:ln>
        </p:spPr>
      </p:sp>
      <p:sp>
        <p:nvSpPr>
          <p:cNvPr id="237" name="TAF15 R490"/>
          <p:cNvSpPr/>
          <p:nvPr/>
        </p:nvSpPr>
        <p:spPr>
          <a:xfrm>
            <a:off x="6894363" y="2761488"/>
            <a:ext cx="54864" cy="54864"/>
          </a:xfrm>
          <a:prstGeom prst="ellipse">
            <a:avLst/>
          </a:prstGeom>
          <a:solidFill>
            <a:schemeClr val="accent1"/>
          </a:solidFill>
          <a:ln/>
        </p:spPr>
      </p:sp>
      <p:sp>
        <p:nvSpPr>
          <p:cNvPr id="238" name="TAF15 R498 stem"/>
          <p:cNvSpPr/>
          <p:nvPr/>
        </p:nvSpPr>
        <p:spPr>
          <a:xfrm>
            <a:off x="7003453" y="2798064"/>
            <a:ext cx="0" cy="128016"/>
          </a:xfrm>
          <a:prstGeom prst="line">
            <a:avLst/>
          </a:prstGeom>
          <a:noFill/>
          <a:ln w="12700">
            <a:solidFill>
              <a:schemeClr val="accent1"/>
            </a:solidFill>
            <a:prstDash val="solid"/>
          </a:ln>
        </p:spPr>
      </p:sp>
      <p:sp>
        <p:nvSpPr>
          <p:cNvPr id="239" name="TAF15 R498"/>
          <p:cNvSpPr/>
          <p:nvPr/>
        </p:nvSpPr>
        <p:spPr>
          <a:xfrm>
            <a:off x="6976021" y="2761488"/>
            <a:ext cx="54864" cy="54864"/>
          </a:xfrm>
          <a:prstGeom prst="ellipse">
            <a:avLst/>
          </a:prstGeom>
          <a:solidFill>
            <a:schemeClr val="accent1"/>
          </a:solidFill>
          <a:ln/>
        </p:spPr>
      </p:sp>
      <p:sp>
        <p:nvSpPr>
          <p:cNvPr id="240" name="TAF15 R505 stem"/>
          <p:cNvSpPr/>
          <p:nvPr/>
        </p:nvSpPr>
        <p:spPr>
          <a:xfrm>
            <a:off x="7074904" y="2798064"/>
            <a:ext cx="0" cy="128016"/>
          </a:xfrm>
          <a:prstGeom prst="line">
            <a:avLst/>
          </a:prstGeom>
          <a:noFill/>
          <a:ln w="12700">
            <a:solidFill>
              <a:schemeClr val="accent1"/>
            </a:solidFill>
            <a:prstDash val="solid"/>
          </a:ln>
        </p:spPr>
      </p:sp>
      <p:sp>
        <p:nvSpPr>
          <p:cNvPr id="241" name="TAF15 R505"/>
          <p:cNvSpPr/>
          <p:nvPr/>
        </p:nvSpPr>
        <p:spPr>
          <a:xfrm>
            <a:off x="7047472" y="2761488"/>
            <a:ext cx="54864" cy="54864"/>
          </a:xfrm>
          <a:prstGeom prst="ellipse">
            <a:avLst/>
          </a:prstGeom>
          <a:solidFill>
            <a:schemeClr val="accent1"/>
          </a:solidFill>
          <a:ln/>
        </p:spPr>
      </p:sp>
      <p:sp>
        <p:nvSpPr>
          <p:cNvPr id="242" name="TAF15 R512 stem"/>
          <p:cNvSpPr/>
          <p:nvPr/>
        </p:nvSpPr>
        <p:spPr>
          <a:xfrm>
            <a:off x="7146355" y="2798064"/>
            <a:ext cx="0" cy="128016"/>
          </a:xfrm>
          <a:prstGeom prst="line">
            <a:avLst/>
          </a:prstGeom>
          <a:noFill/>
          <a:ln w="12700">
            <a:solidFill>
              <a:schemeClr val="accent1"/>
            </a:solidFill>
            <a:prstDash val="solid"/>
          </a:ln>
        </p:spPr>
      </p:sp>
      <p:sp>
        <p:nvSpPr>
          <p:cNvPr id="243" name="TAF15 R512"/>
          <p:cNvSpPr/>
          <p:nvPr/>
        </p:nvSpPr>
        <p:spPr>
          <a:xfrm>
            <a:off x="7118923" y="2761488"/>
            <a:ext cx="54864" cy="54864"/>
          </a:xfrm>
          <a:prstGeom prst="ellipse">
            <a:avLst/>
          </a:prstGeom>
          <a:solidFill>
            <a:schemeClr val="accent1"/>
          </a:solidFill>
          <a:ln/>
        </p:spPr>
      </p:sp>
      <p:sp>
        <p:nvSpPr>
          <p:cNvPr id="244" name="TAF15 R519 stem"/>
          <p:cNvSpPr/>
          <p:nvPr/>
        </p:nvSpPr>
        <p:spPr>
          <a:xfrm>
            <a:off x="7217806" y="2798064"/>
            <a:ext cx="0" cy="128016"/>
          </a:xfrm>
          <a:prstGeom prst="line">
            <a:avLst/>
          </a:prstGeom>
          <a:noFill/>
          <a:ln w="12700">
            <a:solidFill>
              <a:schemeClr val="accent1"/>
            </a:solidFill>
            <a:prstDash val="solid"/>
          </a:ln>
        </p:spPr>
      </p:sp>
      <p:sp>
        <p:nvSpPr>
          <p:cNvPr id="245" name="TAF15 R519"/>
          <p:cNvSpPr/>
          <p:nvPr/>
        </p:nvSpPr>
        <p:spPr>
          <a:xfrm>
            <a:off x="7190374" y="2761488"/>
            <a:ext cx="54864" cy="54864"/>
          </a:xfrm>
          <a:prstGeom prst="ellipse">
            <a:avLst/>
          </a:prstGeom>
          <a:solidFill>
            <a:schemeClr val="accent1"/>
          </a:solidFill>
          <a:ln/>
        </p:spPr>
      </p:sp>
      <p:sp>
        <p:nvSpPr>
          <p:cNvPr id="246" name="TAF15 R528 stem"/>
          <p:cNvSpPr/>
          <p:nvPr/>
        </p:nvSpPr>
        <p:spPr>
          <a:xfrm>
            <a:off x="7309671" y="2798064"/>
            <a:ext cx="0" cy="128016"/>
          </a:xfrm>
          <a:prstGeom prst="line">
            <a:avLst/>
          </a:prstGeom>
          <a:noFill/>
          <a:ln w="12700">
            <a:solidFill>
              <a:schemeClr val="accent1"/>
            </a:solidFill>
            <a:prstDash val="solid"/>
          </a:ln>
        </p:spPr>
      </p:sp>
      <p:sp>
        <p:nvSpPr>
          <p:cNvPr id="247" name="TAF15 R528"/>
          <p:cNvSpPr/>
          <p:nvPr/>
        </p:nvSpPr>
        <p:spPr>
          <a:xfrm>
            <a:off x="7282239" y="2761488"/>
            <a:ext cx="54864" cy="54864"/>
          </a:xfrm>
          <a:prstGeom prst="ellipse">
            <a:avLst/>
          </a:prstGeom>
          <a:solidFill>
            <a:schemeClr val="accent1"/>
          </a:solidFill>
          <a:ln/>
        </p:spPr>
      </p:sp>
      <p:sp>
        <p:nvSpPr>
          <p:cNvPr id="248" name="TAF15 R535 stem"/>
          <p:cNvSpPr/>
          <p:nvPr/>
        </p:nvSpPr>
        <p:spPr>
          <a:xfrm>
            <a:off x="7381122" y="2798064"/>
            <a:ext cx="0" cy="128016"/>
          </a:xfrm>
          <a:prstGeom prst="line">
            <a:avLst/>
          </a:prstGeom>
          <a:noFill/>
          <a:ln w="12700">
            <a:solidFill>
              <a:schemeClr val="accent1"/>
            </a:solidFill>
            <a:prstDash val="solid"/>
          </a:ln>
        </p:spPr>
      </p:sp>
      <p:sp>
        <p:nvSpPr>
          <p:cNvPr id="249" name="TAF15 R535"/>
          <p:cNvSpPr/>
          <p:nvPr/>
        </p:nvSpPr>
        <p:spPr>
          <a:xfrm>
            <a:off x="7353690" y="2761488"/>
            <a:ext cx="54864" cy="54864"/>
          </a:xfrm>
          <a:prstGeom prst="ellipse">
            <a:avLst/>
          </a:prstGeom>
          <a:solidFill>
            <a:schemeClr val="accent1"/>
          </a:solidFill>
          <a:ln/>
        </p:spPr>
      </p:sp>
      <p:sp>
        <p:nvSpPr>
          <p:cNvPr id="250" name="TAF15 R545 stem"/>
          <p:cNvSpPr/>
          <p:nvPr/>
        </p:nvSpPr>
        <p:spPr>
          <a:xfrm>
            <a:off x="7483194" y="2798064"/>
            <a:ext cx="0" cy="128016"/>
          </a:xfrm>
          <a:prstGeom prst="line">
            <a:avLst/>
          </a:prstGeom>
          <a:noFill/>
          <a:ln w="12700">
            <a:solidFill>
              <a:schemeClr val="accent1"/>
            </a:solidFill>
            <a:prstDash val="solid"/>
          </a:ln>
        </p:spPr>
      </p:sp>
      <p:sp>
        <p:nvSpPr>
          <p:cNvPr id="251" name="TAF15 R545"/>
          <p:cNvSpPr/>
          <p:nvPr/>
        </p:nvSpPr>
        <p:spPr>
          <a:xfrm>
            <a:off x="7455762" y="2761488"/>
            <a:ext cx="54864" cy="54864"/>
          </a:xfrm>
          <a:prstGeom prst="ellipse">
            <a:avLst/>
          </a:prstGeom>
          <a:solidFill>
            <a:schemeClr val="accent1"/>
          </a:solidFill>
          <a:ln/>
        </p:spPr>
      </p:sp>
      <p:sp>
        <p:nvSpPr>
          <p:cNvPr id="252" name="TAF15 R553 stem"/>
          <p:cNvSpPr/>
          <p:nvPr/>
        </p:nvSpPr>
        <p:spPr>
          <a:xfrm>
            <a:off x="7564852" y="2798064"/>
            <a:ext cx="0" cy="128016"/>
          </a:xfrm>
          <a:prstGeom prst="line">
            <a:avLst/>
          </a:prstGeom>
          <a:noFill/>
          <a:ln w="12700">
            <a:solidFill>
              <a:schemeClr val="accent1"/>
            </a:solidFill>
            <a:prstDash val="solid"/>
          </a:ln>
        </p:spPr>
      </p:sp>
      <p:sp>
        <p:nvSpPr>
          <p:cNvPr id="253" name="TAF15 R553"/>
          <p:cNvSpPr/>
          <p:nvPr/>
        </p:nvSpPr>
        <p:spPr>
          <a:xfrm>
            <a:off x="7537420" y="2761488"/>
            <a:ext cx="54864" cy="54864"/>
          </a:xfrm>
          <a:prstGeom prst="ellipse">
            <a:avLst/>
          </a:prstGeom>
          <a:solidFill>
            <a:schemeClr val="accent1"/>
          </a:solidFill>
          <a:ln/>
        </p:spPr>
      </p:sp>
      <p:sp>
        <p:nvSpPr>
          <p:cNvPr id="254" name="TAF15 R562 stem"/>
          <p:cNvSpPr/>
          <p:nvPr/>
        </p:nvSpPr>
        <p:spPr>
          <a:xfrm>
            <a:off x="7656718" y="2798064"/>
            <a:ext cx="0" cy="128016"/>
          </a:xfrm>
          <a:prstGeom prst="line">
            <a:avLst/>
          </a:prstGeom>
          <a:noFill/>
          <a:ln w="12700">
            <a:solidFill>
              <a:schemeClr val="accent1"/>
            </a:solidFill>
            <a:prstDash val="solid"/>
          </a:ln>
        </p:spPr>
      </p:sp>
      <p:sp>
        <p:nvSpPr>
          <p:cNvPr id="255" name="TAF15 R562"/>
          <p:cNvSpPr/>
          <p:nvPr/>
        </p:nvSpPr>
        <p:spPr>
          <a:xfrm>
            <a:off x="7629286" y="2761488"/>
            <a:ext cx="54864" cy="54864"/>
          </a:xfrm>
          <a:prstGeom prst="ellipse">
            <a:avLst/>
          </a:prstGeom>
          <a:solidFill>
            <a:schemeClr val="accent1"/>
          </a:solidFill>
          <a:ln/>
        </p:spPr>
      </p:sp>
      <p:sp>
        <p:nvSpPr>
          <p:cNvPr id="256" name="TAF15 R570 stem"/>
          <p:cNvSpPr/>
          <p:nvPr/>
        </p:nvSpPr>
        <p:spPr>
          <a:xfrm>
            <a:off x="7738376" y="2798064"/>
            <a:ext cx="0" cy="128016"/>
          </a:xfrm>
          <a:prstGeom prst="line">
            <a:avLst/>
          </a:prstGeom>
          <a:noFill/>
          <a:ln w="12700">
            <a:solidFill>
              <a:schemeClr val="accent1"/>
            </a:solidFill>
            <a:prstDash val="solid"/>
          </a:ln>
        </p:spPr>
      </p:sp>
      <p:sp>
        <p:nvSpPr>
          <p:cNvPr id="257" name="TAF15 R570"/>
          <p:cNvSpPr/>
          <p:nvPr/>
        </p:nvSpPr>
        <p:spPr>
          <a:xfrm>
            <a:off x="7710944" y="2761488"/>
            <a:ext cx="54864" cy="54864"/>
          </a:xfrm>
          <a:prstGeom prst="ellipse">
            <a:avLst/>
          </a:prstGeom>
          <a:solidFill>
            <a:schemeClr val="accent1"/>
          </a:solidFill>
          <a:ln/>
        </p:spPr>
      </p:sp>
      <p:sp>
        <p:nvSpPr>
          <p:cNvPr id="258" name="TAF15 R580 stem"/>
          <p:cNvSpPr/>
          <p:nvPr/>
        </p:nvSpPr>
        <p:spPr>
          <a:xfrm>
            <a:off x="7840448" y="2798064"/>
            <a:ext cx="0" cy="128016"/>
          </a:xfrm>
          <a:prstGeom prst="line">
            <a:avLst/>
          </a:prstGeom>
          <a:noFill/>
          <a:ln w="12700">
            <a:solidFill>
              <a:schemeClr val="accent1"/>
            </a:solidFill>
            <a:prstDash val="solid"/>
          </a:ln>
        </p:spPr>
      </p:sp>
      <p:sp>
        <p:nvSpPr>
          <p:cNvPr id="259" name="TAF15 R580"/>
          <p:cNvSpPr/>
          <p:nvPr/>
        </p:nvSpPr>
        <p:spPr>
          <a:xfrm>
            <a:off x="7813016" y="2761488"/>
            <a:ext cx="54864" cy="54864"/>
          </a:xfrm>
          <a:prstGeom prst="ellipse">
            <a:avLst/>
          </a:prstGeom>
          <a:solidFill>
            <a:schemeClr val="accent1"/>
          </a:solidFill>
          <a:ln/>
        </p:spPr>
      </p:sp>
      <p:sp>
        <p:nvSpPr>
          <p:cNvPr id="260" name="TAF15 site count"/>
          <p:cNvSpPr txBox="1"/>
          <p:nvPr/>
        </p:nvSpPr>
        <p:spPr>
          <a:xfrm>
            <a:off x="8072663" y="2926080"/>
            <a:ext cx="2377440" cy="292608"/>
          </a:xfrm>
          <a:prstGeom prst="rect">
            <a:avLst/>
          </a:prstGeom>
          <a:noFill/>
          <a:ln/>
        </p:spPr>
        <p:txBody>
          <a:bodyPr wrap="square" lIns="0" tIns="0" rIns="0" bIns="0" rtlCol="0" anchor="ctr"/>
          <a:lstStyle/>
          <a:p>
            <a:pPr indent="0" marL="0">
              <a:buNone/>
            </a:pPr>
            <a:r>
              <a:rPr lang="en-US" sz="1400" b="1" dirty="0">
                <a:solidFill>
                  <a:schemeClr val="accent1"/>
                </a:solidFill>
              </a:rPr>
              <a:t>41 sites</a:t>
            </a:r>
            <a:endParaRPr lang="en-US" sz="1400" dirty="0"/>
          </a:p>
        </p:txBody>
      </p:sp>
      <p:sp>
        <p:nvSpPr>
          <p:cNvPr id="261" name="TDP-43 name"/>
          <p:cNvSpPr txBox="1"/>
          <p:nvPr/>
        </p:nvSpPr>
        <p:spPr>
          <a:xfrm>
            <a:off x="457200" y="3419856"/>
            <a:ext cx="1325880" cy="365760"/>
          </a:xfrm>
          <a:prstGeom prst="rect">
            <a:avLst/>
          </a:prstGeom>
          <a:noFill/>
          <a:ln/>
        </p:spPr>
        <p:txBody>
          <a:bodyPr wrap="square" lIns="0" tIns="0" rIns="0" bIns="0" rtlCol="0" anchor="ctr"/>
          <a:lstStyle/>
          <a:p>
            <a:pPr algn="r" indent="0" marL="0">
              <a:buNone/>
            </a:pPr>
            <a:r>
              <a:rPr lang="en-US" sz="1600" b="1" dirty="0">
                <a:solidFill>
                  <a:schemeClr val="tx1"/>
                </a:solidFill>
              </a:rPr>
              <a:t>TDP-43</a:t>
            </a:r>
            <a:endParaRPr lang="en-US" sz="1600" dirty="0"/>
          </a:p>
        </p:txBody>
      </p:sp>
      <p:sp>
        <p:nvSpPr>
          <p:cNvPr id="262" name="TDP-43 backbone"/>
          <p:cNvSpPr/>
          <p:nvPr/>
        </p:nvSpPr>
        <p:spPr>
          <a:xfrm>
            <a:off x="1920240" y="3566160"/>
            <a:ext cx="4225804" cy="73152"/>
          </a:xfrm>
          <a:prstGeom prst="rect">
            <a:avLst/>
          </a:prstGeom>
          <a:solidFill>
            <a:srgbClr val="B8BEC9"/>
          </a:solidFill>
          <a:ln/>
        </p:spPr>
      </p:sp>
      <p:sp>
        <p:nvSpPr>
          <p:cNvPr id="263" name="TDP-43 Gly residues 275-303"/>
          <p:cNvSpPr/>
          <p:nvPr/>
        </p:nvSpPr>
        <p:spPr>
          <a:xfrm>
            <a:off x="4727235" y="3493008"/>
            <a:ext cx="285803" cy="219456"/>
          </a:xfrm>
          <a:prstGeom prst="rect">
            <a:avLst/>
          </a:prstGeom>
          <a:solidFill>
            <a:schemeClr val="accent5"/>
          </a:solidFill>
          <a:ln/>
        </p:spPr>
      </p:sp>
      <p:sp>
        <p:nvSpPr>
          <p:cNvPr id="264" name="TDP-43 Low complexity 342-358"/>
          <p:cNvSpPr/>
          <p:nvPr/>
        </p:nvSpPr>
        <p:spPr>
          <a:xfrm>
            <a:off x="5411121" y="3493008"/>
            <a:ext cx="163316" cy="219456"/>
          </a:xfrm>
          <a:prstGeom prst="rect">
            <a:avLst/>
          </a:prstGeom>
          <a:solidFill>
            <a:schemeClr val="accent5"/>
          </a:solidFill>
          <a:ln/>
        </p:spPr>
      </p:sp>
      <p:sp>
        <p:nvSpPr>
          <p:cNvPr id="265" name="TDP-43 RRM 104-200"/>
          <p:cNvSpPr/>
          <p:nvPr/>
        </p:nvSpPr>
        <p:spPr>
          <a:xfrm>
            <a:off x="2981795" y="3465576"/>
            <a:ext cx="979897"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RRM</a:t>
            </a:r>
            <a:endParaRPr lang="en-US" sz="1000" dirty="0"/>
          </a:p>
        </p:txBody>
      </p:sp>
      <p:sp>
        <p:nvSpPr>
          <p:cNvPr id="266" name="TDP-43 RRM 191-262"/>
          <p:cNvSpPr/>
          <p:nvPr/>
        </p:nvSpPr>
        <p:spPr>
          <a:xfrm>
            <a:off x="3869826" y="3465576"/>
            <a:ext cx="724715"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RRM</a:t>
            </a:r>
            <a:endParaRPr lang="en-US" sz="1000" dirty="0"/>
          </a:p>
        </p:txBody>
      </p:sp>
      <p:sp>
        <p:nvSpPr>
          <p:cNvPr id="267" name="TDP-43 R275 stem"/>
          <p:cNvSpPr/>
          <p:nvPr/>
        </p:nvSpPr>
        <p:spPr>
          <a:xfrm>
            <a:off x="4727235" y="3328416"/>
            <a:ext cx="0" cy="128016"/>
          </a:xfrm>
          <a:prstGeom prst="line">
            <a:avLst/>
          </a:prstGeom>
          <a:noFill/>
          <a:ln w="12700">
            <a:solidFill>
              <a:schemeClr val="accent1"/>
            </a:solidFill>
            <a:prstDash val="solid"/>
          </a:ln>
        </p:spPr>
      </p:sp>
      <p:sp>
        <p:nvSpPr>
          <p:cNvPr id="268" name="TDP-43 R275"/>
          <p:cNvSpPr/>
          <p:nvPr/>
        </p:nvSpPr>
        <p:spPr>
          <a:xfrm>
            <a:off x="4699803" y="3291840"/>
            <a:ext cx="54864" cy="54864"/>
          </a:xfrm>
          <a:prstGeom prst="ellipse">
            <a:avLst/>
          </a:prstGeom>
          <a:solidFill>
            <a:schemeClr val="accent1"/>
          </a:solidFill>
          <a:ln/>
        </p:spPr>
      </p:sp>
      <p:sp>
        <p:nvSpPr>
          <p:cNvPr id="269" name="TDP-43 R293 stem"/>
          <p:cNvSpPr/>
          <p:nvPr/>
        </p:nvSpPr>
        <p:spPr>
          <a:xfrm>
            <a:off x="4910966" y="3328416"/>
            <a:ext cx="0" cy="128016"/>
          </a:xfrm>
          <a:prstGeom prst="line">
            <a:avLst/>
          </a:prstGeom>
          <a:noFill/>
          <a:ln w="12700">
            <a:solidFill>
              <a:schemeClr val="accent1"/>
            </a:solidFill>
            <a:prstDash val="solid"/>
          </a:ln>
        </p:spPr>
      </p:sp>
      <p:sp>
        <p:nvSpPr>
          <p:cNvPr id="270" name="TDP-43 R293"/>
          <p:cNvSpPr/>
          <p:nvPr/>
        </p:nvSpPr>
        <p:spPr>
          <a:xfrm>
            <a:off x="4883534" y="3291840"/>
            <a:ext cx="54864" cy="54864"/>
          </a:xfrm>
          <a:prstGeom prst="ellipse">
            <a:avLst/>
          </a:prstGeom>
          <a:solidFill>
            <a:schemeClr val="accent1"/>
          </a:solidFill>
          <a:ln/>
        </p:spPr>
      </p:sp>
      <p:sp>
        <p:nvSpPr>
          <p:cNvPr id="271" name="TDP-43 site count"/>
          <p:cNvSpPr txBox="1"/>
          <p:nvPr/>
        </p:nvSpPr>
        <p:spPr>
          <a:xfrm>
            <a:off x="6255772" y="3456432"/>
            <a:ext cx="2377440" cy="292608"/>
          </a:xfrm>
          <a:prstGeom prst="rect">
            <a:avLst/>
          </a:prstGeom>
          <a:noFill/>
          <a:ln/>
        </p:spPr>
        <p:txBody>
          <a:bodyPr wrap="square" lIns="0" tIns="0" rIns="0" bIns="0" rtlCol="0" anchor="ctr"/>
          <a:lstStyle/>
          <a:p>
            <a:pPr indent="0" marL="0">
              <a:buNone/>
            </a:pPr>
            <a:r>
              <a:rPr lang="en-US" sz="1400" b="1" dirty="0">
                <a:solidFill>
                  <a:schemeClr val="accent1"/>
                </a:solidFill>
              </a:rPr>
              <a:t>2 sites (R275, R293)</a:t>
            </a:r>
            <a:endParaRPr lang="en-US" sz="1400" dirty="0"/>
          </a:p>
        </p:txBody>
      </p:sp>
      <p:sp>
        <p:nvSpPr>
          <p:cNvPr id="272" name="hnRNPA1 name"/>
          <p:cNvSpPr txBox="1"/>
          <p:nvPr/>
        </p:nvSpPr>
        <p:spPr>
          <a:xfrm>
            <a:off x="457200" y="3950208"/>
            <a:ext cx="1325880" cy="365760"/>
          </a:xfrm>
          <a:prstGeom prst="rect">
            <a:avLst/>
          </a:prstGeom>
          <a:noFill/>
          <a:ln/>
        </p:spPr>
        <p:txBody>
          <a:bodyPr wrap="square" lIns="0" tIns="0" rIns="0" bIns="0" rtlCol="0" anchor="ctr"/>
          <a:lstStyle/>
          <a:p>
            <a:pPr algn="r" indent="0" marL="0">
              <a:buNone/>
            </a:pPr>
            <a:r>
              <a:rPr lang="en-US" sz="1600" b="1" dirty="0">
                <a:solidFill>
                  <a:schemeClr val="tx1"/>
                </a:solidFill>
              </a:rPr>
              <a:t>hnRNPA1</a:t>
            </a:r>
            <a:endParaRPr lang="en-US" sz="1600" dirty="0"/>
          </a:p>
        </p:txBody>
      </p:sp>
      <p:sp>
        <p:nvSpPr>
          <p:cNvPr id="273" name="hnRNPA1 backbone"/>
          <p:cNvSpPr/>
          <p:nvPr/>
        </p:nvSpPr>
        <p:spPr>
          <a:xfrm>
            <a:off x="1920240" y="4096512"/>
            <a:ext cx="3797099" cy="73152"/>
          </a:xfrm>
          <a:prstGeom prst="rect">
            <a:avLst/>
          </a:prstGeom>
          <a:solidFill>
            <a:srgbClr val="B8BEC9"/>
          </a:solidFill>
          <a:ln/>
        </p:spPr>
      </p:sp>
      <p:sp>
        <p:nvSpPr>
          <p:cNvPr id="274" name="hnRNPA1 RNA-binding RGG-box 218-240"/>
          <p:cNvSpPr/>
          <p:nvPr/>
        </p:nvSpPr>
        <p:spPr>
          <a:xfrm>
            <a:off x="4145422" y="4023360"/>
            <a:ext cx="224560" cy="219456"/>
          </a:xfrm>
          <a:prstGeom prst="rect">
            <a:avLst/>
          </a:prstGeom>
          <a:solidFill>
            <a:schemeClr val="accent5"/>
          </a:solidFill>
          <a:ln/>
        </p:spPr>
      </p:sp>
      <p:sp>
        <p:nvSpPr>
          <p:cNvPr id="275" name="hnRNPA1 Gly residues 197-216"/>
          <p:cNvSpPr/>
          <p:nvPr/>
        </p:nvSpPr>
        <p:spPr>
          <a:xfrm>
            <a:off x="3931069" y="4023360"/>
            <a:ext cx="193938" cy="219456"/>
          </a:xfrm>
          <a:prstGeom prst="rect">
            <a:avLst/>
          </a:prstGeom>
          <a:solidFill>
            <a:schemeClr val="accent5"/>
          </a:solidFill>
          <a:ln/>
        </p:spPr>
      </p:sp>
      <p:sp>
        <p:nvSpPr>
          <p:cNvPr id="276" name="hnRNPA1 Gly residues 328-346"/>
          <p:cNvSpPr/>
          <p:nvPr/>
        </p:nvSpPr>
        <p:spPr>
          <a:xfrm>
            <a:off x="5268220" y="4023360"/>
            <a:ext cx="183731" cy="219456"/>
          </a:xfrm>
          <a:prstGeom prst="rect">
            <a:avLst/>
          </a:prstGeom>
          <a:solidFill>
            <a:schemeClr val="accent5"/>
          </a:solidFill>
          <a:ln/>
        </p:spPr>
      </p:sp>
      <p:sp>
        <p:nvSpPr>
          <p:cNvPr id="277" name="hnRNPA1 Low complexity 360-372"/>
          <p:cNvSpPr/>
          <p:nvPr/>
        </p:nvSpPr>
        <p:spPr>
          <a:xfrm>
            <a:off x="5594852" y="4023360"/>
            <a:ext cx="122487" cy="219456"/>
          </a:xfrm>
          <a:prstGeom prst="rect">
            <a:avLst/>
          </a:prstGeom>
          <a:solidFill>
            <a:schemeClr val="accent5"/>
          </a:solidFill>
          <a:ln/>
        </p:spPr>
      </p:sp>
      <p:sp>
        <p:nvSpPr>
          <p:cNvPr id="278" name="hnRNPA1 RRM 14-97"/>
          <p:cNvSpPr/>
          <p:nvPr/>
        </p:nvSpPr>
        <p:spPr>
          <a:xfrm>
            <a:off x="2063142" y="3995928"/>
            <a:ext cx="847202"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RRM</a:t>
            </a:r>
            <a:endParaRPr lang="en-US" sz="1000" dirty="0"/>
          </a:p>
        </p:txBody>
      </p:sp>
      <p:sp>
        <p:nvSpPr>
          <p:cNvPr id="279" name="hnRNPA1 RRM 105-184"/>
          <p:cNvSpPr/>
          <p:nvPr/>
        </p:nvSpPr>
        <p:spPr>
          <a:xfrm>
            <a:off x="2992002" y="3995928"/>
            <a:ext cx="806373"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RRM</a:t>
            </a:r>
            <a:endParaRPr lang="en-US" sz="1000" dirty="0"/>
          </a:p>
        </p:txBody>
      </p:sp>
      <p:sp>
        <p:nvSpPr>
          <p:cNvPr id="280" name="hnRNPA1 R14 stem"/>
          <p:cNvSpPr/>
          <p:nvPr/>
        </p:nvSpPr>
        <p:spPr>
          <a:xfrm>
            <a:off x="2063142" y="3858768"/>
            <a:ext cx="0" cy="128016"/>
          </a:xfrm>
          <a:prstGeom prst="line">
            <a:avLst/>
          </a:prstGeom>
          <a:noFill/>
          <a:ln w="12700">
            <a:solidFill>
              <a:schemeClr val="accent1"/>
            </a:solidFill>
            <a:prstDash val="solid"/>
          </a:ln>
        </p:spPr>
      </p:sp>
      <p:sp>
        <p:nvSpPr>
          <p:cNvPr id="281" name="hnRNPA1 R14"/>
          <p:cNvSpPr/>
          <p:nvPr/>
        </p:nvSpPr>
        <p:spPr>
          <a:xfrm>
            <a:off x="2035710" y="3822192"/>
            <a:ext cx="54864" cy="54864"/>
          </a:xfrm>
          <a:prstGeom prst="ellipse">
            <a:avLst/>
          </a:prstGeom>
          <a:solidFill>
            <a:schemeClr val="accent1"/>
          </a:solidFill>
          <a:ln/>
        </p:spPr>
      </p:sp>
      <p:sp>
        <p:nvSpPr>
          <p:cNvPr id="282" name="hnRNPA1 R31 stem"/>
          <p:cNvSpPr/>
          <p:nvPr/>
        </p:nvSpPr>
        <p:spPr>
          <a:xfrm>
            <a:off x="2236665" y="3858768"/>
            <a:ext cx="0" cy="128016"/>
          </a:xfrm>
          <a:prstGeom prst="line">
            <a:avLst/>
          </a:prstGeom>
          <a:noFill/>
          <a:ln w="12700">
            <a:solidFill>
              <a:schemeClr val="accent1"/>
            </a:solidFill>
            <a:prstDash val="solid"/>
          </a:ln>
        </p:spPr>
      </p:sp>
      <p:sp>
        <p:nvSpPr>
          <p:cNvPr id="283" name="hnRNPA1 R31"/>
          <p:cNvSpPr/>
          <p:nvPr/>
        </p:nvSpPr>
        <p:spPr>
          <a:xfrm>
            <a:off x="2209233" y="3822192"/>
            <a:ext cx="54864" cy="54864"/>
          </a:xfrm>
          <a:prstGeom prst="ellipse">
            <a:avLst/>
          </a:prstGeom>
          <a:solidFill>
            <a:schemeClr val="accent1"/>
          </a:solidFill>
          <a:ln/>
        </p:spPr>
      </p:sp>
      <p:sp>
        <p:nvSpPr>
          <p:cNvPr id="284" name="hnRNPA1 R53 stem"/>
          <p:cNvSpPr/>
          <p:nvPr/>
        </p:nvSpPr>
        <p:spPr>
          <a:xfrm>
            <a:off x="2461225" y="3858768"/>
            <a:ext cx="0" cy="128016"/>
          </a:xfrm>
          <a:prstGeom prst="line">
            <a:avLst/>
          </a:prstGeom>
          <a:noFill/>
          <a:ln w="12700">
            <a:solidFill>
              <a:schemeClr val="accent1"/>
            </a:solidFill>
            <a:prstDash val="solid"/>
          </a:ln>
        </p:spPr>
      </p:sp>
      <p:sp>
        <p:nvSpPr>
          <p:cNvPr id="285" name="hnRNPA1 R53"/>
          <p:cNvSpPr/>
          <p:nvPr/>
        </p:nvSpPr>
        <p:spPr>
          <a:xfrm>
            <a:off x="2433793" y="3822192"/>
            <a:ext cx="54864" cy="54864"/>
          </a:xfrm>
          <a:prstGeom prst="ellipse">
            <a:avLst/>
          </a:prstGeom>
          <a:solidFill>
            <a:schemeClr val="accent1"/>
          </a:solidFill>
          <a:ln/>
        </p:spPr>
      </p:sp>
      <p:sp>
        <p:nvSpPr>
          <p:cNvPr id="286" name="hnRNPA1 R55 stem"/>
          <p:cNvSpPr/>
          <p:nvPr/>
        </p:nvSpPr>
        <p:spPr>
          <a:xfrm>
            <a:off x="2481639" y="3858768"/>
            <a:ext cx="0" cy="128016"/>
          </a:xfrm>
          <a:prstGeom prst="line">
            <a:avLst/>
          </a:prstGeom>
          <a:noFill/>
          <a:ln w="12700">
            <a:solidFill>
              <a:schemeClr val="accent1"/>
            </a:solidFill>
            <a:prstDash val="solid"/>
          </a:ln>
        </p:spPr>
      </p:sp>
      <p:sp>
        <p:nvSpPr>
          <p:cNvPr id="287" name="hnRNPA1 R55"/>
          <p:cNvSpPr/>
          <p:nvPr/>
        </p:nvSpPr>
        <p:spPr>
          <a:xfrm>
            <a:off x="2454207" y="3822192"/>
            <a:ext cx="54864" cy="54864"/>
          </a:xfrm>
          <a:prstGeom prst="ellipse">
            <a:avLst/>
          </a:prstGeom>
          <a:solidFill>
            <a:schemeClr val="accent1"/>
          </a:solidFill>
          <a:ln/>
        </p:spPr>
      </p:sp>
      <p:sp>
        <p:nvSpPr>
          <p:cNvPr id="288" name="hnRNPA1 R88 stem"/>
          <p:cNvSpPr/>
          <p:nvPr/>
        </p:nvSpPr>
        <p:spPr>
          <a:xfrm>
            <a:off x="2818479" y="3858768"/>
            <a:ext cx="0" cy="128016"/>
          </a:xfrm>
          <a:prstGeom prst="line">
            <a:avLst/>
          </a:prstGeom>
          <a:noFill/>
          <a:ln w="12700">
            <a:solidFill>
              <a:schemeClr val="accent1"/>
            </a:solidFill>
            <a:prstDash val="solid"/>
          </a:ln>
        </p:spPr>
      </p:sp>
      <p:sp>
        <p:nvSpPr>
          <p:cNvPr id="289" name="hnRNPA1 R88"/>
          <p:cNvSpPr/>
          <p:nvPr/>
        </p:nvSpPr>
        <p:spPr>
          <a:xfrm>
            <a:off x="2791047" y="3822192"/>
            <a:ext cx="54864" cy="54864"/>
          </a:xfrm>
          <a:prstGeom prst="ellipse">
            <a:avLst/>
          </a:prstGeom>
          <a:solidFill>
            <a:schemeClr val="accent1"/>
          </a:solidFill>
          <a:ln/>
        </p:spPr>
      </p:sp>
      <p:sp>
        <p:nvSpPr>
          <p:cNvPr id="290" name="hnRNPA1 R122 stem"/>
          <p:cNvSpPr/>
          <p:nvPr/>
        </p:nvSpPr>
        <p:spPr>
          <a:xfrm>
            <a:off x="3165525" y="3858768"/>
            <a:ext cx="0" cy="128016"/>
          </a:xfrm>
          <a:prstGeom prst="line">
            <a:avLst/>
          </a:prstGeom>
          <a:noFill/>
          <a:ln w="12700">
            <a:solidFill>
              <a:schemeClr val="accent1"/>
            </a:solidFill>
            <a:prstDash val="solid"/>
          </a:ln>
        </p:spPr>
      </p:sp>
      <p:sp>
        <p:nvSpPr>
          <p:cNvPr id="291" name="hnRNPA1 R122"/>
          <p:cNvSpPr/>
          <p:nvPr/>
        </p:nvSpPr>
        <p:spPr>
          <a:xfrm>
            <a:off x="3138093" y="3822192"/>
            <a:ext cx="54864" cy="54864"/>
          </a:xfrm>
          <a:prstGeom prst="ellipse">
            <a:avLst/>
          </a:prstGeom>
          <a:solidFill>
            <a:schemeClr val="accent1"/>
          </a:solidFill>
          <a:ln/>
        </p:spPr>
      </p:sp>
      <p:sp>
        <p:nvSpPr>
          <p:cNvPr id="292" name="hnRNPA1 R140 stem"/>
          <p:cNvSpPr/>
          <p:nvPr/>
        </p:nvSpPr>
        <p:spPr>
          <a:xfrm>
            <a:off x="3349256" y="3858768"/>
            <a:ext cx="0" cy="128016"/>
          </a:xfrm>
          <a:prstGeom prst="line">
            <a:avLst/>
          </a:prstGeom>
          <a:noFill/>
          <a:ln w="12700">
            <a:solidFill>
              <a:schemeClr val="accent1"/>
            </a:solidFill>
            <a:prstDash val="solid"/>
          </a:ln>
        </p:spPr>
      </p:sp>
      <p:sp>
        <p:nvSpPr>
          <p:cNvPr id="293" name="hnRNPA1 R140"/>
          <p:cNvSpPr/>
          <p:nvPr/>
        </p:nvSpPr>
        <p:spPr>
          <a:xfrm>
            <a:off x="3321824" y="3822192"/>
            <a:ext cx="54864" cy="54864"/>
          </a:xfrm>
          <a:prstGeom prst="ellipse">
            <a:avLst/>
          </a:prstGeom>
          <a:solidFill>
            <a:schemeClr val="accent1"/>
          </a:solidFill>
          <a:ln/>
        </p:spPr>
      </p:sp>
      <p:sp>
        <p:nvSpPr>
          <p:cNvPr id="294" name="hnRNPA1 R146 stem"/>
          <p:cNvSpPr/>
          <p:nvPr/>
        </p:nvSpPr>
        <p:spPr>
          <a:xfrm>
            <a:off x="3410499" y="3858768"/>
            <a:ext cx="0" cy="128016"/>
          </a:xfrm>
          <a:prstGeom prst="line">
            <a:avLst/>
          </a:prstGeom>
          <a:noFill/>
          <a:ln w="12700">
            <a:solidFill>
              <a:schemeClr val="accent1"/>
            </a:solidFill>
            <a:prstDash val="solid"/>
          </a:ln>
        </p:spPr>
      </p:sp>
      <p:sp>
        <p:nvSpPr>
          <p:cNvPr id="295" name="hnRNPA1 R146"/>
          <p:cNvSpPr/>
          <p:nvPr/>
        </p:nvSpPr>
        <p:spPr>
          <a:xfrm>
            <a:off x="3383067" y="3822192"/>
            <a:ext cx="54864" cy="54864"/>
          </a:xfrm>
          <a:prstGeom prst="ellipse">
            <a:avLst/>
          </a:prstGeom>
          <a:solidFill>
            <a:schemeClr val="accent1"/>
          </a:solidFill>
          <a:ln/>
        </p:spPr>
      </p:sp>
      <p:sp>
        <p:nvSpPr>
          <p:cNvPr id="296" name="hnRNPA1 R178 stem"/>
          <p:cNvSpPr/>
          <p:nvPr/>
        </p:nvSpPr>
        <p:spPr>
          <a:xfrm>
            <a:off x="3737132" y="3858768"/>
            <a:ext cx="0" cy="128016"/>
          </a:xfrm>
          <a:prstGeom prst="line">
            <a:avLst/>
          </a:prstGeom>
          <a:noFill/>
          <a:ln w="12700">
            <a:solidFill>
              <a:schemeClr val="accent1"/>
            </a:solidFill>
            <a:prstDash val="solid"/>
          </a:ln>
        </p:spPr>
      </p:sp>
      <p:sp>
        <p:nvSpPr>
          <p:cNvPr id="297" name="hnRNPA1 R178"/>
          <p:cNvSpPr/>
          <p:nvPr/>
        </p:nvSpPr>
        <p:spPr>
          <a:xfrm>
            <a:off x="3709700" y="3822192"/>
            <a:ext cx="54864" cy="54864"/>
          </a:xfrm>
          <a:prstGeom prst="ellipse">
            <a:avLst/>
          </a:prstGeom>
          <a:solidFill>
            <a:schemeClr val="accent1"/>
          </a:solidFill>
          <a:ln/>
        </p:spPr>
      </p:sp>
      <p:sp>
        <p:nvSpPr>
          <p:cNvPr id="298" name="hnRNPA1 R194 stem"/>
          <p:cNvSpPr/>
          <p:nvPr/>
        </p:nvSpPr>
        <p:spPr>
          <a:xfrm>
            <a:off x="3900448" y="3858768"/>
            <a:ext cx="0" cy="128016"/>
          </a:xfrm>
          <a:prstGeom prst="line">
            <a:avLst/>
          </a:prstGeom>
          <a:noFill/>
          <a:ln w="12700">
            <a:solidFill>
              <a:schemeClr val="accent1"/>
            </a:solidFill>
            <a:prstDash val="solid"/>
          </a:ln>
        </p:spPr>
      </p:sp>
      <p:sp>
        <p:nvSpPr>
          <p:cNvPr id="299" name="hnRNPA1 R194"/>
          <p:cNvSpPr/>
          <p:nvPr/>
        </p:nvSpPr>
        <p:spPr>
          <a:xfrm>
            <a:off x="3873016" y="3822192"/>
            <a:ext cx="54864" cy="54864"/>
          </a:xfrm>
          <a:prstGeom prst="ellipse">
            <a:avLst/>
          </a:prstGeom>
          <a:solidFill>
            <a:schemeClr val="accent1"/>
          </a:solidFill>
          <a:ln/>
        </p:spPr>
      </p:sp>
      <p:sp>
        <p:nvSpPr>
          <p:cNvPr id="300" name="hnRNPA1 R196 stem"/>
          <p:cNvSpPr/>
          <p:nvPr/>
        </p:nvSpPr>
        <p:spPr>
          <a:xfrm>
            <a:off x="3920862" y="3858768"/>
            <a:ext cx="0" cy="128016"/>
          </a:xfrm>
          <a:prstGeom prst="line">
            <a:avLst/>
          </a:prstGeom>
          <a:noFill/>
          <a:ln w="12700">
            <a:solidFill>
              <a:schemeClr val="accent1"/>
            </a:solidFill>
            <a:prstDash val="solid"/>
          </a:ln>
        </p:spPr>
      </p:sp>
      <p:sp>
        <p:nvSpPr>
          <p:cNvPr id="301" name="hnRNPA1 R196"/>
          <p:cNvSpPr/>
          <p:nvPr/>
        </p:nvSpPr>
        <p:spPr>
          <a:xfrm>
            <a:off x="3893430" y="3822192"/>
            <a:ext cx="54864" cy="54864"/>
          </a:xfrm>
          <a:prstGeom prst="ellipse">
            <a:avLst/>
          </a:prstGeom>
          <a:solidFill>
            <a:schemeClr val="accent1"/>
          </a:solidFill>
          <a:ln/>
        </p:spPr>
      </p:sp>
      <p:sp>
        <p:nvSpPr>
          <p:cNvPr id="302" name="hnRNPA1 R206 stem"/>
          <p:cNvSpPr/>
          <p:nvPr/>
        </p:nvSpPr>
        <p:spPr>
          <a:xfrm>
            <a:off x="4022935" y="3858768"/>
            <a:ext cx="0" cy="128016"/>
          </a:xfrm>
          <a:prstGeom prst="line">
            <a:avLst/>
          </a:prstGeom>
          <a:noFill/>
          <a:ln w="12700">
            <a:solidFill>
              <a:schemeClr val="accent1"/>
            </a:solidFill>
            <a:prstDash val="solid"/>
          </a:ln>
        </p:spPr>
      </p:sp>
      <p:sp>
        <p:nvSpPr>
          <p:cNvPr id="303" name="hnRNPA1 R206"/>
          <p:cNvSpPr/>
          <p:nvPr/>
        </p:nvSpPr>
        <p:spPr>
          <a:xfrm>
            <a:off x="3995503" y="3822192"/>
            <a:ext cx="54864" cy="54864"/>
          </a:xfrm>
          <a:prstGeom prst="ellipse">
            <a:avLst/>
          </a:prstGeom>
          <a:solidFill>
            <a:schemeClr val="accent1"/>
          </a:solidFill>
          <a:ln/>
        </p:spPr>
      </p:sp>
      <p:sp>
        <p:nvSpPr>
          <p:cNvPr id="304" name="hnRNPA1 R218 stem"/>
          <p:cNvSpPr/>
          <p:nvPr/>
        </p:nvSpPr>
        <p:spPr>
          <a:xfrm>
            <a:off x="4145422" y="3858768"/>
            <a:ext cx="0" cy="128016"/>
          </a:xfrm>
          <a:prstGeom prst="line">
            <a:avLst/>
          </a:prstGeom>
          <a:noFill/>
          <a:ln w="12700">
            <a:solidFill>
              <a:schemeClr val="accent1"/>
            </a:solidFill>
            <a:prstDash val="solid"/>
          </a:ln>
        </p:spPr>
      </p:sp>
      <p:sp>
        <p:nvSpPr>
          <p:cNvPr id="305" name="hnRNPA1 R218"/>
          <p:cNvSpPr/>
          <p:nvPr/>
        </p:nvSpPr>
        <p:spPr>
          <a:xfrm>
            <a:off x="4117990" y="3822192"/>
            <a:ext cx="54864" cy="54864"/>
          </a:xfrm>
          <a:prstGeom prst="ellipse">
            <a:avLst/>
          </a:prstGeom>
          <a:solidFill>
            <a:schemeClr val="accent1"/>
          </a:solidFill>
          <a:ln/>
        </p:spPr>
      </p:sp>
      <p:sp>
        <p:nvSpPr>
          <p:cNvPr id="306" name="hnRNPA1 R225 stem"/>
          <p:cNvSpPr/>
          <p:nvPr/>
        </p:nvSpPr>
        <p:spPr>
          <a:xfrm>
            <a:off x="4216873" y="3858768"/>
            <a:ext cx="0" cy="128016"/>
          </a:xfrm>
          <a:prstGeom prst="line">
            <a:avLst/>
          </a:prstGeom>
          <a:noFill/>
          <a:ln w="12700">
            <a:solidFill>
              <a:schemeClr val="accent1"/>
            </a:solidFill>
            <a:prstDash val="solid"/>
          </a:ln>
        </p:spPr>
      </p:sp>
      <p:sp>
        <p:nvSpPr>
          <p:cNvPr id="307" name="hnRNPA1 R225"/>
          <p:cNvSpPr/>
          <p:nvPr/>
        </p:nvSpPr>
        <p:spPr>
          <a:xfrm>
            <a:off x="4189441" y="3822192"/>
            <a:ext cx="54864" cy="54864"/>
          </a:xfrm>
          <a:prstGeom prst="ellipse">
            <a:avLst/>
          </a:prstGeom>
          <a:solidFill>
            <a:schemeClr val="accent1"/>
          </a:solidFill>
          <a:ln/>
        </p:spPr>
      </p:sp>
      <p:sp>
        <p:nvSpPr>
          <p:cNvPr id="308" name="hnRNPA1 R232 stem"/>
          <p:cNvSpPr/>
          <p:nvPr/>
        </p:nvSpPr>
        <p:spPr>
          <a:xfrm>
            <a:off x="4288323" y="3858768"/>
            <a:ext cx="0" cy="128016"/>
          </a:xfrm>
          <a:prstGeom prst="line">
            <a:avLst/>
          </a:prstGeom>
          <a:noFill/>
          <a:ln w="12700">
            <a:solidFill>
              <a:schemeClr val="accent1"/>
            </a:solidFill>
            <a:prstDash val="solid"/>
          </a:ln>
        </p:spPr>
      </p:sp>
      <p:sp>
        <p:nvSpPr>
          <p:cNvPr id="309" name="hnRNPA1 R232"/>
          <p:cNvSpPr/>
          <p:nvPr/>
        </p:nvSpPr>
        <p:spPr>
          <a:xfrm>
            <a:off x="4260891" y="3822192"/>
            <a:ext cx="54864" cy="54864"/>
          </a:xfrm>
          <a:prstGeom prst="ellipse">
            <a:avLst/>
          </a:prstGeom>
          <a:solidFill>
            <a:schemeClr val="accent1"/>
          </a:solidFill>
          <a:ln/>
        </p:spPr>
      </p:sp>
      <p:sp>
        <p:nvSpPr>
          <p:cNvPr id="310" name="hnRNPA1 R265 stem"/>
          <p:cNvSpPr/>
          <p:nvPr/>
        </p:nvSpPr>
        <p:spPr>
          <a:xfrm>
            <a:off x="4625163" y="3858768"/>
            <a:ext cx="0" cy="128016"/>
          </a:xfrm>
          <a:prstGeom prst="line">
            <a:avLst/>
          </a:prstGeom>
          <a:noFill/>
          <a:ln w="12700">
            <a:solidFill>
              <a:schemeClr val="accent1"/>
            </a:solidFill>
            <a:prstDash val="solid"/>
          </a:ln>
        </p:spPr>
      </p:sp>
      <p:sp>
        <p:nvSpPr>
          <p:cNvPr id="311" name="hnRNPA1 R265"/>
          <p:cNvSpPr/>
          <p:nvPr/>
        </p:nvSpPr>
        <p:spPr>
          <a:xfrm>
            <a:off x="4597731" y="3822192"/>
            <a:ext cx="54864" cy="54864"/>
          </a:xfrm>
          <a:prstGeom prst="ellipse">
            <a:avLst/>
          </a:prstGeom>
          <a:solidFill>
            <a:schemeClr val="accent1"/>
          </a:solidFill>
          <a:ln/>
        </p:spPr>
      </p:sp>
      <p:sp>
        <p:nvSpPr>
          <p:cNvPr id="312" name="hnRNPA1 R336 stem"/>
          <p:cNvSpPr/>
          <p:nvPr/>
        </p:nvSpPr>
        <p:spPr>
          <a:xfrm>
            <a:off x="5349878" y="3858768"/>
            <a:ext cx="0" cy="128016"/>
          </a:xfrm>
          <a:prstGeom prst="line">
            <a:avLst/>
          </a:prstGeom>
          <a:noFill/>
          <a:ln w="12700">
            <a:solidFill>
              <a:schemeClr val="accent1"/>
            </a:solidFill>
            <a:prstDash val="solid"/>
          </a:ln>
        </p:spPr>
      </p:sp>
      <p:sp>
        <p:nvSpPr>
          <p:cNvPr id="313" name="hnRNPA1 R336"/>
          <p:cNvSpPr/>
          <p:nvPr/>
        </p:nvSpPr>
        <p:spPr>
          <a:xfrm>
            <a:off x="5322446" y="3822192"/>
            <a:ext cx="54864" cy="54864"/>
          </a:xfrm>
          <a:prstGeom prst="ellipse">
            <a:avLst/>
          </a:prstGeom>
          <a:solidFill>
            <a:schemeClr val="accent1"/>
          </a:solidFill>
          <a:ln/>
        </p:spPr>
      </p:sp>
      <p:sp>
        <p:nvSpPr>
          <p:cNvPr id="314" name="hnRNPA1 R352 stem"/>
          <p:cNvSpPr/>
          <p:nvPr/>
        </p:nvSpPr>
        <p:spPr>
          <a:xfrm>
            <a:off x="5513194" y="3858768"/>
            <a:ext cx="0" cy="128016"/>
          </a:xfrm>
          <a:prstGeom prst="line">
            <a:avLst/>
          </a:prstGeom>
          <a:noFill/>
          <a:ln w="12700">
            <a:solidFill>
              <a:schemeClr val="accent1"/>
            </a:solidFill>
            <a:prstDash val="solid"/>
          </a:ln>
        </p:spPr>
      </p:sp>
      <p:sp>
        <p:nvSpPr>
          <p:cNvPr id="315" name="hnRNPA1 R352"/>
          <p:cNvSpPr/>
          <p:nvPr/>
        </p:nvSpPr>
        <p:spPr>
          <a:xfrm>
            <a:off x="5485762" y="3822192"/>
            <a:ext cx="54864" cy="54864"/>
          </a:xfrm>
          <a:prstGeom prst="ellipse">
            <a:avLst/>
          </a:prstGeom>
          <a:solidFill>
            <a:schemeClr val="accent1"/>
          </a:solidFill>
          <a:ln/>
        </p:spPr>
      </p:sp>
      <p:sp>
        <p:nvSpPr>
          <p:cNvPr id="316" name="hnRNPA1 R370 stem"/>
          <p:cNvSpPr/>
          <p:nvPr/>
        </p:nvSpPr>
        <p:spPr>
          <a:xfrm>
            <a:off x="5696925" y="3858768"/>
            <a:ext cx="0" cy="128016"/>
          </a:xfrm>
          <a:prstGeom prst="line">
            <a:avLst/>
          </a:prstGeom>
          <a:noFill/>
          <a:ln w="12700">
            <a:solidFill>
              <a:schemeClr val="accent1"/>
            </a:solidFill>
            <a:prstDash val="solid"/>
          </a:ln>
        </p:spPr>
      </p:sp>
      <p:sp>
        <p:nvSpPr>
          <p:cNvPr id="317" name="hnRNPA1 R370"/>
          <p:cNvSpPr/>
          <p:nvPr/>
        </p:nvSpPr>
        <p:spPr>
          <a:xfrm>
            <a:off x="5669493" y="3822192"/>
            <a:ext cx="54864" cy="54864"/>
          </a:xfrm>
          <a:prstGeom prst="ellipse">
            <a:avLst/>
          </a:prstGeom>
          <a:solidFill>
            <a:schemeClr val="accent1"/>
          </a:solidFill>
          <a:ln/>
        </p:spPr>
      </p:sp>
      <p:sp>
        <p:nvSpPr>
          <p:cNvPr id="318" name="hnRNPA1 R371 stem"/>
          <p:cNvSpPr/>
          <p:nvPr/>
        </p:nvSpPr>
        <p:spPr>
          <a:xfrm>
            <a:off x="5707132" y="3858768"/>
            <a:ext cx="0" cy="128016"/>
          </a:xfrm>
          <a:prstGeom prst="line">
            <a:avLst/>
          </a:prstGeom>
          <a:noFill/>
          <a:ln w="12700">
            <a:solidFill>
              <a:schemeClr val="accent1"/>
            </a:solidFill>
            <a:prstDash val="solid"/>
          </a:ln>
        </p:spPr>
      </p:sp>
      <p:sp>
        <p:nvSpPr>
          <p:cNvPr id="319" name="hnRNPA1 R371"/>
          <p:cNvSpPr/>
          <p:nvPr/>
        </p:nvSpPr>
        <p:spPr>
          <a:xfrm>
            <a:off x="5679700" y="3822192"/>
            <a:ext cx="54864" cy="54864"/>
          </a:xfrm>
          <a:prstGeom prst="ellipse">
            <a:avLst/>
          </a:prstGeom>
          <a:solidFill>
            <a:schemeClr val="accent1"/>
          </a:solidFill>
          <a:ln/>
        </p:spPr>
      </p:sp>
      <p:sp>
        <p:nvSpPr>
          <p:cNvPr id="320" name="hnRNPA1 site count"/>
          <p:cNvSpPr txBox="1"/>
          <p:nvPr/>
        </p:nvSpPr>
        <p:spPr>
          <a:xfrm>
            <a:off x="5827067" y="3986784"/>
            <a:ext cx="2377440" cy="292608"/>
          </a:xfrm>
          <a:prstGeom prst="rect">
            <a:avLst/>
          </a:prstGeom>
          <a:noFill/>
          <a:ln/>
        </p:spPr>
        <p:txBody>
          <a:bodyPr wrap="square" lIns="0" tIns="0" rIns="0" bIns="0" rtlCol="0" anchor="ctr"/>
          <a:lstStyle/>
          <a:p>
            <a:pPr indent="0" marL="0">
              <a:buNone/>
            </a:pPr>
            <a:r>
              <a:rPr lang="en-US" sz="1400" b="1" dirty="0">
                <a:solidFill>
                  <a:schemeClr val="accent1"/>
                </a:solidFill>
              </a:rPr>
              <a:t>20 sites</a:t>
            </a:r>
            <a:endParaRPr lang="en-US" sz="1400" dirty="0"/>
          </a:p>
        </p:txBody>
      </p:sp>
      <p:sp>
        <p:nvSpPr>
          <p:cNvPr id="321" name="hnRNPA2B1 name"/>
          <p:cNvSpPr txBox="1"/>
          <p:nvPr/>
        </p:nvSpPr>
        <p:spPr>
          <a:xfrm>
            <a:off x="457200" y="4480560"/>
            <a:ext cx="1325880" cy="365760"/>
          </a:xfrm>
          <a:prstGeom prst="rect">
            <a:avLst/>
          </a:prstGeom>
          <a:noFill/>
          <a:ln/>
        </p:spPr>
        <p:txBody>
          <a:bodyPr wrap="square" lIns="0" tIns="0" rIns="0" bIns="0" rtlCol="0" anchor="ctr"/>
          <a:lstStyle/>
          <a:p>
            <a:pPr algn="r" indent="0" marL="0">
              <a:buNone/>
            </a:pPr>
            <a:r>
              <a:rPr lang="en-US" sz="1600" b="1" dirty="0">
                <a:solidFill>
                  <a:schemeClr val="tx1"/>
                </a:solidFill>
              </a:rPr>
              <a:t>hnRNPA2B1</a:t>
            </a:r>
            <a:endParaRPr lang="en-US" sz="1600" dirty="0"/>
          </a:p>
        </p:txBody>
      </p:sp>
      <p:sp>
        <p:nvSpPr>
          <p:cNvPr id="322" name="hnRNPA2B1 backbone"/>
          <p:cNvSpPr/>
          <p:nvPr/>
        </p:nvSpPr>
        <p:spPr>
          <a:xfrm>
            <a:off x="1920240" y="4626864"/>
            <a:ext cx="3603161" cy="73152"/>
          </a:xfrm>
          <a:prstGeom prst="rect">
            <a:avLst/>
          </a:prstGeom>
          <a:solidFill>
            <a:srgbClr val="B8BEC9"/>
          </a:solidFill>
          <a:ln/>
        </p:spPr>
      </p:sp>
      <p:sp>
        <p:nvSpPr>
          <p:cNvPr id="323" name="hnRNPA2B1 Gly residues 202-223"/>
          <p:cNvSpPr/>
          <p:nvPr/>
        </p:nvSpPr>
        <p:spPr>
          <a:xfrm>
            <a:off x="3982106" y="4553712"/>
            <a:ext cx="214352" cy="219456"/>
          </a:xfrm>
          <a:prstGeom prst="rect">
            <a:avLst/>
          </a:prstGeom>
          <a:solidFill>
            <a:schemeClr val="accent5"/>
          </a:solidFill>
          <a:ln/>
        </p:spPr>
      </p:sp>
      <p:sp>
        <p:nvSpPr>
          <p:cNvPr id="324" name="hnRNPA2B1 Gly residues 320-353"/>
          <p:cNvSpPr/>
          <p:nvPr/>
        </p:nvSpPr>
        <p:spPr>
          <a:xfrm>
            <a:off x="5186562" y="4553712"/>
            <a:ext cx="336839" cy="219456"/>
          </a:xfrm>
          <a:prstGeom prst="rect">
            <a:avLst/>
          </a:prstGeom>
          <a:solidFill>
            <a:schemeClr val="accent5"/>
          </a:solidFill>
          <a:ln/>
        </p:spPr>
      </p:sp>
      <p:sp>
        <p:nvSpPr>
          <p:cNvPr id="325" name="hnRNPA2B1 RRM 21-104"/>
          <p:cNvSpPr/>
          <p:nvPr/>
        </p:nvSpPr>
        <p:spPr>
          <a:xfrm>
            <a:off x="2134592" y="4526280"/>
            <a:ext cx="847202"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RRM</a:t>
            </a:r>
            <a:endParaRPr lang="en-US" sz="1000" dirty="0"/>
          </a:p>
        </p:txBody>
      </p:sp>
      <p:sp>
        <p:nvSpPr>
          <p:cNvPr id="326" name="hnRNPA2B1 RRM 112-191"/>
          <p:cNvSpPr/>
          <p:nvPr/>
        </p:nvSpPr>
        <p:spPr>
          <a:xfrm>
            <a:off x="3063453" y="4526280"/>
            <a:ext cx="806373"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RRM</a:t>
            </a:r>
            <a:endParaRPr lang="en-US" sz="1000" dirty="0"/>
          </a:p>
        </p:txBody>
      </p:sp>
      <p:sp>
        <p:nvSpPr>
          <p:cNvPr id="327" name="hnRNPA2B1 R15 stem"/>
          <p:cNvSpPr/>
          <p:nvPr/>
        </p:nvSpPr>
        <p:spPr>
          <a:xfrm>
            <a:off x="2073349" y="4389120"/>
            <a:ext cx="0" cy="128016"/>
          </a:xfrm>
          <a:prstGeom prst="line">
            <a:avLst/>
          </a:prstGeom>
          <a:noFill/>
          <a:ln w="12700">
            <a:solidFill>
              <a:schemeClr val="accent1"/>
            </a:solidFill>
            <a:prstDash val="solid"/>
          </a:ln>
        </p:spPr>
      </p:sp>
      <p:sp>
        <p:nvSpPr>
          <p:cNvPr id="328" name="hnRNPA2B1 R15"/>
          <p:cNvSpPr/>
          <p:nvPr/>
        </p:nvSpPr>
        <p:spPr>
          <a:xfrm>
            <a:off x="2045917" y="4352544"/>
            <a:ext cx="54864" cy="54864"/>
          </a:xfrm>
          <a:prstGeom prst="ellipse">
            <a:avLst/>
          </a:prstGeom>
          <a:solidFill>
            <a:schemeClr val="accent1"/>
          </a:solidFill>
          <a:ln/>
        </p:spPr>
      </p:sp>
      <p:sp>
        <p:nvSpPr>
          <p:cNvPr id="329" name="hnRNPA2B1 R38 stem"/>
          <p:cNvSpPr/>
          <p:nvPr/>
        </p:nvSpPr>
        <p:spPr>
          <a:xfrm>
            <a:off x="2308116" y="4389120"/>
            <a:ext cx="0" cy="128016"/>
          </a:xfrm>
          <a:prstGeom prst="line">
            <a:avLst/>
          </a:prstGeom>
          <a:noFill/>
          <a:ln w="12700">
            <a:solidFill>
              <a:schemeClr val="accent1"/>
            </a:solidFill>
            <a:prstDash val="solid"/>
          </a:ln>
        </p:spPr>
      </p:sp>
      <p:sp>
        <p:nvSpPr>
          <p:cNvPr id="330" name="hnRNPA2B1 R38"/>
          <p:cNvSpPr/>
          <p:nvPr/>
        </p:nvSpPr>
        <p:spPr>
          <a:xfrm>
            <a:off x="2280684" y="4352544"/>
            <a:ext cx="54864" cy="54864"/>
          </a:xfrm>
          <a:prstGeom prst="ellipse">
            <a:avLst/>
          </a:prstGeom>
          <a:solidFill>
            <a:schemeClr val="accent1"/>
          </a:solidFill>
          <a:ln/>
        </p:spPr>
      </p:sp>
      <p:sp>
        <p:nvSpPr>
          <p:cNvPr id="331" name="hnRNPA2B1 R95 stem"/>
          <p:cNvSpPr/>
          <p:nvPr/>
        </p:nvSpPr>
        <p:spPr>
          <a:xfrm>
            <a:off x="2889929" y="4389120"/>
            <a:ext cx="0" cy="128016"/>
          </a:xfrm>
          <a:prstGeom prst="line">
            <a:avLst/>
          </a:prstGeom>
          <a:noFill/>
          <a:ln w="12700">
            <a:solidFill>
              <a:schemeClr val="accent1"/>
            </a:solidFill>
            <a:prstDash val="solid"/>
          </a:ln>
        </p:spPr>
      </p:sp>
      <p:sp>
        <p:nvSpPr>
          <p:cNvPr id="332" name="hnRNPA2B1 R95"/>
          <p:cNvSpPr/>
          <p:nvPr/>
        </p:nvSpPr>
        <p:spPr>
          <a:xfrm>
            <a:off x="2862497" y="4352544"/>
            <a:ext cx="54864" cy="54864"/>
          </a:xfrm>
          <a:prstGeom prst="ellipse">
            <a:avLst/>
          </a:prstGeom>
          <a:solidFill>
            <a:schemeClr val="accent1"/>
          </a:solidFill>
          <a:ln/>
        </p:spPr>
      </p:sp>
      <p:sp>
        <p:nvSpPr>
          <p:cNvPr id="333" name="hnRNPA2B1 R99 stem"/>
          <p:cNvSpPr/>
          <p:nvPr/>
        </p:nvSpPr>
        <p:spPr>
          <a:xfrm>
            <a:off x="2930758" y="4389120"/>
            <a:ext cx="0" cy="128016"/>
          </a:xfrm>
          <a:prstGeom prst="line">
            <a:avLst/>
          </a:prstGeom>
          <a:noFill/>
          <a:ln w="12700">
            <a:solidFill>
              <a:schemeClr val="accent1"/>
            </a:solidFill>
            <a:prstDash val="solid"/>
          </a:ln>
        </p:spPr>
      </p:sp>
      <p:sp>
        <p:nvSpPr>
          <p:cNvPr id="334" name="hnRNPA2B1 R99"/>
          <p:cNvSpPr/>
          <p:nvPr/>
        </p:nvSpPr>
        <p:spPr>
          <a:xfrm>
            <a:off x="2903326" y="4352544"/>
            <a:ext cx="54864" cy="54864"/>
          </a:xfrm>
          <a:prstGeom prst="ellipse">
            <a:avLst/>
          </a:prstGeom>
          <a:solidFill>
            <a:schemeClr val="accent1"/>
          </a:solidFill>
          <a:ln/>
        </p:spPr>
      </p:sp>
      <p:sp>
        <p:nvSpPr>
          <p:cNvPr id="335" name="hnRNPA2B1 R129 stem"/>
          <p:cNvSpPr/>
          <p:nvPr/>
        </p:nvSpPr>
        <p:spPr>
          <a:xfrm>
            <a:off x="3236976" y="4389120"/>
            <a:ext cx="0" cy="128016"/>
          </a:xfrm>
          <a:prstGeom prst="line">
            <a:avLst/>
          </a:prstGeom>
          <a:noFill/>
          <a:ln w="12700">
            <a:solidFill>
              <a:schemeClr val="accent1"/>
            </a:solidFill>
            <a:prstDash val="solid"/>
          </a:ln>
        </p:spPr>
      </p:sp>
      <p:sp>
        <p:nvSpPr>
          <p:cNvPr id="336" name="hnRNPA2B1 R129"/>
          <p:cNvSpPr/>
          <p:nvPr/>
        </p:nvSpPr>
        <p:spPr>
          <a:xfrm>
            <a:off x="3209544" y="4352544"/>
            <a:ext cx="54864" cy="54864"/>
          </a:xfrm>
          <a:prstGeom prst="ellipse">
            <a:avLst/>
          </a:prstGeom>
          <a:solidFill>
            <a:schemeClr val="accent1"/>
          </a:solidFill>
          <a:ln/>
        </p:spPr>
      </p:sp>
      <p:sp>
        <p:nvSpPr>
          <p:cNvPr id="337" name="hnRNPA2B1 R147 stem"/>
          <p:cNvSpPr/>
          <p:nvPr/>
        </p:nvSpPr>
        <p:spPr>
          <a:xfrm>
            <a:off x="3420707" y="4389120"/>
            <a:ext cx="0" cy="128016"/>
          </a:xfrm>
          <a:prstGeom prst="line">
            <a:avLst/>
          </a:prstGeom>
          <a:noFill/>
          <a:ln w="12700">
            <a:solidFill>
              <a:schemeClr val="accent1"/>
            </a:solidFill>
            <a:prstDash val="solid"/>
          </a:ln>
        </p:spPr>
      </p:sp>
      <p:sp>
        <p:nvSpPr>
          <p:cNvPr id="338" name="hnRNPA2B1 R147"/>
          <p:cNvSpPr/>
          <p:nvPr/>
        </p:nvSpPr>
        <p:spPr>
          <a:xfrm>
            <a:off x="3393275" y="4352544"/>
            <a:ext cx="54864" cy="54864"/>
          </a:xfrm>
          <a:prstGeom prst="ellipse">
            <a:avLst/>
          </a:prstGeom>
          <a:solidFill>
            <a:schemeClr val="accent1"/>
          </a:solidFill>
          <a:ln/>
        </p:spPr>
      </p:sp>
      <p:sp>
        <p:nvSpPr>
          <p:cNvPr id="339" name="hnRNPA2B1 R153 stem"/>
          <p:cNvSpPr/>
          <p:nvPr/>
        </p:nvSpPr>
        <p:spPr>
          <a:xfrm>
            <a:off x="3481950" y="4389120"/>
            <a:ext cx="0" cy="128016"/>
          </a:xfrm>
          <a:prstGeom prst="line">
            <a:avLst/>
          </a:prstGeom>
          <a:noFill/>
          <a:ln w="12700">
            <a:solidFill>
              <a:schemeClr val="accent1"/>
            </a:solidFill>
            <a:prstDash val="solid"/>
          </a:ln>
        </p:spPr>
      </p:sp>
      <p:sp>
        <p:nvSpPr>
          <p:cNvPr id="340" name="hnRNPA2B1 R153"/>
          <p:cNvSpPr/>
          <p:nvPr/>
        </p:nvSpPr>
        <p:spPr>
          <a:xfrm>
            <a:off x="3454518" y="4352544"/>
            <a:ext cx="54864" cy="54864"/>
          </a:xfrm>
          <a:prstGeom prst="ellipse">
            <a:avLst/>
          </a:prstGeom>
          <a:solidFill>
            <a:schemeClr val="accent1"/>
          </a:solidFill>
          <a:ln/>
        </p:spPr>
      </p:sp>
      <p:sp>
        <p:nvSpPr>
          <p:cNvPr id="341" name="hnRNPA2B1 R200 stem"/>
          <p:cNvSpPr/>
          <p:nvPr/>
        </p:nvSpPr>
        <p:spPr>
          <a:xfrm>
            <a:off x="3961691" y="4389120"/>
            <a:ext cx="0" cy="128016"/>
          </a:xfrm>
          <a:prstGeom prst="line">
            <a:avLst/>
          </a:prstGeom>
          <a:noFill/>
          <a:ln w="12700">
            <a:solidFill>
              <a:schemeClr val="accent1"/>
            </a:solidFill>
            <a:prstDash val="solid"/>
          </a:ln>
        </p:spPr>
      </p:sp>
      <p:sp>
        <p:nvSpPr>
          <p:cNvPr id="342" name="hnRNPA2B1 R200"/>
          <p:cNvSpPr/>
          <p:nvPr/>
        </p:nvSpPr>
        <p:spPr>
          <a:xfrm>
            <a:off x="3934259" y="4352544"/>
            <a:ext cx="54864" cy="54864"/>
          </a:xfrm>
          <a:prstGeom prst="ellipse">
            <a:avLst/>
          </a:prstGeom>
          <a:solidFill>
            <a:schemeClr val="accent1"/>
          </a:solidFill>
          <a:ln/>
        </p:spPr>
      </p:sp>
      <p:sp>
        <p:nvSpPr>
          <p:cNvPr id="343" name="hnRNPA2B1 R203 stem"/>
          <p:cNvSpPr/>
          <p:nvPr/>
        </p:nvSpPr>
        <p:spPr>
          <a:xfrm>
            <a:off x="3992313" y="4389120"/>
            <a:ext cx="0" cy="128016"/>
          </a:xfrm>
          <a:prstGeom prst="line">
            <a:avLst/>
          </a:prstGeom>
          <a:noFill/>
          <a:ln w="12700">
            <a:solidFill>
              <a:schemeClr val="accent1"/>
            </a:solidFill>
            <a:prstDash val="solid"/>
          </a:ln>
        </p:spPr>
      </p:sp>
      <p:sp>
        <p:nvSpPr>
          <p:cNvPr id="344" name="hnRNPA2B1 R203"/>
          <p:cNvSpPr/>
          <p:nvPr/>
        </p:nvSpPr>
        <p:spPr>
          <a:xfrm>
            <a:off x="3964881" y="4352544"/>
            <a:ext cx="54864" cy="54864"/>
          </a:xfrm>
          <a:prstGeom prst="ellipse">
            <a:avLst/>
          </a:prstGeom>
          <a:solidFill>
            <a:schemeClr val="accent1"/>
          </a:solidFill>
          <a:ln/>
        </p:spPr>
      </p:sp>
      <p:sp>
        <p:nvSpPr>
          <p:cNvPr id="345" name="hnRNPA2B1 R213 stem"/>
          <p:cNvSpPr/>
          <p:nvPr/>
        </p:nvSpPr>
        <p:spPr>
          <a:xfrm>
            <a:off x="4094385" y="4389120"/>
            <a:ext cx="0" cy="128016"/>
          </a:xfrm>
          <a:prstGeom prst="line">
            <a:avLst/>
          </a:prstGeom>
          <a:noFill/>
          <a:ln w="12700">
            <a:solidFill>
              <a:schemeClr val="accent1"/>
            </a:solidFill>
            <a:prstDash val="solid"/>
          </a:ln>
        </p:spPr>
      </p:sp>
      <p:sp>
        <p:nvSpPr>
          <p:cNvPr id="346" name="hnRNPA2B1 R213"/>
          <p:cNvSpPr/>
          <p:nvPr/>
        </p:nvSpPr>
        <p:spPr>
          <a:xfrm>
            <a:off x="4066953" y="4352544"/>
            <a:ext cx="54864" cy="54864"/>
          </a:xfrm>
          <a:prstGeom prst="ellipse">
            <a:avLst/>
          </a:prstGeom>
          <a:solidFill>
            <a:schemeClr val="accent1"/>
          </a:solidFill>
          <a:ln/>
        </p:spPr>
      </p:sp>
      <p:sp>
        <p:nvSpPr>
          <p:cNvPr id="347" name="hnRNPA2B1 R228 stem"/>
          <p:cNvSpPr/>
          <p:nvPr/>
        </p:nvSpPr>
        <p:spPr>
          <a:xfrm>
            <a:off x="4247494" y="4389120"/>
            <a:ext cx="0" cy="128016"/>
          </a:xfrm>
          <a:prstGeom prst="line">
            <a:avLst/>
          </a:prstGeom>
          <a:noFill/>
          <a:ln w="12700">
            <a:solidFill>
              <a:schemeClr val="accent1"/>
            </a:solidFill>
            <a:prstDash val="solid"/>
          </a:ln>
        </p:spPr>
      </p:sp>
      <p:sp>
        <p:nvSpPr>
          <p:cNvPr id="348" name="hnRNPA2B1 R228"/>
          <p:cNvSpPr/>
          <p:nvPr/>
        </p:nvSpPr>
        <p:spPr>
          <a:xfrm>
            <a:off x="4220062" y="4352544"/>
            <a:ext cx="54864" cy="54864"/>
          </a:xfrm>
          <a:prstGeom prst="ellipse">
            <a:avLst/>
          </a:prstGeom>
          <a:solidFill>
            <a:schemeClr val="accent1"/>
          </a:solidFill>
          <a:ln/>
        </p:spPr>
      </p:sp>
      <p:sp>
        <p:nvSpPr>
          <p:cNvPr id="349" name="hnRNPA2B1 R238 stem"/>
          <p:cNvSpPr/>
          <p:nvPr/>
        </p:nvSpPr>
        <p:spPr>
          <a:xfrm>
            <a:off x="4349567" y="4389120"/>
            <a:ext cx="0" cy="128016"/>
          </a:xfrm>
          <a:prstGeom prst="line">
            <a:avLst/>
          </a:prstGeom>
          <a:noFill/>
          <a:ln w="12700">
            <a:solidFill>
              <a:schemeClr val="accent1"/>
            </a:solidFill>
            <a:prstDash val="solid"/>
          </a:ln>
        </p:spPr>
      </p:sp>
      <p:sp>
        <p:nvSpPr>
          <p:cNvPr id="350" name="hnRNPA2B1 R238"/>
          <p:cNvSpPr/>
          <p:nvPr/>
        </p:nvSpPr>
        <p:spPr>
          <a:xfrm>
            <a:off x="4322135" y="4352544"/>
            <a:ext cx="54864" cy="54864"/>
          </a:xfrm>
          <a:prstGeom prst="ellipse">
            <a:avLst/>
          </a:prstGeom>
          <a:solidFill>
            <a:schemeClr val="accent1"/>
          </a:solidFill>
          <a:ln/>
        </p:spPr>
      </p:sp>
      <p:sp>
        <p:nvSpPr>
          <p:cNvPr id="351" name="hnRNPA2B1 R266 stem"/>
          <p:cNvSpPr/>
          <p:nvPr/>
        </p:nvSpPr>
        <p:spPr>
          <a:xfrm>
            <a:off x="4635370" y="4389120"/>
            <a:ext cx="0" cy="128016"/>
          </a:xfrm>
          <a:prstGeom prst="line">
            <a:avLst/>
          </a:prstGeom>
          <a:noFill/>
          <a:ln w="12700">
            <a:solidFill>
              <a:schemeClr val="accent1"/>
            </a:solidFill>
            <a:prstDash val="solid"/>
          </a:ln>
        </p:spPr>
      </p:sp>
      <p:sp>
        <p:nvSpPr>
          <p:cNvPr id="352" name="hnRNPA2B1 R266"/>
          <p:cNvSpPr/>
          <p:nvPr/>
        </p:nvSpPr>
        <p:spPr>
          <a:xfrm>
            <a:off x="4607938" y="4352544"/>
            <a:ext cx="54864" cy="54864"/>
          </a:xfrm>
          <a:prstGeom prst="ellipse">
            <a:avLst/>
          </a:prstGeom>
          <a:solidFill>
            <a:schemeClr val="accent1"/>
          </a:solidFill>
          <a:ln/>
        </p:spPr>
      </p:sp>
      <p:sp>
        <p:nvSpPr>
          <p:cNvPr id="353" name="hnRNPA2B1 R325 stem"/>
          <p:cNvSpPr/>
          <p:nvPr/>
        </p:nvSpPr>
        <p:spPr>
          <a:xfrm>
            <a:off x="5237598" y="4389120"/>
            <a:ext cx="0" cy="128016"/>
          </a:xfrm>
          <a:prstGeom prst="line">
            <a:avLst/>
          </a:prstGeom>
          <a:noFill/>
          <a:ln w="12700">
            <a:solidFill>
              <a:schemeClr val="accent1"/>
            </a:solidFill>
            <a:prstDash val="solid"/>
          </a:ln>
        </p:spPr>
      </p:sp>
      <p:sp>
        <p:nvSpPr>
          <p:cNvPr id="354" name="hnRNPA2B1 R325"/>
          <p:cNvSpPr/>
          <p:nvPr/>
        </p:nvSpPr>
        <p:spPr>
          <a:xfrm>
            <a:off x="5210166" y="4352544"/>
            <a:ext cx="54864" cy="54864"/>
          </a:xfrm>
          <a:prstGeom prst="ellipse">
            <a:avLst/>
          </a:prstGeom>
          <a:solidFill>
            <a:schemeClr val="accent1"/>
          </a:solidFill>
          <a:ln/>
        </p:spPr>
      </p:sp>
      <p:sp>
        <p:nvSpPr>
          <p:cNvPr id="355" name="hnRNPA2B1 R350 stem"/>
          <p:cNvSpPr/>
          <p:nvPr/>
        </p:nvSpPr>
        <p:spPr>
          <a:xfrm>
            <a:off x="5492780" y="4389120"/>
            <a:ext cx="0" cy="128016"/>
          </a:xfrm>
          <a:prstGeom prst="line">
            <a:avLst/>
          </a:prstGeom>
          <a:noFill/>
          <a:ln w="12700">
            <a:solidFill>
              <a:schemeClr val="accent1"/>
            </a:solidFill>
            <a:prstDash val="solid"/>
          </a:ln>
        </p:spPr>
      </p:sp>
      <p:sp>
        <p:nvSpPr>
          <p:cNvPr id="356" name="hnRNPA2B1 R350"/>
          <p:cNvSpPr/>
          <p:nvPr/>
        </p:nvSpPr>
        <p:spPr>
          <a:xfrm>
            <a:off x="5465348" y="4352544"/>
            <a:ext cx="54864" cy="54864"/>
          </a:xfrm>
          <a:prstGeom prst="ellipse">
            <a:avLst/>
          </a:prstGeom>
          <a:solidFill>
            <a:schemeClr val="accent1"/>
          </a:solidFill>
          <a:ln/>
        </p:spPr>
      </p:sp>
      <p:sp>
        <p:nvSpPr>
          <p:cNvPr id="357" name="hnRNPA2B1 site count"/>
          <p:cNvSpPr txBox="1"/>
          <p:nvPr/>
        </p:nvSpPr>
        <p:spPr>
          <a:xfrm>
            <a:off x="5633129" y="4517136"/>
            <a:ext cx="2377440" cy="292608"/>
          </a:xfrm>
          <a:prstGeom prst="rect">
            <a:avLst/>
          </a:prstGeom>
          <a:noFill/>
          <a:ln/>
        </p:spPr>
        <p:txBody>
          <a:bodyPr wrap="square" lIns="0" tIns="0" rIns="0" bIns="0" rtlCol="0" anchor="ctr"/>
          <a:lstStyle/>
          <a:p>
            <a:pPr indent="0" marL="0">
              <a:buNone/>
            </a:pPr>
            <a:r>
              <a:rPr lang="en-US" sz="1400" b="1" dirty="0">
                <a:solidFill>
                  <a:schemeClr val="accent1"/>
                </a:solidFill>
              </a:rPr>
              <a:t>15 sites</a:t>
            </a:r>
            <a:endParaRPr lang="en-US" sz="1400" dirty="0"/>
          </a:p>
        </p:txBody>
      </p:sp>
      <p:sp>
        <p:nvSpPr>
          <p:cNvPr id="358" name="MATR3 name"/>
          <p:cNvSpPr txBox="1"/>
          <p:nvPr/>
        </p:nvSpPr>
        <p:spPr>
          <a:xfrm>
            <a:off x="457200" y="5010912"/>
            <a:ext cx="1325880" cy="365760"/>
          </a:xfrm>
          <a:prstGeom prst="rect">
            <a:avLst/>
          </a:prstGeom>
          <a:noFill/>
          <a:ln/>
        </p:spPr>
        <p:txBody>
          <a:bodyPr wrap="square" lIns="0" tIns="0" rIns="0" bIns="0" rtlCol="0" anchor="ctr"/>
          <a:lstStyle/>
          <a:p>
            <a:pPr algn="r" indent="0" marL="0">
              <a:buNone/>
            </a:pPr>
            <a:r>
              <a:rPr lang="en-US" sz="1600" b="1" dirty="0">
                <a:solidFill>
                  <a:schemeClr val="tx1"/>
                </a:solidFill>
              </a:rPr>
              <a:t>MATR3</a:t>
            </a:r>
            <a:endParaRPr lang="en-US" sz="1600" dirty="0"/>
          </a:p>
        </p:txBody>
      </p:sp>
      <p:sp>
        <p:nvSpPr>
          <p:cNvPr id="359" name="MATR3 backbone"/>
          <p:cNvSpPr/>
          <p:nvPr/>
        </p:nvSpPr>
        <p:spPr>
          <a:xfrm>
            <a:off x="1920240" y="5157216"/>
            <a:ext cx="8645546" cy="73152"/>
          </a:xfrm>
          <a:prstGeom prst="rect">
            <a:avLst/>
          </a:prstGeom>
          <a:solidFill>
            <a:srgbClr val="B8BEC9"/>
          </a:solidFill>
          <a:ln/>
        </p:spPr>
      </p:sp>
      <p:sp>
        <p:nvSpPr>
          <p:cNvPr id="360" name="MATR3 Low complexity 666-676"/>
          <p:cNvSpPr/>
          <p:nvPr/>
        </p:nvSpPr>
        <p:spPr>
          <a:xfrm>
            <a:off x="8718272" y="5084064"/>
            <a:ext cx="102073" cy="219456"/>
          </a:xfrm>
          <a:prstGeom prst="rect">
            <a:avLst/>
          </a:prstGeom>
          <a:solidFill>
            <a:schemeClr val="accent5"/>
          </a:solidFill>
          <a:ln/>
        </p:spPr>
      </p:sp>
      <p:sp>
        <p:nvSpPr>
          <p:cNvPr id="361" name="MATR3 RRM 398-473"/>
          <p:cNvSpPr/>
          <p:nvPr/>
        </p:nvSpPr>
        <p:spPr>
          <a:xfrm>
            <a:off x="5982728" y="5056632"/>
            <a:ext cx="765544"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RRM</a:t>
            </a:r>
            <a:endParaRPr lang="en-US" sz="1000" dirty="0"/>
          </a:p>
        </p:txBody>
      </p:sp>
      <p:sp>
        <p:nvSpPr>
          <p:cNvPr id="362" name="MATR3 RRM 496-571"/>
          <p:cNvSpPr/>
          <p:nvPr/>
        </p:nvSpPr>
        <p:spPr>
          <a:xfrm>
            <a:off x="6983039" y="5056632"/>
            <a:ext cx="765544"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RRM</a:t>
            </a:r>
            <a:endParaRPr lang="en-US" sz="1000" dirty="0"/>
          </a:p>
        </p:txBody>
      </p:sp>
      <p:sp>
        <p:nvSpPr>
          <p:cNvPr id="363" name="MATR3 ZnF 801-832"/>
          <p:cNvSpPr/>
          <p:nvPr/>
        </p:nvSpPr>
        <p:spPr>
          <a:xfrm>
            <a:off x="10096252" y="5056632"/>
            <a:ext cx="316425" cy="274320"/>
          </a:xfrm>
          <a:prstGeom prst="roundRect">
            <a:avLst>
              <a:gd name="adj" fmla="val 20000"/>
            </a:avLst>
          </a:prstGeom>
          <a:solidFill>
            <a:schemeClr val="accent4"/>
          </a:solidFill>
          <a:ln/>
        </p:spPr>
        <p:txBody>
          <a:bodyPr wrap="square" lIns="0" tIns="0" rIns="0" bIns="0" rtlCol="0" anchor="ctr"/>
          <a:lstStyle/>
          <a:p>
            <a:pPr algn="ctr" indent="0" marL="0">
              <a:buNone/>
            </a:pPr>
            <a:r>
              <a:rPr lang="en-US" sz="1000" b="1" dirty="0">
                <a:solidFill>
                  <a:schemeClr val="bg1"/>
                </a:solidFill>
              </a:rPr>
              <a:t>ZnF</a:t>
            </a:r>
            <a:endParaRPr lang="en-US" sz="1000" dirty="0"/>
          </a:p>
        </p:txBody>
      </p:sp>
      <p:sp>
        <p:nvSpPr>
          <p:cNvPr id="364" name="MATR3 R12 stem"/>
          <p:cNvSpPr/>
          <p:nvPr/>
        </p:nvSpPr>
        <p:spPr>
          <a:xfrm>
            <a:off x="2042727" y="4919472"/>
            <a:ext cx="0" cy="128016"/>
          </a:xfrm>
          <a:prstGeom prst="line">
            <a:avLst/>
          </a:prstGeom>
          <a:noFill/>
          <a:ln w="12700">
            <a:solidFill>
              <a:schemeClr val="accent1"/>
            </a:solidFill>
            <a:prstDash val="solid"/>
          </a:ln>
        </p:spPr>
      </p:sp>
      <p:sp>
        <p:nvSpPr>
          <p:cNvPr id="365" name="MATR3 R12"/>
          <p:cNvSpPr/>
          <p:nvPr/>
        </p:nvSpPr>
        <p:spPr>
          <a:xfrm>
            <a:off x="2015295" y="4882896"/>
            <a:ext cx="54864" cy="54864"/>
          </a:xfrm>
          <a:prstGeom prst="ellipse">
            <a:avLst/>
          </a:prstGeom>
          <a:solidFill>
            <a:schemeClr val="accent1"/>
          </a:solidFill>
          <a:ln/>
        </p:spPr>
      </p:sp>
      <p:sp>
        <p:nvSpPr>
          <p:cNvPr id="366" name="MATR3 R51 stem"/>
          <p:cNvSpPr/>
          <p:nvPr/>
        </p:nvSpPr>
        <p:spPr>
          <a:xfrm>
            <a:off x="2440810" y="4919472"/>
            <a:ext cx="0" cy="128016"/>
          </a:xfrm>
          <a:prstGeom prst="line">
            <a:avLst/>
          </a:prstGeom>
          <a:noFill/>
          <a:ln w="12700">
            <a:solidFill>
              <a:schemeClr val="accent1"/>
            </a:solidFill>
            <a:prstDash val="solid"/>
          </a:ln>
        </p:spPr>
      </p:sp>
      <p:sp>
        <p:nvSpPr>
          <p:cNvPr id="367" name="MATR3 R51"/>
          <p:cNvSpPr/>
          <p:nvPr/>
        </p:nvSpPr>
        <p:spPr>
          <a:xfrm>
            <a:off x="2413378" y="4882896"/>
            <a:ext cx="54864" cy="54864"/>
          </a:xfrm>
          <a:prstGeom prst="ellipse">
            <a:avLst/>
          </a:prstGeom>
          <a:solidFill>
            <a:schemeClr val="accent1"/>
          </a:solidFill>
          <a:ln/>
        </p:spPr>
      </p:sp>
      <p:sp>
        <p:nvSpPr>
          <p:cNvPr id="368" name="MATR3 R92 stem"/>
          <p:cNvSpPr/>
          <p:nvPr/>
        </p:nvSpPr>
        <p:spPr>
          <a:xfrm>
            <a:off x="2859308" y="4919472"/>
            <a:ext cx="0" cy="128016"/>
          </a:xfrm>
          <a:prstGeom prst="line">
            <a:avLst/>
          </a:prstGeom>
          <a:noFill/>
          <a:ln w="12700">
            <a:solidFill>
              <a:schemeClr val="accent1"/>
            </a:solidFill>
            <a:prstDash val="solid"/>
          </a:ln>
        </p:spPr>
      </p:sp>
      <p:sp>
        <p:nvSpPr>
          <p:cNvPr id="369" name="MATR3 R92"/>
          <p:cNvSpPr/>
          <p:nvPr/>
        </p:nvSpPr>
        <p:spPr>
          <a:xfrm>
            <a:off x="2831876" y="4882896"/>
            <a:ext cx="54864" cy="54864"/>
          </a:xfrm>
          <a:prstGeom prst="ellipse">
            <a:avLst/>
          </a:prstGeom>
          <a:solidFill>
            <a:schemeClr val="accent1"/>
          </a:solidFill>
          <a:ln/>
        </p:spPr>
      </p:sp>
      <p:sp>
        <p:nvSpPr>
          <p:cNvPr id="370" name="MATR3 R192 stem"/>
          <p:cNvSpPr/>
          <p:nvPr/>
        </p:nvSpPr>
        <p:spPr>
          <a:xfrm>
            <a:off x="3880033" y="4919472"/>
            <a:ext cx="0" cy="128016"/>
          </a:xfrm>
          <a:prstGeom prst="line">
            <a:avLst/>
          </a:prstGeom>
          <a:noFill/>
          <a:ln w="12700">
            <a:solidFill>
              <a:schemeClr val="accent1"/>
            </a:solidFill>
            <a:prstDash val="solid"/>
          </a:ln>
        </p:spPr>
      </p:sp>
      <p:sp>
        <p:nvSpPr>
          <p:cNvPr id="371" name="MATR3 R192"/>
          <p:cNvSpPr/>
          <p:nvPr/>
        </p:nvSpPr>
        <p:spPr>
          <a:xfrm>
            <a:off x="3852601" y="4882896"/>
            <a:ext cx="54864" cy="54864"/>
          </a:xfrm>
          <a:prstGeom prst="ellipse">
            <a:avLst/>
          </a:prstGeom>
          <a:solidFill>
            <a:schemeClr val="accent1"/>
          </a:solidFill>
          <a:ln/>
        </p:spPr>
      </p:sp>
      <p:sp>
        <p:nvSpPr>
          <p:cNvPr id="372" name="MATR3 R216 stem"/>
          <p:cNvSpPr/>
          <p:nvPr/>
        </p:nvSpPr>
        <p:spPr>
          <a:xfrm>
            <a:off x="4125007" y="4919472"/>
            <a:ext cx="0" cy="128016"/>
          </a:xfrm>
          <a:prstGeom prst="line">
            <a:avLst/>
          </a:prstGeom>
          <a:noFill/>
          <a:ln w="12700">
            <a:solidFill>
              <a:schemeClr val="accent1"/>
            </a:solidFill>
            <a:prstDash val="solid"/>
          </a:ln>
        </p:spPr>
      </p:sp>
      <p:sp>
        <p:nvSpPr>
          <p:cNvPr id="373" name="MATR3 R216"/>
          <p:cNvSpPr/>
          <p:nvPr/>
        </p:nvSpPr>
        <p:spPr>
          <a:xfrm>
            <a:off x="4097575" y="4882896"/>
            <a:ext cx="54864" cy="54864"/>
          </a:xfrm>
          <a:prstGeom prst="ellipse">
            <a:avLst/>
          </a:prstGeom>
          <a:solidFill>
            <a:schemeClr val="accent1"/>
          </a:solidFill>
          <a:ln/>
        </p:spPr>
      </p:sp>
      <p:sp>
        <p:nvSpPr>
          <p:cNvPr id="374" name="MATR3 R223 stem"/>
          <p:cNvSpPr/>
          <p:nvPr/>
        </p:nvSpPr>
        <p:spPr>
          <a:xfrm>
            <a:off x="4196458" y="4919472"/>
            <a:ext cx="0" cy="128016"/>
          </a:xfrm>
          <a:prstGeom prst="line">
            <a:avLst/>
          </a:prstGeom>
          <a:noFill/>
          <a:ln w="12700">
            <a:solidFill>
              <a:schemeClr val="accent1"/>
            </a:solidFill>
            <a:prstDash val="solid"/>
          </a:ln>
        </p:spPr>
      </p:sp>
      <p:sp>
        <p:nvSpPr>
          <p:cNvPr id="375" name="MATR3 R223"/>
          <p:cNvSpPr/>
          <p:nvPr/>
        </p:nvSpPr>
        <p:spPr>
          <a:xfrm>
            <a:off x="4169026" y="4882896"/>
            <a:ext cx="54864" cy="54864"/>
          </a:xfrm>
          <a:prstGeom prst="ellipse">
            <a:avLst/>
          </a:prstGeom>
          <a:solidFill>
            <a:schemeClr val="accent1"/>
          </a:solidFill>
          <a:ln/>
        </p:spPr>
      </p:sp>
      <p:sp>
        <p:nvSpPr>
          <p:cNvPr id="376" name="MATR3 R255 stem"/>
          <p:cNvSpPr/>
          <p:nvPr/>
        </p:nvSpPr>
        <p:spPr>
          <a:xfrm>
            <a:off x="4523090" y="4919472"/>
            <a:ext cx="0" cy="128016"/>
          </a:xfrm>
          <a:prstGeom prst="line">
            <a:avLst/>
          </a:prstGeom>
          <a:noFill/>
          <a:ln w="12700">
            <a:solidFill>
              <a:schemeClr val="accent1"/>
            </a:solidFill>
            <a:prstDash val="solid"/>
          </a:ln>
        </p:spPr>
      </p:sp>
      <p:sp>
        <p:nvSpPr>
          <p:cNvPr id="377" name="MATR3 R255"/>
          <p:cNvSpPr/>
          <p:nvPr/>
        </p:nvSpPr>
        <p:spPr>
          <a:xfrm>
            <a:off x="4495658" y="4882896"/>
            <a:ext cx="54864" cy="54864"/>
          </a:xfrm>
          <a:prstGeom prst="ellipse">
            <a:avLst/>
          </a:prstGeom>
          <a:solidFill>
            <a:schemeClr val="accent1"/>
          </a:solidFill>
          <a:ln/>
        </p:spPr>
      </p:sp>
      <p:sp>
        <p:nvSpPr>
          <p:cNvPr id="378" name="MATR3 R387 stem"/>
          <p:cNvSpPr/>
          <p:nvPr/>
        </p:nvSpPr>
        <p:spPr>
          <a:xfrm>
            <a:off x="5870448" y="4919472"/>
            <a:ext cx="0" cy="128016"/>
          </a:xfrm>
          <a:prstGeom prst="line">
            <a:avLst/>
          </a:prstGeom>
          <a:noFill/>
          <a:ln w="12700">
            <a:solidFill>
              <a:schemeClr val="accent1"/>
            </a:solidFill>
            <a:prstDash val="solid"/>
          </a:ln>
        </p:spPr>
      </p:sp>
      <p:sp>
        <p:nvSpPr>
          <p:cNvPr id="379" name="MATR3 R387"/>
          <p:cNvSpPr/>
          <p:nvPr/>
        </p:nvSpPr>
        <p:spPr>
          <a:xfrm>
            <a:off x="5843016" y="4882896"/>
            <a:ext cx="54864" cy="54864"/>
          </a:xfrm>
          <a:prstGeom prst="ellipse">
            <a:avLst/>
          </a:prstGeom>
          <a:solidFill>
            <a:schemeClr val="accent1"/>
          </a:solidFill>
          <a:ln/>
        </p:spPr>
      </p:sp>
      <p:sp>
        <p:nvSpPr>
          <p:cNvPr id="380" name="MATR3 R407 stem"/>
          <p:cNvSpPr/>
          <p:nvPr/>
        </p:nvSpPr>
        <p:spPr>
          <a:xfrm>
            <a:off x="6074593" y="4919472"/>
            <a:ext cx="0" cy="128016"/>
          </a:xfrm>
          <a:prstGeom prst="line">
            <a:avLst/>
          </a:prstGeom>
          <a:noFill/>
          <a:ln w="12700">
            <a:solidFill>
              <a:schemeClr val="accent1"/>
            </a:solidFill>
            <a:prstDash val="solid"/>
          </a:ln>
        </p:spPr>
      </p:sp>
      <p:sp>
        <p:nvSpPr>
          <p:cNvPr id="381" name="MATR3 R407"/>
          <p:cNvSpPr/>
          <p:nvPr/>
        </p:nvSpPr>
        <p:spPr>
          <a:xfrm>
            <a:off x="6047161" y="4882896"/>
            <a:ext cx="54864" cy="54864"/>
          </a:xfrm>
          <a:prstGeom prst="ellipse">
            <a:avLst/>
          </a:prstGeom>
          <a:solidFill>
            <a:schemeClr val="accent1"/>
          </a:solidFill>
          <a:ln/>
        </p:spPr>
      </p:sp>
      <p:sp>
        <p:nvSpPr>
          <p:cNvPr id="382" name="MATR3 site count"/>
          <p:cNvSpPr txBox="1"/>
          <p:nvPr/>
        </p:nvSpPr>
        <p:spPr>
          <a:xfrm>
            <a:off x="10675514" y="5047488"/>
            <a:ext cx="2377440" cy="292608"/>
          </a:xfrm>
          <a:prstGeom prst="rect">
            <a:avLst/>
          </a:prstGeom>
          <a:noFill/>
          <a:ln/>
        </p:spPr>
        <p:txBody>
          <a:bodyPr wrap="square" lIns="0" tIns="0" rIns="0" bIns="0" rtlCol="0" anchor="ctr"/>
          <a:lstStyle/>
          <a:p>
            <a:pPr indent="0" marL="0">
              <a:buNone/>
            </a:pPr>
            <a:r>
              <a:rPr lang="en-US" sz="1400" b="1" dirty="0">
                <a:solidFill>
                  <a:schemeClr val="accent1"/>
                </a:solidFill>
              </a:rPr>
              <a:t>9 sites</a:t>
            </a:r>
            <a:endParaRPr lang="en-US" sz="1400" dirty="0"/>
          </a:p>
        </p:txBody>
      </p:sp>
      <p:sp>
        <p:nvSpPr>
          <p:cNvPr id="383" name="Residue axis"/>
          <p:cNvSpPr/>
          <p:nvPr/>
        </p:nvSpPr>
        <p:spPr>
          <a:xfrm>
            <a:off x="1920240" y="5586984"/>
            <a:ext cx="8165805" cy="0"/>
          </a:xfrm>
          <a:prstGeom prst="line">
            <a:avLst/>
          </a:prstGeom>
          <a:noFill/>
          <a:ln w="9525">
            <a:solidFill>
              <a:srgbClr val="6B7280"/>
            </a:solidFill>
            <a:prstDash val="solid"/>
          </a:ln>
        </p:spPr>
      </p:sp>
      <p:sp>
        <p:nvSpPr>
          <p:cNvPr id="384" name="Shape 381"/>
          <p:cNvSpPr/>
          <p:nvPr/>
        </p:nvSpPr>
        <p:spPr>
          <a:xfrm>
            <a:off x="1920240" y="5586984"/>
            <a:ext cx="0" cy="54864"/>
          </a:xfrm>
          <a:prstGeom prst="line">
            <a:avLst/>
          </a:prstGeom>
          <a:noFill/>
          <a:ln w="9525">
            <a:solidFill>
              <a:srgbClr val="6B7280"/>
            </a:solidFill>
            <a:prstDash val="solid"/>
          </a:ln>
        </p:spPr>
      </p:sp>
      <p:sp>
        <p:nvSpPr>
          <p:cNvPr id="385" name="Text 382"/>
          <p:cNvSpPr txBox="1"/>
          <p:nvPr/>
        </p:nvSpPr>
        <p:spPr>
          <a:xfrm>
            <a:off x="1645920" y="5650992"/>
            <a:ext cx="548640" cy="228600"/>
          </a:xfrm>
          <a:prstGeom prst="rect">
            <a:avLst/>
          </a:prstGeom>
          <a:noFill/>
          <a:ln/>
        </p:spPr>
        <p:txBody>
          <a:bodyPr wrap="square" lIns="0" tIns="0" rIns="0" bIns="0" rtlCol="0" anchor="ctr"/>
          <a:lstStyle/>
          <a:p>
            <a:pPr algn="ctr" indent="0" marL="0">
              <a:buNone/>
            </a:pPr>
            <a:r>
              <a:rPr lang="en-US" sz="1100" dirty="0">
                <a:solidFill>
                  <a:schemeClr val="accent6"/>
                </a:solidFill>
              </a:rPr>
              <a:t>0</a:t>
            </a:r>
            <a:endParaRPr lang="en-US" sz="1100" dirty="0"/>
          </a:p>
        </p:txBody>
      </p:sp>
      <p:sp>
        <p:nvSpPr>
          <p:cNvPr id="386" name="Shape 383"/>
          <p:cNvSpPr/>
          <p:nvPr/>
        </p:nvSpPr>
        <p:spPr>
          <a:xfrm>
            <a:off x="3961691" y="5586984"/>
            <a:ext cx="0" cy="54864"/>
          </a:xfrm>
          <a:prstGeom prst="line">
            <a:avLst/>
          </a:prstGeom>
          <a:noFill/>
          <a:ln w="9525">
            <a:solidFill>
              <a:srgbClr val="6B7280"/>
            </a:solidFill>
            <a:prstDash val="solid"/>
          </a:ln>
        </p:spPr>
      </p:sp>
      <p:sp>
        <p:nvSpPr>
          <p:cNvPr id="387" name="Text 384"/>
          <p:cNvSpPr txBox="1"/>
          <p:nvPr/>
        </p:nvSpPr>
        <p:spPr>
          <a:xfrm>
            <a:off x="3687371" y="5650992"/>
            <a:ext cx="548640" cy="228600"/>
          </a:xfrm>
          <a:prstGeom prst="rect">
            <a:avLst/>
          </a:prstGeom>
          <a:noFill/>
          <a:ln/>
        </p:spPr>
        <p:txBody>
          <a:bodyPr wrap="square" lIns="0" tIns="0" rIns="0" bIns="0" rtlCol="0" anchor="ctr"/>
          <a:lstStyle/>
          <a:p>
            <a:pPr algn="ctr" indent="0" marL="0">
              <a:buNone/>
            </a:pPr>
            <a:r>
              <a:rPr lang="en-US" sz="1100" dirty="0">
                <a:solidFill>
                  <a:schemeClr val="accent6"/>
                </a:solidFill>
              </a:rPr>
              <a:t>200</a:t>
            </a:r>
            <a:endParaRPr lang="en-US" sz="1100" dirty="0"/>
          </a:p>
        </p:txBody>
      </p:sp>
      <p:sp>
        <p:nvSpPr>
          <p:cNvPr id="388" name="Shape 385"/>
          <p:cNvSpPr/>
          <p:nvPr/>
        </p:nvSpPr>
        <p:spPr>
          <a:xfrm>
            <a:off x="6003142" y="5586984"/>
            <a:ext cx="0" cy="54864"/>
          </a:xfrm>
          <a:prstGeom prst="line">
            <a:avLst/>
          </a:prstGeom>
          <a:noFill/>
          <a:ln w="9525">
            <a:solidFill>
              <a:srgbClr val="6B7280"/>
            </a:solidFill>
            <a:prstDash val="solid"/>
          </a:ln>
        </p:spPr>
      </p:sp>
      <p:sp>
        <p:nvSpPr>
          <p:cNvPr id="389" name="Text 386"/>
          <p:cNvSpPr txBox="1"/>
          <p:nvPr/>
        </p:nvSpPr>
        <p:spPr>
          <a:xfrm>
            <a:off x="5728822" y="5650992"/>
            <a:ext cx="548640" cy="228600"/>
          </a:xfrm>
          <a:prstGeom prst="rect">
            <a:avLst/>
          </a:prstGeom>
          <a:noFill/>
          <a:ln/>
        </p:spPr>
        <p:txBody>
          <a:bodyPr wrap="square" lIns="0" tIns="0" rIns="0" bIns="0" rtlCol="0" anchor="ctr"/>
          <a:lstStyle/>
          <a:p>
            <a:pPr algn="ctr" indent="0" marL="0">
              <a:buNone/>
            </a:pPr>
            <a:r>
              <a:rPr lang="en-US" sz="1100" dirty="0">
                <a:solidFill>
                  <a:schemeClr val="accent6"/>
                </a:solidFill>
              </a:rPr>
              <a:t>400</a:t>
            </a:r>
            <a:endParaRPr lang="en-US" sz="1100" dirty="0"/>
          </a:p>
        </p:txBody>
      </p:sp>
      <p:sp>
        <p:nvSpPr>
          <p:cNvPr id="390" name="Shape 387"/>
          <p:cNvSpPr/>
          <p:nvPr/>
        </p:nvSpPr>
        <p:spPr>
          <a:xfrm>
            <a:off x="8044593" y="5586984"/>
            <a:ext cx="0" cy="54864"/>
          </a:xfrm>
          <a:prstGeom prst="line">
            <a:avLst/>
          </a:prstGeom>
          <a:noFill/>
          <a:ln w="9525">
            <a:solidFill>
              <a:srgbClr val="6B7280"/>
            </a:solidFill>
            <a:prstDash val="solid"/>
          </a:ln>
        </p:spPr>
      </p:sp>
      <p:sp>
        <p:nvSpPr>
          <p:cNvPr id="391" name="Text 388"/>
          <p:cNvSpPr txBox="1"/>
          <p:nvPr/>
        </p:nvSpPr>
        <p:spPr>
          <a:xfrm>
            <a:off x="7770273" y="5650992"/>
            <a:ext cx="548640" cy="228600"/>
          </a:xfrm>
          <a:prstGeom prst="rect">
            <a:avLst/>
          </a:prstGeom>
          <a:noFill/>
          <a:ln/>
        </p:spPr>
        <p:txBody>
          <a:bodyPr wrap="square" lIns="0" tIns="0" rIns="0" bIns="0" rtlCol="0" anchor="ctr"/>
          <a:lstStyle/>
          <a:p>
            <a:pPr algn="ctr" indent="0" marL="0">
              <a:buNone/>
            </a:pPr>
            <a:r>
              <a:rPr lang="en-US" sz="1100" dirty="0">
                <a:solidFill>
                  <a:schemeClr val="accent6"/>
                </a:solidFill>
              </a:rPr>
              <a:t>600</a:t>
            </a:r>
            <a:endParaRPr lang="en-US" sz="1100" dirty="0"/>
          </a:p>
        </p:txBody>
      </p:sp>
      <p:sp>
        <p:nvSpPr>
          <p:cNvPr id="392" name="Shape 389"/>
          <p:cNvSpPr/>
          <p:nvPr/>
        </p:nvSpPr>
        <p:spPr>
          <a:xfrm>
            <a:off x="10086045" y="5586984"/>
            <a:ext cx="0" cy="54864"/>
          </a:xfrm>
          <a:prstGeom prst="line">
            <a:avLst/>
          </a:prstGeom>
          <a:noFill/>
          <a:ln w="9525">
            <a:solidFill>
              <a:srgbClr val="6B7280"/>
            </a:solidFill>
            <a:prstDash val="solid"/>
          </a:ln>
        </p:spPr>
      </p:sp>
      <p:sp>
        <p:nvSpPr>
          <p:cNvPr id="393" name="Text 390"/>
          <p:cNvSpPr txBox="1"/>
          <p:nvPr/>
        </p:nvSpPr>
        <p:spPr>
          <a:xfrm>
            <a:off x="9811725" y="5650992"/>
            <a:ext cx="548640" cy="228600"/>
          </a:xfrm>
          <a:prstGeom prst="rect">
            <a:avLst/>
          </a:prstGeom>
          <a:noFill/>
          <a:ln/>
        </p:spPr>
        <p:txBody>
          <a:bodyPr wrap="square" lIns="0" tIns="0" rIns="0" bIns="0" rtlCol="0" anchor="ctr"/>
          <a:lstStyle/>
          <a:p>
            <a:pPr algn="ctr" indent="0" marL="0">
              <a:buNone/>
            </a:pPr>
            <a:r>
              <a:rPr lang="en-US" sz="1100" dirty="0">
                <a:solidFill>
                  <a:schemeClr val="accent6"/>
                </a:solidFill>
              </a:rPr>
              <a:t>800</a:t>
            </a:r>
            <a:endParaRPr lang="en-US" sz="1100" dirty="0"/>
          </a:p>
        </p:txBody>
      </p:sp>
      <p:sp>
        <p:nvSpPr>
          <p:cNvPr id="394" name="Text 391"/>
          <p:cNvSpPr txBox="1"/>
          <p:nvPr/>
        </p:nvSpPr>
        <p:spPr>
          <a:xfrm>
            <a:off x="5454502" y="5861304"/>
            <a:ext cx="1097280" cy="228600"/>
          </a:xfrm>
          <a:prstGeom prst="rect">
            <a:avLst/>
          </a:prstGeom>
          <a:noFill/>
          <a:ln/>
        </p:spPr>
        <p:txBody>
          <a:bodyPr wrap="square" lIns="0" tIns="0" rIns="0" bIns="0" rtlCol="0" anchor="ctr"/>
          <a:lstStyle/>
          <a:p>
            <a:pPr algn="ctr" indent="0" marL="0">
              <a:buNone/>
            </a:pPr>
            <a:r>
              <a:rPr lang="en-US" sz="1200" dirty="0">
                <a:solidFill>
                  <a:schemeClr val="accent6"/>
                </a:solidFill>
              </a:rPr>
              <a:t>Residue</a:t>
            </a:r>
            <a:endParaRPr lang="en-US" sz="12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57% of methylated ALS proteins are stress-granule proteins</a:t>
            </a:r>
            <a:endParaRPr lang="en-US" sz="28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6"/>
                </a:solidFill>
              </a:rPr>
              <a:t>Methylarginine marks condensate-forming proteins (Maron 2021, Fig. 7); ALS proteins are the extreme case</a:t>
            </a:r>
            <a:endParaRPr lang="en-US" sz="1600" dirty="0"/>
          </a:p>
        </p:txBody>
      </p:sp>
      <p:sp>
        <p:nvSpPr>
          <p:cNvPr id="4" name="Text 0"/>
          <p:cNvSpPr/>
          <p:nvPr>
            <p:ph idx="102" type="body" hasCustomPrompt="1"/>
          </p:nvPr>
        </p:nvSpPr>
        <p:spPr>
          <a:xfrm>
            <a:off x="548640" y="6172200"/>
            <a:ext cx="10424160" cy="457200"/>
          </a:xfrm>
          <a:prstGeom prst="rect">
            <a:avLst/>
          </a:prstGeom>
          <a:noFill/>
          <a:ln/>
        </p:spPr>
        <p:txBody>
          <a:bodyPr wrap="square" lIns="0" tIns="0" rIns="0" bIns="0" rtlCol="0" anchor="b"/>
          <a:lstStyle/>
          <a:p>
            <a:pPr algn="l" indent="0" marL="0">
              <a:buNone/>
            </a:pPr>
            <a:r>
              <a:rPr lang="en-US" sz="1000" i="1" dirty="0">
                <a:solidFill>
                  <a:schemeClr val="accent6"/>
                </a:solidFill>
              </a:rPr>
              <a:t>Condensate membership: CD-CODE. Methylation in FUS RGG regions suppresses phase separation and stress-granule partitioning; FTD-FUS hypomethylation promotes it (Hofweber et al., Cell 2018; Qamar et al., Cell 2018).</a:t>
            </a:r>
            <a:endParaRPr lang="en-US" sz="1000" dirty="0"/>
          </a:p>
        </p:txBody>
      </p:sp>
      <p:graphicFrame>
        <p:nvGraphicFramePr>
          <p:cNvPr id="6" name="Condensate and stress granule membership" descr=""/>
          <p:cNvGraphicFramePr/>
          <p:nvPr/>
        </p:nvGraphicFramePr>
        <p:xfrm>
          <a:off x="548640" y="1600200"/>
          <a:ext cx="7863840" cy="4434840"/>
        </p:xfrm>
        <a:graphic xmlns:a="http://schemas.openxmlformats.org/drawingml/2006/main">
          <a:graphicData uri="http://schemas.openxmlformats.org/drawingml/2006/chart">
            <c:chart xmlns:c="http://schemas.openxmlformats.org/drawingml/2006/chart" r:id="rId1"/>
          </a:graphicData>
        </a:graphic>
      </p:graphicFrame>
      <p:sp>
        <p:nvSpPr>
          <p:cNvPr id="7" name="Side panel heading"/>
          <p:cNvSpPr txBox="1"/>
          <p:nvPr/>
        </p:nvSpPr>
        <p:spPr>
          <a:xfrm>
            <a:off x="8869680" y="1691640"/>
            <a:ext cx="2743200" cy="731520"/>
          </a:xfrm>
          <a:prstGeom prst="rect">
            <a:avLst/>
          </a:prstGeom>
          <a:noFill/>
          <a:ln/>
        </p:spPr>
        <p:txBody>
          <a:bodyPr wrap="square" lIns="0" tIns="0" rIns="0" bIns="0" rtlCol="0" anchor="t"/>
          <a:lstStyle/>
          <a:p>
            <a:pPr indent="0" marL="0">
              <a:buNone/>
            </a:pPr>
            <a:r>
              <a:rPr lang="en-US" sz="1800" b="1" dirty="0">
                <a:solidFill>
                  <a:schemeClr val="accent1"/>
                </a:solidFill>
              </a:rPr>
              <a:t>Methylated ALS proteins in stress granules</a:t>
            </a:r>
            <a:endParaRPr lang="en-US" sz="1800" dirty="0"/>
          </a:p>
        </p:txBody>
      </p:sp>
      <p:sp>
        <p:nvSpPr>
          <p:cNvPr id="8" name="Side panel proteins"/>
          <p:cNvSpPr txBox="1"/>
          <p:nvPr/>
        </p:nvSpPr>
        <p:spPr>
          <a:xfrm>
            <a:off x="8869680" y="2514600"/>
            <a:ext cx="2743200" cy="2194560"/>
          </a:xfrm>
          <a:prstGeom prst="rect">
            <a:avLst/>
          </a:prstGeom>
          <a:noFill/>
          <a:ln/>
        </p:spPr>
        <p:txBody>
          <a:bodyPr wrap="square" lIns="0" tIns="0" rIns="0" bIns="0" rtlCol="0" anchor="t"/>
          <a:lstStyle/>
          <a:p>
            <a:pPr algn="l" indent="0" marL="0">
              <a:spcBef>
                <a:spcPts val="600"/>
              </a:spcBef>
              <a:buNone/>
            </a:pPr>
            <a:r>
              <a:rPr lang="en-US" sz="1500" b="1" dirty="0">
                <a:solidFill>
                  <a:schemeClr val="tx1"/>
                </a:solidFill>
              </a:rPr>
              <a:t>ANXA11  ATXN2  FUS  HNRNPA2B1  MATR3  PFN1  SOD1  SQSTM1  TARDBP  TUBA4A  UBQLN2  VCP</a:t>
            </a:r>
            <a:endParaRPr lang="en-US" sz="1500" dirty="0"/>
          </a:p>
          <a:p>
            <a:pPr algn="l" indent="0" marL="0">
              <a:spcBef>
                <a:spcPts val="600"/>
              </a:spcBef>
              <a:buNone/>
            </a:pPr>
            <a:r>
              <a:rPr lang="en-US" sz="1400" dirty="0">
                <a:solidFill>
                  <a:schemeClr val="accent6"/>
                </a:solidFill>
              </a:rPr>
              <a:t>12 of 21</a:t>
            </a:r>
            <a:endParaRPr lang="en-US" sz="15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Type I PRMT inhibition shifts FET proteins to monomethylation</a:t>
            </a:r>
            <a:endParaRPr lang="en-US" sz="28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6"/>
                </a:solidFill>
              </a:rPr>
              <a:t>Median log2 change (treated / DMSO) of methylated sites per pulldown, A549 cells, 7 days of 1 µM GSK591 (PRMT5) or MS023 (type I); n = sites</a:t>
            </a:r>
            <a:endParaRPr lang="en-US" sz="1600" dirty="0"/>
          </a:p>
        </p:txBody>
      </p:sp>
      <p:sp>
        <p:nvSpPr>
          <p:cNvPr id="4" name="Text 0"/>
          <p:cNvSpPr/>
          <p:nvPr>
            <p:ph idx="102" type="body" hasCustomPrompt="1"/>
          </p:nvPr>
        </p:nvSpPr>
        <p:spPr>
          <a:xfrm>
            <a:off x="548640" y="6172200"/>
            <a:ext cx="10424160" cy="457200"/>
          </a:xfrm>
          <a:prstGeom prst="rect">
            <a:avLst/>
          </a:prstGeom>
          <a:noFill/>
          <a:ln/>
        </p:spPr>
        <p:txBody>
          <a:bodyPr wrap="square" lIns="0" tIns="0" rIns="0" bIns="0" rtlCol="0" anchor="b"/>
          <a:lstStyle/>
          <a:p>
            <a:pPr algn="l" indent="0" marL="0">
              <a:buNone/>
            </a:pPr>
            <a:r>
              <a:rPr lang="en-US" sz="1000" i="1" dirty="0">
                <a:solidFill>
                  <a:schemeClr val="accent6"/>
                </a:solidFill>
              </a:rPr>
              <a:t>Data: Maron et al., iScience 2021, Table S3 (PTMScan MMA / ADMA / SDMA immunoaffinity). Red = more methylated peptide after treatment; blue = less. TDP-43 sites were not detected.</a:t>
            </a:r>
            <a:endParaRPr lang="en-US" sz="1000" dirty="0"/>
          </a:p>
        </p:txBody>
      </p:sp>
      <p:graphicFrame>
        <p:nvGraphicFramePr>
          <p:cNvPr id="7" name="PRMT inhibitor response"/>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286000"/>
                <a:gridCol w="1463040"/>
                <a:gridCol w="1463040"/>
                <a:gridCol w="1463040"/>
                <a:gridCol w="1463040"/>
                <a:gridCol w="1463040"/>
                <a:gridCol w="1463040"/>
              </a:tblGrid>
              <a:tr h="438912">
                <a:tc>
                  <a:txBody>
                    <a:bodyPr/>
                    <a:lstStyle/>
                    <a:p>
                      <a:pPr algn="ctr" indent="0" marL="0">
                        <a:buNone/>
                      </a:pP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gridSpan="3">
                  <a:txBody>
                    <a:bodyPr/>
                    <a:lstStyle/>
                    <a:p>
                      <a:pPr algn="ctr" indent="0" marL="0">
                        <a:buNone/>
                      </a:pPr>
                      <a:r>
                        <a:rPr lang="en-US" sz="1400" b="1" dirty="0">
                          <a:solidFill>
                            <a:srgbClr val="1F2937"/>
                          </a:solidFill>
                          <a:latin typeface="Arial" pitchFamily="34" charset="0"/>
                          <a:ea typeface="Arial" pitchFamily="34" charset="-122"/>
                          <a:cs typeface="Arial" pitchFamily="34" charset="-120"/>
                        </a:rPr>
                        <a:t>GSK591 (PRMT5)</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hMerge="1">
                  <a:tcPr/>
                </a:tc>
                <a:tc hMerge="1">
                  <a:tcPr/>
                </a:tc>
                <a:tc gridSpan="3">
                  <a:txBody>
                    <a:bodyPr/>
                    <a:lstStyle/>
                    <a:p>
                      <a:pPr algn="ctr" indent="0" marL="0">
                        <a:buNone/>
                      </a:pPr>
                      <a:r>
                        <a:rPr lang="en-US" sz="1400" b="1" dirty="0">
                          <a:solidFill>
                            <a:srgbClr val="1F2937"/>
                          </a:solidFill>
                          <a:latin typeface="Arial" pitchFamily="34" charset="0"/>
                          <a:ea typeface="Arial" pitchFamily="34" charset="-122"/>
                          <a:cs typeface="Arial" pitchFamily="34" charset="-120"/>
                        </a:rPr>
                        <a:t>MS023 (type I)</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hMerge="1">
                  <a:tcPr/>
                </a:tc>
                <a:tc hMerge="1">
                  <a:tcPr/>
                </a:tc>
              </a:tr>
              <a:tr h="438912">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Protein</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MMA</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ADMA</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SDMA</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MMA</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ADMA</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SDMA</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algn="r" indent="0" marL="0">
                        <a:buNone/>
                      </a:pPr>
                      <a:r>
                        <a:rPr lang="en-US" sz="1400" b="1" dirty="0">
                          <a:solidFill>
                            <a:srgbClr val="1F2937"/>
                          </a:solidFill>
                          <a:latin typeface="Arial" pitchFamily="34" charset="0"/>
                          <a:ea typeface="Arial" pitchFamily="34" charset="-122"/>
                          <a:cs typeface="Arial" pitchFamily="34" charset="-120"/>
                        </a:rPr>
                        <a:t>FUS</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  (23)</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DADB"/>
                    </a:solidFill>
                  </a:tcPr>
                </a:tc>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+2.2  (14)</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8B87"/>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-0.7  (19)</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D9E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+3.7  (23)</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94138"/>
                    </a:solidFill>
                  </a:tcPr>
                </a:tc>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+2.1  (14)</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8F8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  (19)</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3E4"/>
                    </a:solidFill>
                  </a:tcPr>
                </a:tc>
              </a:tr>
              <a:tr h="438912">
                <a:tc>
                  <a:txBody>
                    <a:bodyPr/>
                    <a:lstStyle/>
                    <a:p>
                      <a:pPr algn="r" indent="0" marL="0">
                        <a:buNone/>
                      </a:pPr>
                      <a:r>
                        <a:rPr lang="en-US" sz="1400" b="1" dirty="0">
                          <a:solidFill>
                            <a:srgbClr val="1F2937"/>
                          </a:solidFill>
                          <a:latin typeface="Arial" pitchFamily="34" charset="0"/>
                          <a:ea typeface="Arial" pitchFamily="34" charset="-122"/>
                          <a:cs typeface="Arial" pitchFamily="34" charset="-120"/>
                        </a:rPr>
                        <a:t>EWSR1</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  (29)</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2E3"/>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+0.7  (16)</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D1D1"/>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0.0  (18)</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+3.1  (29)</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25C56"/>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+0.8  (16)</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CECE"/>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+2.6  (18)</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A756F"/>
                    </a:solidFill>
                  </a:tcPr>
                </a:tc>
              </a:tr>
              <a:tr h="438912">
                <a:tc>
                  <a:txBody>
                    <a:bodyPr/>
                    <a:lstStyle/>
                    <a:p>
                      <a:pPr algn="r" indent="0" marL="0">
                        <a:buNone/>
                      </a:pPr>
                      <a:r>
                        <a:rPr lang="en-US" sz="1400" b="1" dirty="0">
                          <a:solidFill>
                            <a:srgbClr val="1F2937"/>
                          </a:solidFill>
                          <a:latin typeface="Arial" pitchFamily="34" charset="0"/>
                          <a:ea typeface="Arial" pitchFamily="34" charset="-122"/>
                          <a:cs typeface="Arial" pitchFamily="34" charset="-120"/>
                        </a:rPr>
                        <a:t>TAF15</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  (33)</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E0E8"/>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-0.9  (14)</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8D0DD"/>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+1.6  (9)</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A5A3"/>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+0.6  (33)</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D7D7"/>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+0.2  (14)</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EBEC"/>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0.0  (9)</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r>
              <a:tr h="438912">
                <a:tc>
                  <a:txBody>
                    <a:bodyPr/>
                    <a:lstStyle/>
                    <a:p>
                      <a:pPr algn="r" indent="0" marL="0">
                        <a:buNone/>
                      </a:pPr>
                      <a:r>
                        <a:rPr lang="en-US" sz="1400" b="1" dirty="0">
                          <a:solidFill>
                            <a:srgbClr val="1F2937"/>
                          </a:solidFill>
                          <a:latin typeface="Arial" pitchFamily="34" charset="0"/>
                          <a:ea typeface="Arial" pitchFamily="34" charset="-122"/>
                          <a:cs typeface="Arial" pitchFamily="34" charset="-120"/>
                        </a:rPr>
                        <a:t>hnRNPA1</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+1.9  (6)</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9B98"/>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+1.4  (4)</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B0A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+1.1  (5)</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C0BF"/>
                    </a:solidFill>
                  </a:tcPr>
                </a:tc>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+2.4  (6)</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7F7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+1.2  (4)</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BCBA"/>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-0.2  (5)</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BF0"/>
                    </a:solidFill>
                  </a:tcPr>
                </a:tc>
              </a:tr>
              <a:tr h="438912">
                <a:tc>
                  <a:txBody>
                    <a:bodyPr/>
                    <a:lstStyle/>
                    <a:p>
                      <a:pPr algn="r" indent="0" marL="0">
                        <a:buNone/>
                      </a:pPr>
                      <a:r>
                        <a:rPr lang="en-US" sz="1400" b="1" dirty="0">
                          <a:solidFill>
                            <a:srgbClr val="1F2937"/>
                          </a:solidFill>
                          <a:latin typeface="Arial" pitchFamily="34" charset="0"/>
                          <a:ea typeface="Arial" pitchFamily="34" charset="-122"/>
                          <a:cs typeface="Arial" pitchFamily="34" charset="-120"/>
                        </a:rPr>
                        <a:t>hnRNPA2B1</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+0.3  (5)</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8E9"/>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+0.9  (2)</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CAC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-5.5  (5)</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5E8C"/>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-0.3  (2)</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E9EE"/>
                    </a:solidFill>
                  </a:tcPr>
                </a:tc>
              </a:tr>
              <a:tr h="438912">
                <a:tc>
                  <a:txBody>
                    <a:bodyPr/>
                    <a:lstStyle/>
                    <a:p>
                      <a:pPr algn="r" indent="0" marL="0">
                        <a:buNone/>
                      </a:pPr>
                      <a:r>
                        <a:rPr lang="en-US" sz="1400" b="1" dirty="0">
                          <a:solidFill>
                            <a:srgbClr val="1F2937"/>
                          </a:solidFill>
                          <a:latin typeface="Arial" pitchFamily="34" charset="0"/>
                          <a:ea typeface="Arial" pitchFamily="34" charset="-122"/>
                          <a:cs typeface="Arial" pitchFamily="34" charset="-120"/>
                        </a:rPr>
                        <a:t>hnRNPA3</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+0.3  (6)</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7E9"/>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0.0  (2)</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+4.8  (6)</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5332A"/>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+8.8  (2)</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5332A"/>
                    </a:solidFill>
                  </a:tcPr>
                </a:tc>
              </a:tr>
              <a:tr h="438912">
                <a:tc>
                  <a:txBody>
                    <a:bodyPr/>
                    <a:lstStyle/>
                    <a:p>
                      <a:pPr algn="r" indent="0" marL="0">
                        <a:buNone/>
                      </a:pPr>
                      <a:r>
                        <a:rPr lang="en-US" sz="1400" b="1" dirty="0">
                          <a:solidFill>
                            <a:srgbClr val="1F2937"/>
                          </a:solidFill>
                          <a:latin typeface="Arial" pitchFamily="34" charset="0"/>
                          <a:ea typeface="Arial" pitchFamily="34" charset="-122"/>
                          <a:cs typeface="Arial" pitchFamily="34" charset="-120"/>
                        </a:rPr>
                        <a:t>G3BP1</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+1.8  (5)</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79E9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-0.9  (5)</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9D1DD"/>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-3.2  (6)</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27BA1"/>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+1.2  (5)</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BBB9"/>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-0.8  (5)</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5E0"/>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-1.5  (6)</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EBBCD"/>
                    </a:solidFill>
                  </a:tcPr>
                </a:tc>
              </a:tr>
              <a:tr h="438912">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All sites (proteome)</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+0.1  (748)</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FF1"/>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-0.3  (569)</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EAE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-0.3  (461)</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8ED"/>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0.0  (748)</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-0.3  (569)</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D"/>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+0.0  (461)</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3F4"/>
                    </a:solidFill>
                  </a:tcPr>
                </a:tc>
              </a:tr>
            </a:tbl>
          </a:graphicData>
        </a:graphic>
      </p:graphicFrame>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Motor neuron disease ranks #6 of 1,045 disease terms</a:t>
            </a:r>
            <a:endParaRPr lang="en-US" sz="28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6"/>
                </a:solidFill>
              </a:rPr>
              <a:t>Disease Ontology enrichment of 2,384 DO-annotated arginine-methylated proteins. Top 10 terms, plus ALS</a:t>
            </a:r>
            <a:endParaRPr lang="en-US" sz="1600" dirty="0"/>
          </a:p>
        </p:txBody>
      </p:sp>
      <p:sp>
        <p:nvSpPr>
          <p:cNvPr id="4" name="Text 0"/>
          <p:cNvSpPr/>
          <p:nvPr>
            <p:ph idx="102" type="body" hasCustomPrompt="1"/>
          </p:nvPr>
        </p:nvSpPr>
        <p:spPr>
          <a:xfrm>
            <a:off x="548640" y="6172200"/>
            <a:ext cx="10424160" cy="457200"/>
          </a:xfrm>
          <a:prstGeom prst="rect">
            <a:avLst/>
          </a:prstGeom>
          <a:noFill/>
          <a:ln/>
        </p:spPr>
        <p:txBody>
          <a:bodyPr wrap="square" lIns="0" tIns="0" rIns="0" bIns="0" rtlCol="0" anchor="b"/>
          <a:lstStyle/>
          <a:p>
            <a:pPr algn="l" indent="0" marL="0">
              <a:buNone/>
            </a:pPr>
            <a:r>
              <a:rPr lang="en-US" sz="1000" i="1" dirty="0">
                <a:solidFill>
                  <a:schemeClr val="accent6"/>
                </a:solidFill>
              </a:rPr>
              <a:t>DOSE enrichDO, reviewed human proteome background (BH). Motor neuron disease FDR 8e-4; against a stricter MS-detectable background it ranks 8 (FDR 0.06).</a:t>
            </a:r>
            <a:endParaRPr lang="en-US" sz="1000" dirty="0"/>
          </a:p>
        </p:txBody>
      </p:sp>
      <p:graphicFrame>
        <p:nvGraphicFramePr>
          <p:cNvPr id="6" name="Disease Ontology top terms" descr=""/>
          <p:cNvGraphicFramePr/>
          <p:nvPr/>
        </p:nvGraphicFramePr>
        <p:xfrm>
          <a:off x="548640" y="1600200"/>
          <a:ext cx="8046720" cy="4480560"/>
        </p:xfrm>
        <a:graphic xmlns:a="http://schemas.openxmlformats.org/drawingml/2006/main">
          <a:graphicData uri="http://schemas.openxmlformats.org/drawingml/2006/chart">
            <c:chart xmlns:c="http://schemas.openxmlformats.org/drawingml/2006/chart" r:id="rId1"/>
          </a:graphicData>
        </a:graphic>
      </p:graphicFrame>
      <p:sp>
        <p:nvSpPr>
          <p:cNvPr id="7" name="Side panel heading"/>
          <p:cNvSpPr txBox="1"/>
          <p:nvPr/>
        </p:nvSpPr>
        <p:spPr>
          <a:xfrm>
            <a:off x="9052560" y="1691640"/>
            <a:ext cx="2743200" cy="731520"/>
          </a:xfrm>
          <a:prstGeom prst="rect">
            <a:avLst/>
          </a:prstGeom>
          <a:noFill/>
          <a:ln/>
        </p:spPr>
        <p:txBody>
          <a:bodyPr wrap="square" lIns="0" tIns="0" rIns="0" bIns="0" rtlCol="0" anchor="t"/>
          <a:lstStyle/>
          <a:p>
            <a:pPr indent="0" marL="0">
              <a:buNone/>
            </a:pPr>
            <a:r>
              <a:rPr lang="en-US" sz="1800" b="1" dirty="0">
                <a:solidFill>
                  <a:schemeClr val="accent1"/>
                </a:solidFill>
              </a:rPr>
              <a:t>Methylated motor neuron disease proteins</a:t>
            </a:r>
            <a:endParaRPr lang="en-US" sz="1800" dirty="0"/>
          </a:p>
        </p:txBody>
      </p:sp>
      <p:sp>
        <p:nvSpPr>
          <p:cNvPr id="8" name="Side panel proteins"/>
          <p:cNvSpPr txBox="1"/>
          <p:nvPr/>
        </p:nvSpPr>
        <p:spPr>
          <a:xfrm>
            <a:off x="9052560" y="2514600"/>
            <a:ext cx="2743200" cy="2194560"/>
          </a:xfrm>
          <a:prstGeom prst="rect">
            <a:avLst/>
          </a:prstGeom>
          <a:noFill/>
          <a:ln/>
        </p:spPr>
        <p:txBody>
          <a:bodyPr wrap="square" lIns="0" tIns="0" rIns="0" bIns="0" rtlCol="0" anchor="t"/>
          <a:lstStyle/>
          <a:p>
            <a:pPr algn="l" indent="0" marL="0">
              <a:spcBef>
                <a:spcPts val="600"/>
              </a:spcBef>
              <a:buNone/>
            </a:pPr>
            <a:r>
              <a:rPr lang="en-US" sz="1500" b="1" dirty="0">
                <a:solidFill>
                  <a:schemeClr val="tx1"/>
                </a:solidFill>
              </a:rPr>
              <a:t>FUS  TAF15  EWSR1  TARDBP  HNRNPA1  MATR3  VCP  SOD1  ANXA11  NEFM  DYNC1H1  BAG3  HSPB1  UBA1</a:t>
            </a:r>
            <a:endParaRPr lang="en-US" sz="1500" dirty="0"/>
          </a:p>
          <a:p>
            <a:pPr algn="l" indent="0" marL="0">
              <a:spcBef>
                <a:spcPts val="600"/>
              </a:spcBef>
              <a:buNone/>
            </a:pPr>
            <a:r>
              <a:rPr lang="en-US" sz="1400" dirty="0">
                <a:solidFill>
                  <a:schemeClr val="accent6"/>
                </a:solidFill>
              </a:rPr>
              <a:t>+ 64 more</a:t>
            </a:r>
            <a:endParaRPr lang="en-US" sz="15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2022 KEGG re-run: neurodegeneration and ALS lead</a:t>
            </a:r>
            <a:endParaRPr lang="en-US" sz="28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6"/>
                </a:solidFill>
              </a:rPr>
              <a:t>Top 20 pathways by gene ratio, as in the 2022 dot plot (methylated proteins; FDR)</a:t>
            </a:r>
            <a:endParaRPr lang="en-US" sz="1600" dirty="0"/>
          </a:p>
        </p:txBody>
      </p:sp>
      <p:sp>
        <p:nvSpPr>
          <p:cNvPr id="4" name="Text 0"/>
          <p:cNvSpPr/>
          <p:nvPr>
            <p:ph idx="102" type="body" hasCustomPrompt="1"/>
          </p:nvPr>
        </p:nvSpPr>
        <p:spPr>
          <a:xfrm>
            <a:off x="548640" y="6172200"/>
            <a:ext cx="10424160" cy="457200"/>
          </a:xfrm>
          <a:prstGeom prst="rect">
            <a:avLst/>
          </a:prstGeom>
          <a:noFill/>
          <a:ln/>
        </p:spPr>
        <p:txBody>
          <a:bodyPr wrap="square" lIns="0" tIns="0" rIns="0" bIns="0" rtlCol="0" anchor="b"/>
          <a:lstStyle/>
          <a:p>
            <a:pPr algn="l" indent="0" marL="0">
              <a:buNone/>
            </a:pPr>
            <a:r>
              <a:rPr lang="en-US" sz="1000" i="1" dirty="0">
                <a:solidFill>
                  <a:schemeClr val="accent6"/>
                </a:solidFill>
              </a:rPr>
              <a:t>clusterProfiler enrichKEGG(organism = "hsa", pvalueCutoff = 0.05), default KEGG background, on the PTM_pipeline methylarginine compendium. Gene ratio = methylated proteins in pathway / KEGG-annotated methylated proteins.</a:t>
            </a:r>
            <a:endParaRPr lang="en-US" sz="1000" dirty="0"/>
          </a:p>
        </p:txBody>
      </p:sp>
      <p:graphicFrame>
        <p:nvGraphicFramePr>
          <p:cNvPr id="6" name="KEGG by gene ratio" descr=""/>
          <p:cNvGraphicFramePr/>
          <p:nvPr/>
        </p:nvGraphicFramePr>
        <p:xfrm>
          <a:off x="548640" y="1600200"/>
          <a:ext cx="11064240"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Methylarginine ALS">
  <a:themeElements>
    <a:clrScheme name="Methylarginine ALS">
      <a:dk1>
        <a:srgbClr val="1F2937"/>
      </a:dk1>
      <a:lt1>
        <a:srgbClr val="FFFFFF"/>
      </a:lt1>
      <a:dk2>
        <a:srgbClr val="1F3F7A"/>
      </a:dk2>
      <a:lt2>
        <a:srgbClr val="F3F4F6"/>
      </a:lt2>
      <a:accent1>
        <a:srgbClr val="B5332A"/>
      </a:accent1>
      <a:accent2>
        <a:srgbClr val="687388"/>
      </a:accent2>
      <a:accent3>
        <a:srgbClr val="C9CED8"/>
      </a:accent3>
      <a:accent4>
        <a:srgbClr val="3F5E8C"/>
      </a:accent4>
      <a:accent5>
        <a:srgbClr val="EFE6D2"/>
      </a:accent5>
      <a:accent6>
        <a:srgbClr val="6B7280"/>
      </a:accent6>
      <a:hlink>
        <a:srgbClr val="3F5E8C"/>
      </a:hlink>
      <a:folHlink>
        <a:srgbClr val="687388"/>
      </a:folHlink>
    </a:clrScheme>
    <a:fontScheme name="Methylarginine AL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Arginine methylation marks the ALS proteome</dc:title>
  <dc:subject>PptxGenJS Presentation</dc:subject>
  <dc:creator>PptxGenJS</dc:creator>
  <cp:lastModifiedBy>PptxGenJS</cp:lastModifiedBy>
  <cp:revision>1</cp:revision>
  <dcterms:created xsi:type="dcterms:W3CDTF">2026-10-05T03:14:42Z</dcterms:created>
  <dcterms:modified xsi:type="dcterms:W3CDTF">2026-10-05T03:14:42Z</dcterms:modified>
</cp:coreProperties>
</file>